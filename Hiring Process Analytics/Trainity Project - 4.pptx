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3660" r:id="rId5"/>
  </p:sldMasterIdLst>
  <p:notesMasterIdLst>
    <p:notesMasterId r:id="rId19"/>
  </p:notesMasterIdLst>
  <p:sldIdLst>
    <p:sldId id="266" r:id="rId6"/>
    <p:sldId id="257" r:id="rId7"/>
    <p:sldId id="268" r:id="rId8"/>
    <p:sldId id="267" r:id="rId9"/>
    <p:sldId id="270" r:id="rId10"/>
    <p:sldId id="431" r:id="rId11"/>
    <p:sldId id="428" r:id="rId12"/>
    <p:sldId id="429" r:id="rId13"/>
    <p:sldId id="430" r:id="rId14"/>
    <p:sldId id="432" r:id="rId15"/>
    <p:sldId id="433" r:id="rId16"/>
    <p:sldId id="436" r:id="rId17"/>
    <p:sldId id="43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FF870C-5D9B-4878-9827-A3D8F8D3B4C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3252BB-1661-4EF1-B4B4-B609E884D6B5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Trainity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04EF90-0F09-4424-BA8F-063E80337D8E}" type="parTrans" cxnId="{095425F3-197C-4E69-84D5-0C51196EF1C6}">
      <dgm:prSet/>
      <dgm:spPr/>
      <dgm:t>
        <a:bodyPr/>
        <a:lstStyle/>
        <a:p>
          <a:endParaRPr lang="en-US"/>
        </a:p>
      </dgm:t>
    </dgm:pt>
    <dgm:pt modelId="{54292CB0-011E-4706-9294-372AD5816BB9}" type="sibTrans" cxnId="{095425F3-197C-4E69-84D5-0C51196EF1C6}">
      <dgm:prSet/>
      <dgm:spPr/>
      <dgm:t>
        <a:bodyPr/>
        <a:lstStyle/>
        <a:p>
          <a:endParaRPr lang="en-US"/>
        </a:p>
      </dgm:t>
    </dgm:pt>
    <dgm:pt modelId="{1777E161-D0DE-4D31-91FE-E2AD8AAC6AA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powerpoint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E45982-4B36-4BD3-ABAD-204FBA61FF0E}" type="parTrans" cxnId="{A341BC0D-6DD3-4979-9832-08DC41068DC6}">
      <dgm:prSet/>
      <dgm:spPr/>
      <dgm:t>
        <a:bodyPr/>
        <a:lstStyle/>
        <a:p>
          <a:endParaRPr lang="en-US"/>
        </a:p>
      </dgm:t>
    </dgm:pt>
    <dgm:pt modelId="{FB489039-8D8A-4FC2-9B37-994383FDE902}" type="sibTrans" cxnId="{A341BC0D-6DD3-4979-9832-08DC41068DC6}">
      <dgm:prSet/>
      <dgm:spPr/>
      <dgm:t>
        <a:bodyPr/>
        <a:lstStyle/>
        <a:p>
          <a:endParaRPr lang="en-US"/>
        </a:p>
      </dgm:t>
    </dgm:pt>
    <dgm:pt modelId="{A0E3938A-38FD-4C6B-BC76-DCF294EE93D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SPREADSHEET</a:t>
          </a:r>
        </a:p>
      </dgm:t>
    </dgm:pt>
    <dgm:pt modelId="{8655D1BC-F152-4DA3-90FE-11A6554E87C9}" type="parTrans" cxnId="{F1960191-6C4D-45E6-A70C-022CDEE00113}">
      <dgm:prSet/>
      <dgm:spPr/>
      <dgm:t>
        <a:bodyPr/>
        <a:lstStyle/>
        <a:p>
          <a:endParaRPr lang="en-US"/>
        </a:p>
      </dgm:t>
    </dgm:pt>
    <dgm:pt modelId="{7DE219E0-15AA-4B4B-9BED-F21993E27992}" type="sibTrans" cxnId="{F1960191-6C4D-45E6-A70C-022CDEE00113}">
      <dgm:prSet/>
      <dgm:spPr/>
      <dgm:t>
        <a:bodyPr/>
        <a:lstStyle/>
        <a:p>
          <a:endParaRPr lang="en-US"/>
        </a:p>
      </dgm:t>
    </dgm:pt>
    <dgm:pt modelId="{D2FA40C6-C0ED-46A3-92CE-B081053B2BA8}" type="pres">
      <dgm:prSet presAssocID="{34FF870C-5D9B-4878-9827-A3D8F8D3B4C3}" presName="root" presStyleCnt="0">
        <dgm:presLayoutVars>
          <dgm:dir/>
          <dgm:resizeHandles val="exact"/>
        </dgm:presLayoutVars>
      </dgm:prSet>
      <dgm:spPr/>
    </dgm:pt>
    <dgm:pt modelId="{4F71816B-273C-49A1-A458-BCE14C9FAD7C}" type="pres">
      <dgm:prSet presAssocID="{193252BB-1661-4EF1-B4B4-B609E884D6B5}" presName="compNode" presStyleCnt="0"/>
      <dgm:spPr/>
    </dgm:pt>
    <dgm:pt modelId="{23A2EDD9-C89F-49C9-AE4A-D6196B4CA219}" type="pres">
      <dgm:prSet presAssocID="{193252BB-1661-4EF1-B4B4-B609E884D6B5}" presName="iconBgRect" presStyleLbl="bgShp" presStyleIdx="0" presStyleCnt="3" custLinFactX="184675" custLinFactNeighborX="200000" custLinFactNeighborY="-1196"/>
      <dgm:spPr>
        <a:prstGeom prst="round2DiagRect">
          <a:avLst>
            <a:gd name="adj1" fmla="val 29727"/>
            <a:gd name="adj2" fmla="val 0"/>
          </a:avLst>
        </a:prstGeom>
        <a:solidFill>
          <a:schemeClr val="accent5">
            <a:lumMod val="75000"/>
          </a:schemeClr>
        </a:solidFill>
        <a:effectLst>
          <a:outerShdw blurRad="50800" dist="38100" algn="l" rotWithShape="0">
            <a:prstClr val="black">
              <a:alpha val="40000"/>
            </a:prstClr>
          </a:outerShdw>
        </a:effectLst>
      </dgm:spPr>
    </dgm:pt>
    <dgm:pt modelId="{AFF6CE53-2172-43E4-BC33-3C48272DDCF0}" type="pres">
      <dgm:prSet presAssocID="{193252BB-1661-4EF1-B4B4-B609E884D6B5}" presName="iconRect" presStyleLbl="node1" presStyleIdx="0" presStyleCnt="3" custLinFactX="300000" custLinFactNeighborX="376989" custLinFactNeighborY="-208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8CFED58E-CED6-48CB-AD6E-8A220711C954}" type="pres">
      <dgm:prSet presAssocID="{193252BB-1661-4EF1-B4B4-B609E884D6B5}" presName="spaceRect" presStyleCnt="0"/>
      <dgm:spPr/>
    </dgm:pt>
    <dgm:pt modelId="{B2757675-DFB6-4B33-9701-161572571D2B}" type="pres">
      <dgm:prSet presAssocID="{193252BB-1661-4EF1-B4B4-B609E884D6B5}" presName="textRect" presStyleLbl="revTx" presStyleIdx="0" presStyleCnt="3" custScaleX="102710">
        <dgm:presLayoutVars>
          <dgm:chMax val="1"/>
          <dgm:chPref val="1"/>
        </dgm:presLayoutVars>
      </dgm:prSet>
      <dgm:spPr/>
    </dgm:pt>
    <dgm:pt modelId="{FF5FC25A-8895-4059-A7CB-AC8E769B2E4B}" type="pres">
      <dgm:prSet presAssocID="{54292CB0-011E-4706-9294-372AD5816BB9}" presName="sibTrans" presStyleCnt="0"/>
      <dgm:spPr/>
    </dgm:pt>
    <dgm:pt modelId="{F181BEB4-66E0-4B62-8712-BD0A64659834}" type="pres">
      <dgm:prSet presAssocID="{1777E161-D0DE-4D31-91FE-E2AD8AAC6AAC}" presName="compNode" presStyleCnt="0"/>
      <dgm:spPr/>
    </dgm:pt>
    <dgm:pt modelId="{0E81F59E-BE24-4A43-8B4D-78AE486DB35A}" type="pres">
      <dgm:prSet presAssocID="{1777E161-D0DE-4D31-91FE-E2AD8AAC6AA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  <a:solidFill>
          <a:schemeClr val="accent5">
            <a:lumMod val="75000"/>
          </a:schemeClr>
        </a:solidFill>
        <a:effectLst>
          <a:outerShdw blurRad="50800" dist="38100" algn="l" rotWithShape="0">
            <a:prstClr val="black">
              <a:alpha val="40000"/>
            </a:prstClr>
          </a:outerShdw>
        </a:effectLst>
      </dgm:spPr>
    </dgm:pt>
    <dgm:pt modelId="{C6C18185-40AF-48A2-8685-C39F432C8E80}" type="pres">
      <dgm:prSet presAssocID="{1777E161-D0DE-4D31-91FE-E2AD8AAC6A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676699DF-00CC-4F16-B4E6-75EFFED81874}" type="pres">
      <dgm:prSet presAssocID="{1777E161-D0DE-4D31-91FE-E2AD8AAC6AAC}" presName="spaceRect" presStyleCnt="0"/>
      <dgm:spPr/>
    </dgm:pt>
    <dgm:pt modelId="{1CD40C66-A0B4-4978-9941-A79D4CBD111B}" type="pres">
      <dgm:prSet presAssocID="{1777E161-D0DE-4D31-91FE-E2AD8AAC6AAC}" presName="textRect" presStyleLbl="revTx" presStyleIdx="1" presStyleCnt="3">
        <dgm:presLayoutVars>
          <dgm:chMax val="1"/>
          <dgm:chPref val="1"/>
        </dgm:presLayoutVars>
      </dgm:prSet>
      <dgm:spPr/>
    </dgm:pt>
    <dgm:pt modelId="{F18A00AD-35D1-4313-87F2-111D7B13ECED}" type="pres">
      <dgm:prSet presAssocID="{FB489039-8D8A-4FC2-9B37-994383FDE902}" presName="sibTrans" presStyleCnt="0"/>
      <dgm:spPr/>
    </dgm:pt>
    <dgm:pt modelId="{59EC7549-F063-437F-8388-459A5C769816}" type="pres">
      <dgm:prSet presAssocID="{A0E3938A-38FD-4C6B-BC76-DCF294EE93DC}" presName="compNode" presStyleCnt="0"/>
      <dgm:spPr/>
    </dgm:pt>
    <dgm:pt modelId="{81253FDF-02A1-40D1-89CA-3EA7AF168FD7}" type="pres">
      <dgm:prSet presAssocID="{A0E3938A-38FD-4C6B-BC76-DCF294EE93DC}" presName="iconBgRect" presStyleLbl="bgShp" presStyleIdx="2" presStyleCnt="3" custLinFactX="-188225" custLinFactNeighborX="-200000" custLinFactNeighborY="3802"/>
      <dgm:spPr>
        <a:prstGeom prst="round2DiagRect">
          <a:avLst>
            <a:gd name="adj1" fmla="val 29727"/>
            <a:gd name="adj2" fmla="val 0"/>
          </a:avLst>
        </a:prstGeom>
        <a:solidFill>
          <a:schemeClr val="accent5">
            <a:lumMod val="75000"/>
          </a:schemeClr>
        </a:solidFill>
        <a:effectLst>
          <a:outerShdw blurRad="50800" dist="38100" algn="l" rotWithShape="0">
            <a:prstClr val="black">
              <a:alpha val="40000"/>
            </a:prstClr>
          </a:outerShdw>
        </a:effectLst>
      </dgm:spPr>
    </dgm:pt>
    <dgm:pt modelId="{8156E8E0-9CDC-4EAB-A61D-AF474D6D9368}" type="pres">
      <dgm:prSet presAssocID="{A0E3938A-38FD-4C6B-BC76-DCF294EE93DC}" presName="iconRect" presStyleLbl="node1" presStyleIdx="2" presStyleCnt="3" custLinFactX="-300000" custLinFactNeighborX="-376620" custLinFactNeighborY="599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CF8829A0-3E8F-471E-B721-0E359AF6C976}" type="pres">
      <dgm:prSet presAssocID="{A0E3938A-38FD-4C6B-BC76-DCF294EE93DC}" presName="spaceRect" presStyleCnt="0"/>
      <dgm:spPr/>
    </dgm:pt>
    <dgm:pt modelId="{2DEB68D9-2D2A-405A-A95A-F123B81445D3}" type="pres">
      <dgm:prSet presAssocID="{A0E3938A-38FD-4C6B-BC76-DCF294EE93D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341BC0D-6DD3-4979-9832-08DC41068DC6}" srcId="{34FF870C-5D9B-4878-9827-A3D8F8D3B4C3}" destId="{1777E161-D0DE-4D31-91FE-E2AD8AAC6AAC}" srcOrd="1" destOrd="0" parTransId="{50E45982-4B36-4BD3-ABAD-204FBA61FF0E}" sibTransId="{FB489039-8D8A-4FC2-9B37-994383FDE902}"/>
    <dgm:cxn modelId="{472D2D17-E245-46DF-98A5-C38415CADC1E}" type="presOf" srcId="{A0E3938A-38FD-4C6B-BC76-DCF294EE93DC}" destId="{2DEB68D9-2D2A-405A-A95A-F123B81445D3}" srcOrd="0" destOrd="0" presId="urn:microsoft.com/office/officeart/2018/5/layout/IconLeafLabelList"/>
    <dgm:cxn modelId="{B126511F-11FF-4EDD-85D7-D89737033340}" type="presOf" srcId="{34FF870C-5D9B-4878-9827-A3D8F8D3B4C3}" destId="{D2FA40C6-C0ED-46A3-92CE-B081053B2BA8}" srcOrd="0" destOrd="0" presId="urn:microsoft.com/office/officeart/2018/5/layout/IconLeafLabelList"/>
    <dgm:cxn modelId="{FA3ECF3F-F2D7-4808-8F32-35657BC1DF89}" type="presOf" srcId="{193252BB-1661-4EF1-B4B4-B609E884D6B5}" destId="{B2757675-DFB6-4B33-9701-161572571D2B}" srcOrd="0" destOrd="0" presId="urn:microsoft.com/office/officeart/2018/5/layout/IconLeafLabelList"/>
    <dgm:cxn modelId="{F1960191-6C4D-45E6-A70C-022CDEE00113}" srcId="{34FF870C-5D9B-4878-9827-A3D8F8D3B4C3}" destId="{A0E3938A-38FD-4C6B-BC76-DCF294EE93DC}" srcOrd="2" destOrd="0" parTransId="{8655D1BC-F152-4DA3-90FE-11A6554E87C9}" sibTransId="{7DE219E0-15AA-4B4B-9BED-F21993E27992}"/>
    <dgm:cxn modelId="{C3093AB7-9BBB-4595-A705-841ABB75BC49}" type="presOf" srcId="{1777E161-D0DE-4D31-91FE-E2AD8AAC6AAC}" destId="{1CD40C66-A0B4-4978-9941-A79D4CBD111B}" srcOrd="0" destOrd="0" presId="urn:microsoft.com/office/officeart/2018/5/layout/IconLeafLabelList"/>
    <dgm:cxn modelId="{095425F3-197C-4E69-84D5-0C51196EF1C6}" srcId="{34FF870C-5D9B-4878-9827-A3D8F8D3B4C3}" destId="{193252BB-1661-4EF1-B4B4-B609E884D6B5}" srcOrd="0" destOrd="0" parTransId="{5A04EF90-0F09-4424-BA8F-063E80337D8E}" sibTransId="{54292CB0-011E-4706-9294-372AD5816BB9}"/>
    <dgm:cxn modelId="{CFFB4A70-BD6C-4082-9DB4-48041D051C82}" type="presParOf" srcId="{D2FA40C6-C0ED-46A3-92CE-B081053B2BA8}" destId="{4F71816B-273C-49A1-A458-BCE14C9FAD7C}" srcOrd="0" destOrd="0" presId="urn:microsoft.com/office/officeart/2018/5/layout/IconLeafLabelList"/>
    <dgm:cxn modelId="{697C797D-B0A3-487C-82FB-C6242AC02007}" type="presParOf" srcId="{4F71816B-273C-49A1-A458-BCE14C9FAD7C}" destId="{23A2EDD9-C89F-49C9-AE4A-D6196B4CA219}" srcOrd="0" destOrd="0" presId="urn:microsoft.com/office/officeart/2018/5/layout/IconLeafLabelList"/>
    <dgm:cxn modelId="{DF512F07-EEDC-4E6F-8099-188C14ECF869}" type="presParOf" srcId="{4F71816B-273C-49A1-A458-BCE14C9FAD7C}" destId="{AFF6CE53-2172-43E4-BC33-3C48272DDCF0}" srcOrd="1" destOrd="0" presId="urn:microsoft.com/office/officeart/2018/5/layout/IconLeafLabelList"/>
    <dgm:cxn modelId="{9D5B3B65-8825-47E0-95F3-9A1D2B1E6DD6}" type="presParOf" srcId="{4F71816B-273C-49A1-A458-BCE14C9FAD7C}" destId="{8CFED58E-CED6-48CB-AD6E-8A220711C954}" srcOrd="2" destOrd="0" presId="urn:microsoft.com/office/officeart/2018/5/layout/IconLeafLabelList"/>
    <dgm:cxn modelId="{1E9B72B2-2AB0-418C-94B5-6567B0CCC879}" type="presParOf" srcId="{4F71816B-273C-49A1-A458-BCE14C9FAD7C}" destId="{B2757675-DFB6-4B33-9701-161572571D2B}" srcOrd="3" destOrd="0" presId="urn:microsoft.com/office/officeart/2018/5/layout/IconLeafLabelList"/>
    <dgm:cxn modelId="{127552B3-8890-4CBD-B12B-9C8A4BCA5A9E}" type="presParOf" srcId="{D2FA40C6-C0ED-46A3-92CE-B081053B2BA8}" destId="{FF5FC25A-8895-4059-A7CB-AC8E769B2E4B}" srcOrd="1" destOrd="0" presId="urn:microsoft.com/office/officeart/2018/5/layout/IconLeafLabelList"/>
    <dgm:cxn modelId="{1C669417-79B7-433E-A975-738A07EE9783}" type="presParOf" srcId="{D2FA40C6-C0ED-46A3-92CE-B081053B2BA8}" destId="{F181BEB4-66E0-4B62-8712-BD0A64659834}" srcOrd="2" destOrd="0" presId="urn:microsoft.com/office/officeart/2018/5/layout/IconLeafLabelList"/>
    <dgm:cxn modelId="{9C7F80FB-C680-4E35-AD11-9BE4BD6556F1}" type="presParOf" srcId="{F181BEB4-66E0-4B62-8712-BD0A64659834}" destId="{0E81F59E-BE24-4A43-8B4D-78AE486DB35A}" srcOrd="0" destOrd="0" presId="urn:microsoft.com/office/officeart/2018/5/layout/IconLeafLabelList"/>
    <dgm:cxn modelId="{998459A1-F347-48D8-BB50-EB12075F5FDA}" type="presParOf" srcId="{F181BEB4-66E0-4B62-8712-BD0A64659834}" destId="{C6C18185-40AF-48A2-8685-C39F432C8E80}" srcOrd="1" destOrd="0" presId="urn:microsoft.com/office/officeart/2018/5/layout/IconLeafLabelList"/>
    <dgm:cxn modelId="{EC8BA919-8D94-4FB4-BC09-6604E9B16BBF}" type="presParOf" srcId="{F181BEB4-66E0-4B62-8712-BD0A64659834}" destId="{676699DF-00CC-4F16-B4E6-75EFFED81874}" srcOrd="2" destOrd="0" presId="urn:microsoft.com/office/officeart/2018/5/layout/IconLeafLabelList"/>
    <dgm:cxn modelId="{99E65743-4445-4C74-BBE7-040C68F4FF62}" type="presParOf" srcId="{F181BEB4-66E0-4B62-8712-BD0A64659834}" destId="{1CD40C66-A0B4-4978-9941-A79D4CBD111B}" srcOrd="3" destOrd="0" presId="urn:microsoft.com/office/officeart/2018/5/layout/IconLeafLabelList"/>
    <dgm:cxn modelId="{044D2D07-87CA-47BD-BFAF-AD1C67AA89AA}" type="presParOf" srcId="{D2FA40C6-C0ED-46A3-92CE-B081053B2BA8}" destId="{F18A00AD-35D1-4313-87F2-111D7B13ECED}" srcOrd="3" destOrd="0" presId="urn:microsoft.com/office/officeart/2018/5/layout/IconLeafLabelList"/>
    <dgm:cxn modelId="{8A2DCF1E-4E06-4424-AA2E-B74ACB475E11}" type="presParOf" srcId="{D2FA40C6-C0ED-46A3-92CE-B081053B2BA8}" destId="{59EC7549-F063-437F-8388-459A5C769816}" srcOrd="4" destOrd="0" presId="urn:microsoft.com/office/officeart/2018/5/layout/IconLeafLabelList"/>
    <dgm:cxn modelId="{9F0E93DA-CF03-4DEE-B53D-F38603507FC7}" type="presParOf" srcId="{59EC7549-F063-437F-8388-459A5C769816}" destId="{81253FDF-02A1-40D1-89CA-3EA7AF168FD7}" srcOrd="0" destOrd="0" presId="urn:microsoft.com/office/officeart/2018/5/layout/IconLeafLabelList"/>
    <dgm:cxn modelId="{4D35F28B-EF19-4A81-863F-ABB1FD8C2333}" type="presParOf" srcId="{59EC7549-F063-437F-8388-459A5C769816}" destId="{8156E8E0-9CDC-4EAB-A61D-AF474D6D9368}" srcOrd="1" destOrd="0" presId="urn:microsoft.com/office/officeart/2018/5/layout/IconLeafLabelList"/>
    <dgm:cxn modelId="{6D4CD298-2BC6-42A7-91B3-33BBA4EB1AE7}" type="presParOf" srcId="{59EC7549-F063-437F-8388-459A5C769816}" destId="{CF8829A0-3E8F-471E-B721-0E359AF6C976}" srcOrd="2" destOrd="0" presId="urn:microsoft.com/office/officeart/2018/5/layout/IconLeafLabelList"/>
    <dgm:cxn modelId="{F6EAE01F-088E-445D-B1CC-B67F9FD8C8D6}" type="presParOf" srcId="{59EC7549-F063-437F-8388-459A5C769816}" destId="{2DEB68D9-2D2A-405A-A95A-F123B81445D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2EDD9-C89F-49C9-AE4A-D6196B4CA219}">
      <dsp:nvSpPr>
        <dsp:cNvPr id="0" name=""/>
        <dsp:cNvSpPr/>
      </dsp:nvSpPr>
      <dsp:spPr>
        <a:xfrm>
          <a:off x="7237680" y="285181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6CE53-2172-43E4-BC33-3C48272DDCF0}">
      <dsp:nvSpPr>
        <dsp:cNvPr id="0" name=""/>
        <dsp:cNvSpPr/>
      </dsp:nvSpPr>
      <dsp:spPr>
        <a:xfrm>
          <a:off x="7667835" y="650810"/>
          <a:ext cx="984375" cy="984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757675-DFB6-4B33-9701-161572571D2B}">
      <dsp:nvSpPr>
        <dsp:cNvPr id="0" name=""/>
        <dsp:cNvSpPr/>
      </dsp:nvSpPr>
      <dsp:spPr>
        <a:xfrm>
          <a:off x="51553" y="2555700"/>
          <a:ext cx="28887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Trainity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553" y="2555700"/>
        <a:ext cx="2888718" cy="720000"/>
      </dsp:txXfrm>
    </dsp:sp>
    <dsp:sp modelId="{0E81F59E-BE24-4A43-8B4D-78AE486DB35A}">
      <dsp:nvSpPr>
        <dsp:cNvPr id="0" name=""/>
        <dsp:cNvSpPr/>
      </dsp:nvSpPr>
      <dsp:spPr>
        <a:xfrm>
          <a:off x="3980896" y="305700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C18185-40AF-48A2-8685-C39F432C8E80}">
      <dsp:nvSpPr>
        <dsp:cNvPr id="0" name=""/>
        <dsp:cNvSpPr/>
      </dsp:nvSpPr>
      <dsp:spPr>
        <a:xfrm>
          <a:off x="4346521" y="671325"/>
          <a:ext cx="984375" cy="984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40C66-A0B4-4978-9941-A79D4CBD111B}">
      <dsp:nvSpPr>
        <dsp:cNvPr id="0" name=""/>
        <dsp:cNvSpPr/>
      </dsp:nvSpPr>
      <dsp:spPr>
        <a:xfrm>
          <a:off x="3432459" y="2555700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powerpoint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32459" y="2555700"/>
        <a:ext cx="2812500" cy="720000"/>
      </dsp:txXfrm>
    </dsp:sp>
    <dsp:sp modelId="{81253FDF-02A1-40D1-89CA-3EA7AF168FD7}">
      <dsp:nvSpPr>
        <dsp:cNvPr id="0" name=""/>
        <dsp:cNvSpPr/>
      </dsp:nvSpPr>
      <dsp:spPr>
        <a:xfrm>
          <a:off x="625099" y="370928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6E8E0-9CDC-4EAB-A61D-AF474D6D9368}">
      <dsp:nvSpPr>
        <dsp:cNvPr id="0" name=""/>
        <dsp:cNvSpPr/>
      </dsp:nvSpPr>
      <dsp:spPr>
        <a:xfrm>
          <a:off x="990731" y="730328"/>
          <a:ext cx="984375" cy="984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B68D9-2D2A-405A-A95A-F123B81445D3}">
      <dsp:nvSpPr>
        <dsp:cNvPr id="0" name=""/>
        <dsp:cNvSpPr/>
      </dsp:nvSpPr>
      <dsp:spPr>
        <a:xfrm>
          <a:off x="6737146" y="2555700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SPREADSHEET</a:t>
          </a:r>
        </a:p>
      </dsp:txBody>
      <dsp:txXfrm>
        <a:off x="6737146" y="2555700"/>
        <a:ext cx="281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7814-6B49-2FA8-525B-84EC065C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7A517-F12E-56F2-8E7F-06F66D033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45CAA-835A-5017-FD6E-16C3F9505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6ECED-C4E8-5D27-F9D0-7744B58BA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15DA08-80DD-49B6-9B3F-15B11DE2FA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260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A52079-6997-47B8-B262-4ED5D2EA2D74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238998-10EA-455D-8FDC-3EBC7E198582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E9B6-2EC2-45E6-A437-DCC674AAC4AF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4FF3-940D-4DDE-86D8-82D5A8663636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5261-7117-41BB-BB79-8C1909625493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4D7-DE7F-414C-8571-0012DE9EFCDB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378FF3-85EA-48E5-8D8C-1DB156807E49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F94F13-1676-4B68-A383-661B657F6E63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C80CA-06EA-4D97-A1EC-F2A229B592C4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0CC4-6CA2-4A99-B83B-711E420D000E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6139C-0995-E0CD-9A02-2CF549665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2E80E-78A9-E970-8448-145B40573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DF18E-59E7-4D85-F1E2-C1405D00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F6BD4-CB1D-EFD7-2658-C1985D37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48974-0D85-4C7B-3F7A-5152A7FA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83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4580-8CDF-8AB3-72CF-4E2B3B05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B9D43-1E25-82D8-A550-8889E204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826DB-A532-14DD-FF1C-8F4B6D705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7C654-FCBA-538C-0B82-5BEE18D7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1C29-F656-BF0D-7B33-8B0AF00D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33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eed Faal">
    <p:bg>
      <p:bgPr>
        <a:gradFill>
          <a:gsLst>
            <a:gs pos="0">
              <a:srgbClr val="14014B"/>
            </a:gs>
            <a:gs pos="32000">
              <a:schemeClr val="tx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704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eed Faal 5">
    <p:bg>
      <p:bgPr>
        <a:gradFill>
          <a:gsLst>
            <a:gs pos="36000">
              <a:schemeClr val="tx1"/>
            </a:gs>
            <a:gs pos="0">
              <a:schemeClr val="accent1">
                <a:lumMod val="5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053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eed Faal 2">
    <p:bg>
      <p:bgPr>
        <a:gradFill>
          <a:gsLst>
            <a:gs pos="0">
              <a:srgbClr val="351401"/>
            </a:gs>
            <a:gs pos="32000">
              <a:schemeClr val="tx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647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eed Faal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544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30882-9510-B985-B5A8-A41FB213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95F30-01DD-6FFF-AC4F-02C3D44B7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A6541-C0FC-2E7D-B2B9-D45F66AA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38646-247A-D44C-7887-940D4CEB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7ABA5-682E-414B-E8BE-E7DE6DC1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02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2A2D-987D-4AA4-08CA-232F52EA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ECCAC-45B0-DBC0-6EBD-026FCF271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B6D54-E1DC-FDAB-AA74-6E9EE1053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B61AD-8661-9A1F-503A-A276A95F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A3FBF-AE5D-91F9-E76A-97BB58DD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A27C7-F2FC-0E50-DD82-C68039A93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161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CC25-5D46-7E9F-6FA0-ED8178A9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3E49F-EA26-58C1-A18C-8DC33AE57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3408A-D329-B81D-F65C-EF228241B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702FF-CA72-0381-0BA7-71776C91D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79744-E65F-AE4F-D7CC-EF0A319CE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557E4D-B833-CF68-161A-41BE3816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676560-AA85-32DB-5649-A2FD190E2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AB6AB-8D53-2D5B-972B-6E6CB07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062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ECCD-552A-65C9-CF5F-D602646F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8BAA1-04D2-C21D-E299-F91FEA11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DE997-1F83-61BB-5CCC-4B1CAD06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AB268-0DDD-6055-6D3E-B8975721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54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617460-EDA8-380E-017B-26B788CA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AB247-CA28-DEA8-81BA-EDD67F01C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0A195-F43F-D769-B255-29982FBF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42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F944-C4A0-1E05-8EE6-B31E1E3F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51FF2-9087-9B9F-6C4C-B591D7627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C63E7-CFA1-59E7-755E-70D7CA577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352CB-FA9C-E7C5-73D6-C152AACE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85170-0130-8FEC-E430-98CFF8AB0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C306B-E133-E3AD-5104-24D72E92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502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873D-1FC8-154E-C10C-651254CDA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F07BD-DDE7-A0A0-EB21-E18D54FFB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EFF16-FD7E-C447-10E7-1A3BD4A64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7AB5E-D7AB-0C13-644B-AA0B51FF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AFD78-B518-3596-D287-0F5224874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B6735-0F63-F172-851D-4B4DE1F1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669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0ABB-1C10-D03B-E4DB-82689845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8BFF7-DC4F-5AAB-410D-6FA01DD49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C40AA-248D-1595-428A-0BD5F35A4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4B8F9-1957-5728-7E8A-E9B28379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D4EE3-719F-CA8B-08AB-EAFD6E3F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92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E6170E-0A76-35BB-DE7D-33A3E11D2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FEA9E-EA34-5C9F-00B1-4894F683B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0FDBC-4642-5574-49C6-9FCCD528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A6B3D-19C2-D748-02EC-B6B6BB88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AFA30-A1D6-D990-9F21-0ACDA4B4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6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chemeClr val="accent1">
                <a:lumMod val="5000"/>
                <a:lumOff val="95000"/>
              </a:schemeClr>
            </a:gs>
            <a:gs pos="79000">
              <a:schemeClr val="accent1">
                <a:lumMod val="45000"/>
                <a:lumOff val="55000"/>
              </a:schemeClr>
            </a:gs>
            <a:gs pos="8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A13BA-D0BA-3918-D57E-D6A1112F3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6140E-12B0-8ADD-FA6F-536ADC918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68770-B746-EB3A-24F9-CF3397BF2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412BA-CFDF-4A89-A3C4-E57FB5EBCAEC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BF4EC-4091-1EBE-7A71-27D95778E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8379C-5E27-0347-F648-838719148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EC84C-1775-43BE-AC6C-FAC8E4D3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2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c9Do2o_VLH-o3DE97blhdtwKRh64OWgT5OTSiS20SXw/edit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 descr="extreme close up of line chart graphic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10"/>
            <a:ext cx="12191980" cy="6925576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</a:rPr>
              <a:t>Hiring process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419246"/>
            <a:ext cx="5268177" cy="531866"/>
          </a:xfrm>
        </p:spPr>
        <p:txBody>
          <a:bodyPr>
            <a:normAutofit fontScale="85000" lnSpcReduction="10000"/>
          </a:bodyPr>
          <a:lstStyle/>
          <a:p>
            <a:pPr algn="l">
              <a:spcAft>
                <a:spcPts val="600"/>
              </a:spcAft>
            </a:pPr>
            <a:r>
              <a:rPr lang="en-US" sz="1800" dirty="0">
                <a:solidFill>
                  <a:srgbClr val="FFFFFF"/>
                </a:solidFill>
              </a:rPr>
              <a:t>Enhancing Recruitment Efficiency Through Data Analysis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8513F5FD-5CFB-5476-06EA-BF10397624FF}"/>
              </a:ext>
            </a:extLst>
          </p:cNvPr>
          <p:cNvSpPr/>
          <p:nvPr/>
        </p:nvSpPr>
        <p:spPr>
          <a:xfrm>
            <a:off x="1510747" y="4754881"/>
            <a:ext cx="2687541" cy="564542"/>
          </a:xfrm>
          <a:prstGeom prst="flowChartTerminator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4814F813-32F1-6A75-E554-2ED0B9D29992}"/>
              </a:ext>
            </a:extLst>
          </p:cNvPr>
          <p:cNvSpPr/>
          <p:nvPr/>
        </p:nvSpPr>
        <p:spPr>
          <a:xfrm>
            <a:off x="4841019" y="4754881"/>
            <a:ext cx="2687541" cy="564542"/>
          </a:xfrm>
          <a:prstGeom prst="flowChartTerminator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FCD4617B-5D6F-41A4-6B51-601CBF3FFC69}"/>
              </a:ext>
            </a:extLst>
          </p:cNvPr>
          <p:cNvSpPr/>
          <p:nvPr/>
        </p:nvSpPr>
        <p:spPr>
          <a:xfrm>
            <a:off x="8171292" y="4754881"/>
            <a:ext cx="2649108" cy="564542"/>
          </a:xfrm>
          <a:prstGeom prst="flowChartTerminator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090DA9-D690-BCF0-2F71-EC7F0B923EA7}"/>
              </a:ext>
            </a:extLst>
          </p:cNvPr>
          <p:cNvSpPr txBox="1">
            <a:spLocks/>
          </p:cNvSpPr>
          <p:nvPr/>
        </p:nvSpPr>
        <p:spPr>
          <a:xfrm>
            <a:off x="1371600" y="247651"/>
            <a:ext cx="9601200" cy="909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 descr="icon SmartArt graphic placeholder">
            <a:extLst>
              <a:ext uri="{FF2B5EF4-FFF2-40B4-BE49-F238E27FC236}">
                <a16:creationId xmlns:a16="http://schemas.microsoft.com/office/drawing/2014/main" id="{E04C5C5B-F932-40FC-AD54-EE8AB0C582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454135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417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562BB6-0AE3-AA72-F210-423D83106728}"/>
              </a:ext>
            </a:extLst>
          </p:cNvPr>
          <p:cNvSpPr/>
          <p:nvPr/>
        </p:nvSpPr>
        <p:spPr>
          <a:xfrm>
            <a:off x="1377841" y="1820848"/>
            <a:ext cx="4794359" cy="422598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ContrastingRightFacing">
              <a:rot lat="0" lon="204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hiring data to identify trends and improve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strategies.</a:t>
            </a:r>
          </a:p>
          <a:p>
            <a:pPr algn="ctr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96614F-D524-DA74-E419-08761F9B778A}"/>
              </a:ext>
            </a:extLst>
          </p:cNvPr>
          <p:cNvSpPr/>
          <p:nvPr/>
        </p:nvSpPr>
        <p:spPr>
          <a:xfrm>
            <a:off x="6754633" y="1820848"/>
            <a:ext cx="4800599" cy="4225989"/>
          </a:xfrm>
          <a:prstGeom prst="round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HeroicExtremeLeftFacing" fov="2700000">
              <a:rot lat="0" lon="12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optimizing resource allocation, reducing time-to-hire, and enhancing candidate experience.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AB5B79-E844-7A2D-D88C-E7956E82CBD9}"/>
              </a:ext>
            </a:extLst>
          </p:cNvPr>
          <p:cNvSpPr txBox="1">
            <a:spLocks/>
          </p:cNvSpPr>
          <p:nvPr/>
        </p:nvSpPr>
        <p:spPr>
          <a:xfrm>
            <a:off x="1371600" y="247651"/>
            <a:ext cx="9601200" cy="909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749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404172AD-263B-A945-A2B9-81FD69D34B9C}"/>
              </a:ext>
            </a:extLst>
          </p:cNvPr>
          <p:cNvSpPr/>
          <p:nvPr/>
        </p:nvSpPr>
        <p:spPr>
          <a:xfrm>
            <a:off x="6528021" y="1598212"/>
            <a:ext cx="5160399" cy="4229431"/>
          </a:xfrm>
          <a:prstGeom prst="foldedCorner">
            <a:avLst>
              <a:gd name="adj" fmla="val 0"/>
            </a:avLst>
          </a:prstGeom>
          <a:solidFill>
            <a:schemeClr val="tx1">
              <a:lumMod val="50000"/>
              <a:lumOff val="50000"/>
              <a:alpha val="36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A774D-8792-A7CF-3CFF-0742A3B17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1"/>
            <a:ext cx="9601200" cy="90992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181D2-B2ED-7B84-2075-0B6B0AB79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70991"/>
            <a:ext cx="4655489" cy="4905955"/>
          </a:xfrm>
        </p:spPr>
        <p:txBody>
          <a:bodyPr/>
          <a:lstStyle/>
          <a:p>
            <a:r>
              <a:rPr lang="en-US" dirty="0"/>
              <a:t>Columns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Application ID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Interview Date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Status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Gender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Department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Post Name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Offered Salary</a:t>
            </a:r>
          </a:p>
          <a:p>
            <a:r>
              <a:rPr lang="en-US" dirty="0"/>
              <a:t>Data Handling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Event name changed to Gender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Missing values in Gender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D7B69-185B-752D-7D15-21629A662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70991"/>
            <a:ext cx="5160398" cy="42294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57664B-3875-D974-D463-5C35B8974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70991"/>
            <a:ext cx="5160398" cy="422943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46692371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7BA6A-982B-6716-6992-BCAC40F8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llout: Right Arrow 10">
            <a:extLst>
              <a:ext uri="{FF2B5EF4-FFF2-40B4-BE49-F238E27FC236}">
                <a16:creationId xmlns:a16="http://schemas.microsoft.com/office/drawing/2014/main" id="{0F1D46B0-0C51-9E63-DDCE-2B5E6B0BFEB4}"/>
              </a:ext>
            </a:extLst>
          </p:cNvPr>
          <p:cNvSpPr/>
          <p:nvPr/>
        </p:nvSpPr>
        <p:spPr>
          <a:xfrm>
            <a:off x="4191578" y="2646329"/>
            <a:ext cx="6070820" cy="1359673"/>
          </a:xfrm>
          <a:prstGeom prst="rightArrowCallout">
            <a:avLst>
              <a:gd name="adj1" fmla="val 26170"/>
              <a:gd name="adj2" fmla="val 27924"/>
              <a:gd name="adj3" fmla="val 89912"/>
              <a:gd name="adj4" fmla="val 64977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5FAFE-AC40-07F4-2BA3-CCEE930C0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578" y="2974036"/>
            <a:ext cx="9601200" cy="90992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Overview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85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6082-E9CE-04C4-0888-AA871A07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 hidden="1">
            <a:extLst>
              <a:ext uri="{FF2B5EF4-FFF2-40B4-BE49-F238E27FC236}">
                <a16:creationId xmlns:a16="http://schemas.microsoft.com/office/drawing/2014/main" id="{C7851851-F9C2-A618-A4C0-24EE71E1A42C}"/>
              </a:ext>
            </a:extLst>
          </p:cNvPr>
          <p:cNvSpPr/>
          <p:nvPr/>
        </p:nvSpPr>
        <p:spPr>
          <a:xfrm rot="5400000">
            <a:off x="1976552" y="-4564"/>
            <a:ext cx="8238898" cy="6857999"/>
          </a:xfrm>
          <a:custGeom>
            <a:avLst/>
            <a:gdLst>
              <a:gd name="connsiteX0" fmla="*/ 4054957 w 8238898"/>
              <a:gd name="connsiteY0" fmla="*/ 5669279 h 6857999"/>
              <a:gd name="connsiteX1" fmla="*/ 5243677 w 8238898"/>
              <a:gd name="connsiteY1" fmla="*/ 4480559 h 6857999"/>
              <a:gd name="connsiteX2" fmla="*/ 6295237 w 8238898"/>
              <a:gd name="connsiteY2" fmla="*/ 3428999 h 6857999"/>
              <a:gd name="connsiteX3" fmla="*/ 5243677 w 8238898"/>
              <a:gd name="connsiteY3" fmla="*/ 2377439 h 6857999"/>
              <a:gd name="connsiteX4" fmla="*/ 4192117 w 8238898"/>
              <a:gd name="connsiteY4" fmla="*/ 3428999 h 6857999"/>
              <a:gd name="connsiteX5" fmla="*/ 4054957 w 8238898"/>
              <a:gd name="connsiteY5" fmla="*/ 3428999 h 6857999"/>
              <a:gd name="connsiteX6" fmla="*/ 5243677 w 8238898"/>
              <a:gd name="connsiteY6" fmla="*/ 2240279 h 6857999"/>
              <a:gd name="connsiteX7" fmla="*/ 6432397 w 8238898"/>
              <a:gd name="connsiteY7" fmla="*/ 3428999 h 6857999"/>
              <a:gd name="connsiteX8" fmla="*/ 5243677 w 8238898"/>
              <a:gd name="connsiteY8" fmla="*/ 4617719 h 6857999"/>
              <a:gd name="connsiteX9" fmla="*/ 4192117 w 8238898"/>
              <a:gd name="connsiteY9" fmla="*/ 5669279 h 6857999"/>
              <a:gd name="connsiteX10" fmla="*/ 5243677 w 8238898"/>
              <a:gd name="connsiteY10" fmla="*/ 6720839 h 6857999"/>
              <a:gd name="connsiteX11" fmla="*/ 6289808 w 8238898"/>
              <a:gd name="connsiteY11" fmla="*/ 5776795 h 6857999"/>
              <a:gd name="connsiteX12" fmla="*/ 6294738 w 8238898"/>
              <a:gd name="connsiteY12" fmla="*/ 5679148 h 6857999"/>
              <a:gd name="connsiteX13" fmla="*/ 6293572 w 8238898"/>
              <a:gd name="connsiteY13" fmla="*/ 5679148 h 6857999"/>
              <a:gd name="connsiteX14" fmla="*/ 7482270 w 8238898"/>
              <a:gd name="connsiteY14" fmla="*/ 4490451 h 6857999"/>
              <a:gd name="connsiteX15" fmla="*/ 8238393 w 8238898"/>
              <a:gd name="connsiteY15" fmla="*/ 4761892 h 6857999"/>
              <a:gd name="connsiteX16" fmla="*/ 8238898 w 8238898"/>
              <a:gd name="connsiteY16" fmla="*/ 4762351 h 6857999"/>
              <a:gd name="connsiteX17" fmla="*/ 8210149 w 8238898"/>
              <a:gd name="connsiteY17" fmla="*/ 4832436 h 6857999"/>
              <a:gd name="connsiteX18" fmla="*/ 8174690 w 8238898"/>
              <a:gd name="connsiteY18" fmla="*/ 4908161 h 6857999"/>
              <a:gd name="connsiteX19" fmla="*/ 8063806 w 8238898"/>
              <a:gd name="connsiteY19" fmla="*/ 4816673 h 6857999"/>
              <a:gd name="connsiteX20" fmla="*/ 7482270 w 8238898"/>
              <a:gd name="connsiteY20" fmla="*/ 4639038 h 6857999"/>
              <a:gd name="connsiteX21" fmla="*/ 6442159 w 8238898"/>
              <a:gd name="connsiteY21" fmla="*/ 5679148 h 6857999"/>
              <a:gd name="connsiteX22" fmla="*/ 6431898 w 8238898"/>
              <a:gd name="connsiteY22" fmla="*/ 5679148 h 6857999"/>
              <a:gd name="connsiteX23" fmla="*/ 6426260 w 8238898"/>
              <a:gd name="connsiteY23" fmla="*/ 5790819 h 6857999"/>
              <a:gd name="connsiteX24" fmla="*/ 5243677 w 8238898"/>
              <a:gd name="connsiteY24" fmla="*/ 6857999 h 6857999"/>
              <a:gd name="connsiteX25" fmla="*/ 4054957 w 8238898"/>
              <a:gd name="connsiteY25" fmla="*/ 5669279 h 6857999"/>
              <a:gd name="connsiteX26" fmla="*/ 0 w 8238898"/>
              <a:gd name="connsiteY26" fmla="*/ 2087353 h 6857999"/>
              <a:gd name="connsiteX27" fmla="*/ 9214 w 8238898"/>
              <a:gd name="connsiteY27" fmla="*/ 2076451 h 6857999"/>
              <a:gd name="connsiteX28" fmla="*/ 73846 w 8238898"/>
              <a:gd name="connsiteY28" fmla="*/ 1996463 h 6857999"/>
              <a:gd name="connsiteX29" fmla="*/ 96067 w 8238898"/>
              <a:gd name="connsiteY29" fmla="*/ 1968594 h 6857999"/>
              <a:gd name="connsiteX30" fmla="*/ 184221 w 8238898"/>
              <a:gd name="connsiteY30" fmla="*/ 2041328 h 6857999"/>
              <a:gd name="connsiteX31" fmla="*/ 765757 w 8238898"/>
              <a:gd name="connsiteY31" fmla="*/ 2218963 h 6857999"/>
              <a:gd name="connsiteX32" fmla="*/ 1805868 w 8238898"/>
              <a:gd name="connsiteY32" fmla="*/ 1178853 h 6857999"/>
              <a:gd name="connsiteX33" fmla="*/ 1816129 w 8238898"/>
              <a:gd name="connsiteY33" fmla="*/ 1178853 h 6857999"/>
              <a:gd name="connsiteX34" fmla="*/ 1821767 w 8238898"/>
              <a:gd name="connsiteY34" fmla="*/ 1067182 h 6857999"/>
              <a:gd name="connsiteX35" fmla="*/ 3004350 w 8238898"/>
              <a:gd name="connsiteY35" fmla="*/ 0 h 6857999"/>
              <a:gd name="connsiteX36" fmla="*/ 4193070 w 8238898"/>
              <a:gd name="connsiteY36" fmla="*/ 1188721 h 6857999"/>
              <a:gd name="connsiteX37" fmla="*/ 3004350 w 8238898"/>
              <a:gd name="connsiteY37" fmla="*/ 2377441 h 6857999"/>
              <a:gd name="connsiteX38" fmla="*/ 3004350 w 8238898"/>
              <a:gd name="connsiteY38" fmla="*/ 2377440 h 6857999"/>
              <a:gd name="connsiteX39" fmla="*/ 1952790 w 8238898"/>
              <a:gd name="connsiteY39" fmla="*/ 3429000 h 6857999"/>
              <a:gd name="connsiteX40" fmla="*/ 3004350 w 8238898"/>
              <a:gd name="connsiteY40" fmla="*/ 4480560 h 6857999"/>
              <a:gd name="connsiteX41" fmla="*/ 4055910 w 8238898"/>
              <a:gd name="connsiteY41" fmla="*/ 3429000 h 6857999"/>
              <a:gd name="connsiteX42" fmla="*/ 4193070 w 8238898"/>
              <a:gd name="connsiteY42" fmla="*/ 3429000 h 6857999"/>
              <a:gd name="connsiteX43" fmla="*/ 3004350 w 8238898"/>
              <a:gd name="connsiteY43" fmla="*/ 4617720 h 6857999"/>
              <a:gd name="connsiteX44" fmla="*/ 1815630 w 8238898"/>
              <a:gd name="connsiteY44" fmla="*/ 3429000 h 6857999"/>
              <a:gd name="connsiteX45" fmla="*/ 3004350 w 8238898"/>
              <a:gd name="connsiteY45" fmla="*/ 2240280 h 6857999"/>
              <a:gd name="connsiteX46" fmla="*/ 3004350 w 8238898"/>
              <a:gd name="connsiteY46" fmla="*/ 2240281 h 6857999"/>
              <a:gd name="connsiteX47" fmla="*/ 4055910 w 8238898"/>
              <a:gd name="connsiteY47" fmla="*/ 1188721 h 6857999"/>
              <a:gd name="connsiteX48" fmla="*/ 3004350 w 8238898"/>
              <a:gd name="connsiteY48" fmla="*/ 137161 h 6857999"/>
              <a:gd name="connsiteX49" fmla="*/ 1958219 w 8238898"/>
              <a:gd name="connsiteY49" fmla="*/ 1081206 h 6857999"/>
              <a:gd name="connsiteX50" fmla="*/ 1953288 w 8238898"/>
              <a:gd name="connsiteY50" fmla="*/ 1178853 h 6857999"/>
              <a:gd name="connsiteX51" fmla="*/ 1954455 w 8238898"/>
              <a:gd name="connsiteY51" fmla="*/ 1178853 h 6857999"/>
              <a:gd name="connsiteX52" fmla="*/ 765757 w 8238898"/>
              <a:gd name="connsiteY52" fmla="*/ 2367550 h 6857999"/>
              <a:gd name="connsiteX53" fmla="*/ 9635 w 8238898"/>
              <a:gd name="connsiteY53" fmla="*/ 209610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8238898" h="6857999">
                <a:moveTo>
                  <a:pt x="4054957" y="5669279"/>
                </a:moveTo>
                <a:cubicBezTo>
                  <a:pt x="4054957" y="5012767"/>
                  <a:pt x="4587165" y="4480559"/>
                  <a:pt x="5243677" y="4480559"/>
                </a:cubicBezTo>
                <a:cubicBezTo>
                  <a:pt x="5824438" y="4480559"/>
                  <a:pt x="6295237" y="4009760"/>
                  <a:pt x="6295237" y="3428999"/>
                </a:cubicBezTo>
                <a:cubicBezTo>
                  <a:pt x="6295237" y="2848238"/>
                  <a:pt x="5824438" y="2377439"/>
                  <a:pt x="5243677" y="2377439"/>
                </a:cubicBezTo>
                <a:cubicBezTo>
                  <a:pt x="4662916" y="2377439"/>
                  <a:pt x="4192117" y="2848238"/>
                  <a:pt x="4192117" y="3428999"/>
                </a:cubicBezTo>
                <a:lnTo>
                  <a:pt x="4054957" y="3428999"/>
                </a:lnTo>
                <a:cubicBezTo>
                  <a:pt x="4054957" y="2772487"/>
                  <a:pt x="4587165" y="2240279"/>
                  <a:pt x="5243677" y="2240279"/>
                </a:cubicBezTo>
                <a:cubicBezTo>
                  <a:pt x="5900189" y="2240279"/>
                  <a:pt x="6432397" y="2772487"/>
                  <a:pt x="6432397" y="3428999"/>
                </a:cubicBezTo>
                <a:cubicBezTo>
                  <a:pt x="6432397" y="4085511"/>
                  <a:pt x="5900189" y="4617719"/>
                  <a:pt x="5243677" y="4617719"/>
                </a:cubicBezTo>
                <a:cubicBezTo>
                  <a:pt x="4662916" y="4617719"/>
                  <a:pt x="4192117" y="5088518"/>
                  <a:pt x="4192117" y="5669279"/>
                </a:cubicBezTo>
                <a:cubicBezTo>
                  <a:pt x="4192117" y="6250040"/>
                  <a:pt x="4662916" y="6720839"/>
                  <a:pt x="5243677" y="6720839"/>
                </a:cubicBezTo>
                <a:cubicBezTo>
                  <a:pt x="5788140" y="6720839"/>
                  <a:pt x="6235957" y="6307051"/>
                  <a:pt x="6289808" y="5776795"/>
                </a:cubicBezTo>
                <a:lnTo>
                  <a:pt x="6294738" y="5679148"/>
                </a:lnTo>
                <a:lnTo>
                  <a:pt x="6293572" y="5679148"/>
                </a:lnTo>
                <a:cubicBezTo>
                  <a:pt x="6293572" y="5022649"/>
                  <a:pt x="6825771" y="4490451"/>
                  <a:pt x="7482270" y="4490451"/>
                </a:cubicBezTo>
                <a:cubicBezTo>
                  <a:pt x="7769489" y="4490451"/>
                  <a:pt x="8032915" y="4592317"/>
                  <a:pt x="8238393" y="4761892"/>
                </a:cubicBezTo>
                <a:lnTo>
                  <a:pt x="8238898" y="4762351"/>
                </a:lnTo>
                <a:lnTo>
                  <a:pt x="8210149" y="4832436"/>
                </a:lnTo>
                <a:lnTo>
                  <a:pt x="8174690" y="4908161"/>
                </a:lnTo>
                <a:lnTo>
                  <a:pt x="8063806" y="4816673"/>
                </a:lnTo>
                <a:cubicBezTo>
                  <a:pt x="7897803" y="4704524"/>
                  <a:pt x="7697684" y="4639038"/>
                  <a:pt x="7482270" y="4639038"/>
                </a:cubicBezTo>
                <a:cubicBezTo>
                  <a:pt x="6907833" y="4639038"/>
                  <a:pt x="6442159" y="5104712"/>
                  <a:pt x="6442159" y="5679148"/>
                </a:cubicBezTo>
                <a:lnTo>
                  <a:pt x="6431898" y="5679148"/>
                </a:lnTo>
                <a:lnTo>
                  <a:pt x="6426260" y="5790819"/>
                </a:lnTo>
                <a:cubicBezTo>
                  <a:pt x="6365385" y="6390238"/>
                  <a:pt x="5859157" y="6857999"/>
                  <a:pt x="5243677" y="6857999"/>
                </a:cubicBezTo>
                <a:cubicBezTo>
                  <a:pt x="4587165" y="6857999"/>
                  <a:pt x="4054957" y="6325791"/>
                  <a:pt x="4054957" y="5669279"/>
                </a:cubicBezTo>
                <a:close/>
                <a:moveTo>
                  <a:pt x="0" y="2087353"/>
                </a:moveTo>
                <a:lnTo>
                  <a:pt x="9214" y="2076451"/>
                </a:lnTo>
                <a:cubicBezTo>
                  <a:pt x="32520" y="2047767"/>
                  <a:pt x="54027" y="2021146"/>
                  <a:pt x="73846" y="1996463"/>
                </a:cubicBezTo>
                <a:lnTo>
                  <a:pt x="96067" y="1968594"/>
                </a:lnTo>
                <a:lnTo>
                  <a:pt x="184221" y="2041328"/>
                </a:lnTo>
                <a:cubicBezTo>
                  <a:pt x="350224" y="2153478"/>
                  <a:pt x="550343" y="2218963"/>
                  <a:pt x="765757" y="2218963"/>
                </a:cubicBezTo>
                <a:cubicBezTo>
                  <a:pt x="1340194" y="2218963"/>
                  <a:pt x="1805868" y="1753290"/>
                  <a:pt x="1805868" y="1178853"/>
                </a:cubicBezTo>
                <a:lnTo>
                  <a:pt x="1816129" y="1178853"/>
                </a:lnTo>
                <a:lnTo>
                  <a:pt x="1821767" y="1067182"/>
                </a:lnTo>
                <a:cubicBezTo>
                  <a:pt x="1882642" y="467762"/>
                  <a:pt x="2388870" y="0"/>
                  <a:pt x="3004350" y="0"/>
                </a:cubicBezTo>
                <a:cubicBezTo>
                  <a:pt x="3660862" y="0"/>
                  <a:pt x="4193070" y="532209"/>
                  <a:pt x="4193070" y="1188721"/>
                </a:cubicBezTo>
                <a:cubicBezTo>
                  <a:pt x="4193070" y="1845233"/>
                  <a:pt x="3660862" y="2377441"/>
                  <a:pt x="3004350" y="2377441"/>
                </a:cubicBezTo>
                <a:lnTo>
                  <a:pt x="3004350" y="2377440"/>
                </a:lnTo>
                <a:cubicBezTo>
                  <a:pt x="2423589" y="2377440"/>
                  <a:pt x="1952790" y="2848239"/>
                  <a:pt x="1952790" y="3429000"/>
                </a:cubicBezTo>
                <a:cubicBezTo>
                  <a:pt x="1952790" y="4009761"/>
                  <a:pt x="2423589" y="4480560"/>
                  <a:pt x="3004350" y="4480560"/>
                </a:cubicBezTo>
                <a:cubicBezTo>
                  <a:pt x="3585111" y="4480560"/>
                  <a:pt x="4055910" y="4009761"/>
                  <a:pt x="4055910" y="3429000"/>
                </a:cubicBezTo>
                <a:lnTo>
                  <a:pt x="4193070" y="3429000"/>
                </a:lnTo>
                <a:cubicBezTo>
                  <a:pt x="4193070" y="4085512"/>
                  <a:pt x="3660862" y="4617720"/>
                  <a:pt x="3004350" y="4617720"/>
                </a:cubicBezTo>
                <a:cubicBezTo>
                  <a:pt x="2347838" y="4617720"/>
                  <a:pt x="1815630" y="4085512"/>
                  <a:pt x="1815630" y="3429000"/>
                </a:cubicBezTo>
                <a:cubicBezTo>
                  <a:pt x="1815630" y="2772488"/>
                  <a:pt x="2347838" y="2240280"/>
                  <a:pt x="3004350" y="2240280"/>
                </a:cubicBezTo>
                <a:lnTo>
                  <a:pt x="3004350" y="2240281"/>
                </a:lnTo>
                <a:cubicBezTo>
                  <a:pt x="3585111" y="2240281"/>
                  <a:pt x="4055910" y="1769482"/>
                  <a:pt x="4055910" y="1188721"/>
                </a:cubicBezTo>
                <a:cubicBezTo>
                  <a:pt x="4055910" y="607961"/>
                  <a:pt x="3585111" y="137161"/>
                  <a:pt x="3004350" y="137161"/>
                </a:cubicBezTo>
                <a:cubicBezTo>
                  <a:pt x="2459887" y="137161"/>
                  <a:pt x="2012070" y="550950"/>
                  <a:pt x="1958219" y="1081206"/>
                </a:cubicBezTo>
                <a:lnTo>
                  <a:pt x="1953288" y="1178853"/>
                </a:lnTo>
                <a:lnTo>
                  <a:pt x="1954455" y="1178853"/>
                </a:lnTo>
                <a:cubicBezTo>
                  <a:pt x="1954455" y="1835352"/>
                  <a:pt x="1422256" y="2367550"/>
                  <a:pt x="765757" y="2367550"/>
                </a:cubicBezTo>
                <a:cubicBezTo>
                  <a:pt x="478538" y="2367550"/>
                  <a:pt x="215112" y="2265684"/>
                  <a:pt x="9635" y="2096109"/>
                </a:cubicBezTo>
                <a:close/>
              </a:path>
            </a:pathLst>
          </a:custGeom>
          <a:solidFill>
            <a:srgbClr val="000000"/>
          </a:solidFill>
          <a:ln w="18256" cap="flat">
            <a:noFill/>
            <a:prstDash val="solid"/>
            <a:miter/>
          </a:ln>
          <a:effectLst>
            <a:outerShdw blurRad="203200" sx="102000" sy="102000" algn="ctr" rotWithShape="0">
              <a:srgbClr val="5A24FD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1B30F9-D12A-9D15-F146-A0A0B61205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8900000">
            <a:off x="1268597" y="-477985"/>
            <a:ext cx="9652293" cy="9645428"/>
          </a:xfrm>
          <a:custGeom>
            <a:avLst/>
            <a:gdLst>
              <a:gd name="connsiteX0" fmla="*/ 9283170 w 9652293"/>
              <a:gd name="connsiteY0" fmla="*/ 5118419 h 9645428"/>
              <a:gd name="connsiteX1" fmla="*/ 9652293 w 9652293"/>
              <a:gd name="connsiteY1" fmla="*/ 6009563 h 9645428"/>
              <a:gd name="connsiteX2" fmla="*/ 8646014 w 9652293"/>
              <a:gd name="connsiteY2" fmla="*/ 7244224 h 9645428"/>
              <a:gd name="connsiteX3" fmla="*/ 8399086 w 9652293"/>
              <a:gd name="connsiteY3" fmla="*/ 7269117 h 9645428"/>
              <a:gd name="connsiteX4" fmla="*/ 8399086 w 9652293"/>
              <a:gd name="connsiteY4" fmla="*/ 7270310 h 9645428"/>
              <a:gd name="connsiteX5" fmla="*/ 7284235 w 9652293"/>
              <a:gd name="connsiteY5" fmla="*/ 8385161 h 9645428"/>
              <a:gd name="connsiteX6" fmla="*/ 8399086 w 9652293"/>
              <a:gd name="connsiteY6" fmla="*/ 9500013 h 9645428"/>
              <a:gd name="connsiteX7" fmla="*/ 8730609 w 9652293"/>
              <a:gd name="connsiteY7" fmla="*/ 9449892 h 9645428"/>
              <a:gd name="connsiteX8" fmla="*/ 8850467 w 9652293"/>
              <a:gd name="connsiteY8" fmla="*/ 9402666 h 9645428"/>
              <a:gd name="connsiteX9" fmla="*/ 8631575 w 9652293"/>
              <a:gd name="connsiteY9" fmla="*/ 9621559 h 9645428"/>
              <a:gd name="connsiteX10" fmla="*/ 8591012 w 9652293"/>
              <a:gd name="connsiteY10" fmla="*/ 9630907 h 9645428"/>
              <a:gd name="connsiteX11" fmla="*/ 8399086 w 9652293"/>
              <a:gd name="connsiteY11" fmla="*/ 9645428 h 9645428"/>
              <a:gd name="connsiteX12" fmla="*/ 7138820 w 9652293"/>
              <a:gd name="connsiteY12" fmla="*/ 8385161 h 9645428"/>
              <a:gd name="connsiteX13" fmla="*/ 8145099 w 9652293"/>
              <a:gd name="connsiteY13" fmla="*/ 7150498 h 9645428"/>
              <a:gd name="connsiteX14" fmla="*/ 8392027 w 9652293"/>
              <a:gd name="connsiteY14" fmla="*/ 7125606 h 9645428"/>
              <a:gd name="connsiteX15" fmla="*/ 8392028 w 9652293"/>
              <a:gd name="connsiteY15" fmla="*/ 7124414 h 9645428"/>
              <a:gd name="connsiteX16" fmla="*/ 9506879 w 9652293"/>
              <a:gd name="connsiteY16" fmla="*/ 6009562 h 9645428"/>
              <a:gd name="connsiteX17" fmla="*/ 8392027 w 9652293"/>
              <a:gd name="connsiteY17" fmla="*/ 4894711 h 9645428"/>
              <a:gd name="connsiteX18" fmla="*/ 7277176 w 9652293"/>
              <a:gd name="connsiteY18" fmla="*/ 6009562 h 9645428"/>
              <a:gd name="connsiteX19" fmla="*/ 7277977 w 9652293"/>
              <a:gd name="connsiteY19" fmla="*/ 6009562 h 9645428"/>
              <a:gd name="connsiteX20" fmla="*/ 6017711 w 9652293"/>
              <a:gd name="connsiteY20" fmla="*/ 7269829 h 9645428"/>
              <a:gd name="connsiteX21" fmla="*/ 4757444 w 9652293"/>
              <a:gd name="connsiteY21" fmla="*/ 6009562 h 9645428"/>
              <a:gd name="connsiteX22" fmla="*/ 5888856 w 9652293"/>
              <a:gd name="connsiteY22" fmla="*/ 4755803 h 9645428"/>
              <a:gd name="connsiteX23" fmla="*/ 6012694 w 9652293"/>
              <a:gd name="connsiteY23" fmla="*/ 4749548 h 9645428"/>
              <a:gd name="connsiteX24" fmla="*/ 6012694 w 9652293"/>
              <a:gd name="connsiteY24" fmla="*/ 4748080 h 9645428"/>
              <a:gd name="connsiteX25" fmla="*/ 7127546 w 9652293"/>
              <a:gd name="connsiteY25" fmla="*/ 3633228 h 9645428"/>
              <a:gd name="connsiteX26" fmla="*/ 6012695 w 9652293"/>
              <a:gd name="connsiteY26" fmla="*/ 2518377 h 9645428"/>
              <a:gd name="connsiteX27" fmla="*/ 4897844 w 9652293"/>
              <a:gd name="connsiteY27" fmla="*/ 3633228 h 9645428"/>
              <a:gd name="connsiteX28" fmla="*/ 4898645 w 9652293"/>
              <a:gd name="connsiteY28" fmla="*/ 3633228 h 9645428"/>
              <a:gd name="connsiteX29" fmla="*/ 3638379 w 9652293"/>
              <a:gd name="connsiteY29" fmla="*/ 4893495 h 9645428"/>
              <a:gd name="connsiteX30" fmla="*/ 2378113 w 9652293"/>
              <a:gd name="connsiteY30" fmla="*/ 3633228 h 9645428"/>
              <a:gd name="connsiteX31" fmla="*/ 3638379 w 9652293"/>
              <a:gd name="connsiteY31" fmla="*/ 2372962 h 9645428"/>
              <a:gd name="connsiteX32" fmla="*/ 3638379 w 9652293"/>
              <a:gd name="connsiteY32" fmla="*/ 2374991 h 9645428"/>
              <a:gd name="connsiteX33" fmla="*/ 3749841 w 9652293"/>
              <a:gd name="connsiteY33" fmla="*/ 2369363 h 9645428"/>
              <a:gd name="connsiteX34" fmla="*/ 4750704 w 9652293"/>
              <a:gd name="connsiteY34" fmla="*/ 1260268 h 9645428"/>
              <a:gd name="connsiteX35" fmla="*/ 3635852 w 9652293"/>
              <a:gd name="connsiteY35" fmla="*/ 145416 h 9645428"/>
              <a:gd name="connsiteX36" fmla="*/ 2521001 w 9652293"/>
              <a:gd name="connsiteY36" fmla="*/ 1260267 h 9645428"/>
              <a:gd name="connsiteX37" fmla="*/ 2520180 w 9652293"/>
              <a:gd name="connsiteY37" fmla="*/ 1260268 h 9645428"/>
              <a:gd name="connsiteX38" fmla="*/ 2494929 w 9652293"/>
              <a:gd name="connsiteY38" fmla="*/ 1510754 h 9645428"/>
              <a:gd name="connsiteX39" fmla="*/ 1260266 w 9652293"/>
              <a:gd name="connsiteY39" fmla="*/ 2517032 h 9645428"/>
              <a:gd name="connsiteX40" fmla="*/ 0 w 9652293"/>
              <a:gd name="connsiteY40" fmla="*/ 1256765 h 9645428"/>
              <a:gd name="connsiteX41" fmla="*/ 25468 w 9652293"/>
              <a:gd name="connsiteY41" fmla="*/ 1004126 h 9645428"/>
              <a:gd name="connsiteX42" fmla="*/ 264183 w 9652293"/>
              <a:gd name="connsiteY42" fmla="*/ 765410 h 9645428"/>
              <a:gd name="connsiteX43" fmla="*/ 233025 w 9652293"/>
              <a:gd name="connsiteY43" fmla="*/ 822815 h 9645428"/>
              <a:gd name="connsiteX44" fmla="*/ 145415 w 9652293"/>
              <a:gd name="connsiteY44" fmla="*/ 1256765 h 9645428"/>
              <a:gd name="connsiteX45" fmla="*/ 1260266 w 9652293"/>
              <a:gd name="connsiteY45" fmla="*/ 2371617 h 9645428"/>
              <a:gd name="connsiteX46" fmla="*/ 2375117 w 9652293"/>
              <a:gd name="connsiteY46" fmla="*/ 1256765 h 9645428"/>
              <a:gd name="connsiteX47" fmla="*/ 2375939 w 9652293"/>
              <a:gd name="connsiteY47" fmla="*/ 1256765 h 9645428"/>
              <a:gd name="connsiteX48" fmla="*/ 2401191 w 9652293"/>
              <a:gd name="connsiteY48" fmla="*/ 1006280 h 9645428"/>
              <a:gd name="connsiteX49" fmla="*/ 3635852 w 9652293"/>
              <a:gd name="connsiteY49" fmla="*/ 1 h 9645428"/>
              <a:gd name="connsiteX50" fmla="*/ 4896119 w 9652293"/>
              <a:gd name="connsiteY50" fmla="*/ 1260267 h 9645428"/>
              <a:gd name="connsiteX51" fmla="*/ 3635853 w 9652293"/>
              <a:gd name="connsiteY51" fmla="*/ 2520534 h 9645428"/>
              <a:gd name="connsiteX52" fmla="*/ 3635853 w 9652293"/>
              <a:gd name="connsiteY52" fmla="*/ 2518506 h 9645428"/>
              <a:gd name="connsiteX53" fmla="*/ 3524393 w 9652293"/>
              <a:gd name="connsiteY53" fmla="*/ 2524133 h 9645428"/>
              <a:gd name="connsiteX54" fmla="*/ 2523529 w 9652293"/>
              <a:gd name="connsiteY54" fmla="*/ 3633230 h 9645428"/>
              <a:gd name="connsiteX55" fmla="*/ 3638379 w 9652293"/>
              <a:gd name="connsiteY55" fmla="*/ 4748080 h 9645428"/>
              <a:gd name="connsiteX56" fmla="*/ 4753230 w 9652293"/>
              <a:gd name="connsiteY56" fmla="*/ 3633228 h 9645428"/>
              <a:gd name="connsiteX57" fmla="*/ 4752429 w 9652293"/>
              <a:gd name="connsiteY57" fmla="*/ 3633229 h 9645428"/>
              <a:gd name="connsiteX58" fmla="*/ 6012695 w 9652293"/>
              <a:gd name="connsiteY58" fmla="*/ 2372962 h 9645428"/>
              <a:gd name="connsiteX59" fmla="*/ 7272961 w 9652293"/>
              <a:gd name="connsiteY59" fmla="*/ 3633228 h 9645428"/>
              <a:gd name="connsiteX60" fmla="*/ 6141550 w 9652293"/>
              <a:gd name="connsiteY60" fmla="*/ 4886988 h 9645428"/>
              <a:gd name="connsiteX61" fmla="*/ 6017711 w 9652293"/>
              <a:gd name="connsiteY61" fmla="*/ 4893242 h 9645428"/>
              <a:gd name="connsiteX62" fmla="*/ 6017710 w 9652293"/>
              <a:gd name="connsiteY62" fmla="*/ 4894710 h 9645428"/>
              <a:gd name="connsiteX63" fmla="*/ 4902859 w 9652293"/>
              <a:gd name="connsiteY63" fmla="*/ 6009562 h 9645428"/>
              <a:gd name="connsiteX64" fmla="*/ 6017711 w 9652293"/>
              <a:gd name="connsiteY64" fmla="*/ 7124414 h 9645428"/>
              <a:gd name="connsiteX65" fmla="*/ 7132561 w 9652293"/>
              <a:gd name="connsiteY65" fmla="*/ 6009562 h 9645428"/>
              <a:gd name="connsiteX66" fmla="*/ 7131760 w 9652293"/>
              <a:gd name="connsiteY66" fmla="*/ 6009562 h 9645428"/>
              <a:gd name="connsiteX67" fmla="*/ 8392027 w 9652293"/>
              <a:gd name="connsiteY67" fmla="*/ 4749296 h 9645428"/>
              <a:gd name="connsiteX68" fmla="*/ 9283170 w 9652293"/>
              <a:gd name="connsiteY68" fmla="*/ 5118419 h 964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9652293" h="9645428">
                <a:moveTo>
                  <a:pt x="9283170" y="5118419"/>
                </a:moveTo>
                <a:cubicBezTo>
                  <a:pt x="9511233" y="5346483"/>
                  <a:pt x="9652293" y="5661549"/>
                  <a:pt x="9652293" y="6009563"/>
                </a:cubicBezTo>
                <a:cubicBezTo>
                  <a:pt x="9652293" y="6618585"/>
                  <a:pt x="9220296" y="7126708"/>
                  <a:pt x="8646014" y="7244224"/>
                </a:cubicBezTo>
                <a:lnTo>
                  <a:pt x="8399086" y="7269117"/>
                </a:lnTo>
                <a:lnTo>
                  <a:pt x="8399086" y="7270310"/>
                </a:lnTo>
                <a:cubicBezTo>
                  <a:pt x="7783370" y="7270310"/>
                  <a:pt x="7284235" y="7769445"/>
                  <a:pt x="7284235" y="8385161"/>
                </a:cubicBezTo>
                <a:cubicBezTo>
                  <a:pt x="7284235" y="9000877"/>
                  <a:pt x="7783370" y="9500013"/>
                  <a:pt x="8399086" y="9500013"/>
                </a:cubicBezTo>
                <a:cubicBezTo>
                  <a:pt x="8514533" y="9500013"/>
                  <a:pt x="8625881" y="9482465"/>
                  <a:pt x="8730609" y="9449892"/>
                </a:cubicBezTo>
                <a:lnTo>
                  <a:pt x="8850467" y="9402666"/>
                </a:lnTo>
                <a:lnTo>
                  <a:pt x="8631575" y="9621559"/>
                </a:lnTo>
                <a:lnTo>
                  <a:pt x="8591012" y="9630907"/>
                </a:lnTo>
                <a:cubicBezTo>
                  <a:pt x="8528432" y="9640469"/>
                  <a:pt x="8464339" y="9645428"/>
                  <a:pt x="8399086" y="9645428"/>
                </a:cubicBezTo>
                <a:cubicBezTo>
                  <a:pt x="7703061" y="9645428"/>
                  <a:pt x="7138820" y="9081187"/>
                  <a:pt x="7138820" y="8385161"/>
                </a:cubicBezTo>
                <a:cubicBezTo>
                  <a:pt x="7138820" y="7776139"/>
                  <a:pt x="7570815" y="7268013"/>
                  <a:pt x="8145099" y="7150498"/>
                </a:cubicBezTo>
                <a:lnTo>
                  <a:pt x="8392027" y="7125606"/>
                </a:lnTo>
                <a:lnTo>
                  <a:pt x="8392028" y="7124414"/>
                </a:lnTo>
                <a:cubicBezTo>
                  <a:pt x="9007742" y="7124413"/>
                  <a:pt x="9506878" y="6625278"/>
                  <a:pt x="9506879" y="6009562"/>
                </a:cubicBezTo>
                <a:cubicBezTo>
                  <a:pt x="9506879" y="5393846"/>
                  <a:pt x="9007742" y="4894710"/>
                  <a:pt x="8392027" y="4894711"/>
                </a:cubicBezTo>
                <a:cubicBezTo>
                  <a:pt x="7776311" y="4894711"/>
                  <a:pt x="7277176" y="5393846"/>
                  <a:pt x="7277176" y="6009562"/>
                </a:cubicBezTo>
                <a:lnTo>
                  <a:pt x="7277977" y="6009562"/>
                </a:lnTo>
                <a:cubicBezTo>
                  <a:pt x="7277977" y="6705588"/>
                  <a:pt x="6713736" y="7269828"/>
                  <a:pt x="6017711" y="7269829"/>
                </a:cubicBezTo>
                <a:cubicBezTo>
                  <a:pt x="5321684" y="7269829"/>
                  <a:pt x="4757444" y="6705588"/>
                  <a:pt x="4757444" y="6009562"/>
                </a:cubicBezTo>
                <a:cubicBezTo>
                  <a:pt x="4757444" y="5357037"/>
                  <a:pt x="5253358" y="4820340"/>
                  <a:pt x="5888856" y="4755803"/>
                </a:cubicBezTo>
                <a:lnTo>
                  <a:pt x="6012694" y="4749548"/>
                </a:lnTo>
                <a:lnTo>
                  <a:pt x="6012694" y="4748080"/>
                </a:lnTo>
                <a:cubicBezTo>
                  <a:pt x="6628411" y="4748080"/>
                  <a:pt x="7127546" y="4248944"/>
                  <a:pt x="7127546" y="3633228"/>
                </a:cubicBezTo>
                <a:cubicBezTo>
                  <a:pt x="7127546" y="3017512"/>
                  <a:pt x="6628410" y="2518377"/>
                  <a:pt x="6012695" y="2518377"/>
                </a:cubicBezTo>
                <a:cubicBezTo>
                  <a:pt x="5396979" y="2518377"/>
                  <a:pt x="4897844" y="3017513"/>
                  <a:pt x="4897844" y="3633228"/>
                </a:cubicBezTo>
                <a:lnTo>
                  <a:pt x="4898645" y="3633228"/>
                </a:lnTo>
                <a:cubicBezTo>
                  <a:pt x="4898645" y="4329254"/>
                  <a:pt x="4334404" y="4893494"/>
                  <a:pt x="3638379" y="4893495"/>
                </a:cubicBezTo>
                <a:cubicBezTo>
                  <a:pt x="2942352" y="4893495"/>
                  <a:pt x="2378114" y="4329255"/>
                  <a:pt x="2378113" y="3633228"/>
                </a:cubicBezTo>
                <a:cubicBezTo>
                  <a:pt x="2378112" y="2937203"/>
                  <a:pt x="2942353" y="2372962"/>
                  <a:pt x="3638379" y="2372962"/>
                </a:cubicBezTo>
                <a:lnTo>
                  <a:pt x="3638379" y="2374991"/>
                </a:lnTo>
                <a:lnTo>
                  <a:pt x="3749841" y="2369363"/>
                </a:lnTo>
                <a:cubicBezTo>
                  <a:pt x="4312012" y="2312273"/>
                  <a:pt x="4750703" y="1837500"/>
                  <a:pt x="4750704" y="1260268"/>
                </a:cubicBezTo>
                <a:cubicBezTo>
                  <a:pt x="4750703" y="644552"/>
                  <a:pt x="4251568" y="145416"/>
                  <a:pt x="3635852" y="145416"/>
                </a:cubicBezTo>
                <a:cubicBezTo>
                  <a:pt x="3020137" y="145416"/>
                  <a:pt x="2521001" y="644551"/>
                  <a:pt x="2521001" y="1260267"/>
                </a:cubicBezTo>
                <a:lnTo>
                  <a:pt x="2520180" y="1260268"/>
                </a:lnTo>
                <a:lnTo>
                  <a:pt x="2494929" y="1510754"/>
                </a:lnTo>
                <a:cubicBezTo>
                  <a:pt x="2377414" y="2085035"/>
                  <a:pt x="1869289" y="2517032"/>
                  <a:pt x="1260266" y="2517032"/>
                </a:cubicBezTo>
                <a:cubicBezTo>
                  <a:pt x="564240" y="2517032"/>
                  <a:pt x="0" y="1952792"/>
                  <a:pt x="0" y="1256765"/>
                </a:cubicBezTo>
                <a:lnTo>
                  <a:pt x="25468" y="1004126"/>
                </a:lnTo>
                <a:lnTo>
                  <a:pt x="264183" y="765410"/>
                </a:lnTo>
                <a:lnTo>
                  <a:pt x="233025" y="822815"/>
                </a:lnTo>
                <a:cubicBezTo>
                  <a:pt x="176611" y="956194"/>
                  <a:pt x="145415" y="1102836"/>
                  <a:pt x="145415" y="1256765"/>
                </a:cubicBezTo>
                <a:cubicBezTo>
                  <a:pt x="145415" y="1872481"/>
                  <a:pt x="644550" y="2371617"/>
                  <a:pt x="1260266" y="2371617"/>
                </a:cubicBezTo>
                <a:cubicBezTo>
                  <a:pt x="1875982" y="2371617"/>
                  <a:pt x="2375117" y="1872481"/>
                  <a:pt x="2375117" y="1256765"/>
                </a:cubicBezTo>
                <a:lnTo>
                  <a:pt x="2375939" y="1256765"/>
                </a:lnTo>
                <a:lnTo>
                  <a:pt x="2401191" y="1006280"/>
                </a:lnTo>
                <a:cubicBezTo>
                  <a:pt x="2518706" y="431997"/>
                  <a:pt x="3026830" y="0"/>
                  <a:pt x="3635852" y="1"/>
                </a:cubicBezTo>
                <a:cubicBezTo>
                  <a:pt x="4331879" y="1"/>
                  <a:pt x="4896119" y="564241"/>
                  <a:pt x="4896119" y="1260267"/>
                </a:cubicBezTo>
                <a:cubicBezTo>
                  <a:pt x="4896119" y="1956293"/>
                  <a:pt x="4331879" y="2520534"/>
                  <a:pt x="3635853" y="2520534"/>
                </a:cubicBezTo>
                <a:lnTo>
                  <a:pt x="3635853" y="2518506"/>
                </a:lnTo>
                <a:lnTo>
                  <a:pt x="3524393" y="2524133"/>
                </a:lnTo>
                <a:cubicBezTo>
                  <a:pt x="2962222" y="2581225"/>
                  <a:pt x="2523528" y="3055995"/>
                  <a:pt x="2523529" y="3633230"/>
                </a:cubicBezTo>
                <a:cubicBezTo>
                  <a:pt x="2523529" y="4248945"/>
                  <a:pt x="3022662" y="4748079"/>
                  <a:pt x="3638379" y="4748080"/>
                </a:cubicBezTo>
                <a:cubicBezTo>
                  <a:pt x="4254094" y="4748079"/>
                  <a:pt x="4753229" y="4248944"/>
                  <a:pt x="4753230" y="3633228"/>
                </a:cubicBezTo>
                <a:lnTo>
                  <a:pt x="4752429" y="3633229"/>
                </a:lnTo>
                <a:cubicBezTo>
                  <a:pt x="4752428" y="2937202"/>
                  <a:pt x="5316668" y="2372961"/>
                  <a:pt x="6012695" y="2372962"/>
                </a:cubicBezTo>
                <a:cubicBezTo>
                  <a:pt x="6708721" y="2372962"/>
                  <a:pt x="7272961" y="2937202"/>
                  <a:pt x="7272961" y="3633228"/>
                </a:cubicBezTo>
                <a:cubicBezTo>
                  <a:pt x="7272961" y="4285753"/>
                  <a:pt x="6777046" y="4822450"/>
                  <a:pt x="6141550" y="4886988"/>
                </a:cubicBezTo>
                <a:lnTo>
                  <a:pt x="6017711" y="4893242"/>
                </a:lnTo>
                <a:lnTo>
                  <a:pt x="6017710" y="4894710"/>
                </a:lnTo>
                <a:cubicBezTo>
                  <a:pt x="5401994" y="4894710"/>
                  <a:pt x="4902859" y="5393846"/>
                  <a:pt x="4902859" y="6009562"/>
                </a:cubicBezTo>
                <a:cubicBezTo>
                  <a:pt x="4902859" y="6625278"/>
                  <a:pt x="5401995" y="7124414"/>
                  <a:pt x="6017711" y="7124414"/>
                </a:cubicBezTo>
                <a:cubicBezTo>
                  <a:pt x="6633426" y="7124413"/>
                  <a:pt x="7132561" y="6625278"/>
                  <a:pt x="7132561" y="6009562"/>
                </a:cubicBezTo>
                <a:lnTo>
                  <a:pt x="7131760" y="6009562"/>
                </a:lnTo>
                <a:cubicBezTo>
                  <a:pt x="7131760" y="5313536"/>
                  <a:pt x="7696001" y="4749296"/>
                  <a:pt x="8392027" y="4749296"/>
                </a:cubicBezTo>
                <a:cubicBezTo>
                  <a:pt x="8740040" y="4749296"/>
                  <a:pt x="9055106" y="4890356"/>
                  <a:pt x="9283170" y="5118419"/>
                </a:cubicBezTo>
                <a:close/>
              </a:path>
            </a:pathLst>
          </a:custGeom>
          <a:solidFill>
            <a:srgbClr val="000000"/>
          </a:solidFill>
          <a:ln w="18256" cap="flat">
            <a:noFill/>
            <a:prstDash val="solid"/>
            <a:miter/>
          </a:ln>
          <a:effectLst>
            <a:innerShdw blurRad="469900">
              <a:srgbClr val="5A24FD"/>
            </a:inn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Graphic 11" descr="Single gear with solid fill">
            <a:extLst>
              <a:ext uri="{FF2B5EF4-FFF2-40B4-BE49-F238E27FC236}">
                <a16:creationId xmlns:a16="http://schemas.microsoft.com/office/drawing/2014/main" id="{5C83FC1F-F3AD-5E30-9468-2F4F2A65E0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63102" y="1775986"/>
            <a:ext cx="1755648" cy="1755648"/>
          </a:xfrm>
          <a:custGeom>
            <a:avLst/>
            <a:gdLst>
              <a:gd name="connsiteX0" fmla="*/ 621792 w 1245412"/>
              <a:gd name="connsiteY0" fmla="*/ 841248 h 1243584"/>
              <a:gd name="connsiteX1" fmla="*/ 402336 w 1245412"/>
              <a:gd name="connsiteY1" fmla="*/ 621792 h 1243584"/>
              <a:gd name="connsiteX2" fmla="*/ 621792 w 1245412"/>
              <a:gd name="connsiteY2" fmla="*/ 402336 h 1243584"/>
              <a:gd name="connsiteX3" fmla="*/ 841248 w 1245412"/>
              <a:gd name="connsiteY3" fmla="*/ 621792 h 1243584"/>
              <a:gd name="connsiteX4" fmla="*/ 621792 w 1245412"/>
              <a:gd name="connsiteY4" fmla="*/ 841248 h 1243584"/>
              <a:gd name="connsiteX5" fmla="*/ 1115568 w 1245412"/>
              <a:gd name="connsiteY5" fmla="*/ 484632 h 1243584"/>
              <a:gd name="connsiteX6" fmla="*/ 1068019 w 1245412"/>
              <a:gd name="connsiteY6" fmla="*/ 371246 h 1243584"/>
              <a:gd name="connsiteX7" fmla="*/ 1113739 w 1245412"/>
              <a:gd name="connsiteY7" fmla="*/ 234086 h 1243584"/>
              <a:gd name="connsiteX8" fmla="*/ 1009498 w 1245412"/>
              <a:gd name="connsiteY8" fmla="*/ 129845 h 1243584"/>
              <a:gd name="connsiteX9" fmla="*/ 872338 w 1245412"/>
              <a:gd name="connsiteY9" fmla="*/ 175565 h 1243584"/>
              <a:gd name="connsiteX10" fmla="*/ 757123 w 1245412"/>
              <a:gd name="connsiteY10" fmla="*/ 128016 h 1243584"/>
              <a:gd name="connsiteX11" fmla="*/ 694944 w 1245412"/>
              <a:gd name="connsiteY11" fmla="*/ 0 h 1243584"/>
              <a:gd name="connsiteX12" fmla="*/ 548640 w 1245412"/>
              <a:gd name="connsiteY12" fmla="*/ 0 h 1243584"/>
              <a:gd name="connsiteX13" fmla="*/ 484632 w 1245412"/>
              <a:gd name="connsiteY13" fmla="*/ 128016 h 1243584"/>
              <a:gd name="connsiteX14" fmla="*/ 371246 w 1245412"/>
              <a:gd name="connsiteY14" fmla="*/ 175565 h 1243584"/>
              <a:gd name="connsiteX15" fmla="*/ 234086 w 1245412"/>
              <a:gd name="connsiteY15" fmla="*/ 129845 h 1243584"/>
              <a:gd name="connsiteX16" fmla="*/ 129845 w 1245412"/>
              <a:gd name="connsiteY16" fmla="*/ 234086 h 1243584"/>
              <a:gd name="connsiteX17" fmla="*/ 175565 w 1245412"/>
              <a:gd name="connsiteY17" fmla="*/ 371246 h 1243584"/>
              <a:gd name="connsiteX18" fmla="*/ 128016 w 1245412"/>
              <a:gd name="connsiteY18" fmla="*/ 486461 h 1243584"/>
              <a:gd name="connsiteX19" fmla="*/ 0 w 1245412"/>
              <a:gd name="connsiteY19" fmla="*/ 548640 h 1243584"/>
              <a:gd name="connsiteX20" fmla="*/ 0 w 1245412"/>
              <a:gd name="connsiteY20" fmla="*/ 694944 h 1243584"/>
              <a:gd name="connsiteX21" fmla="*/ 128016 w 1245412"/>
              <a:gd name="connsiteY21" fmla="*/ 758952 h 1243584"/>
              <a:gd name="connsiteX22" fmla="*/ 175565 w 1245412"/>
              <a:gd name="connsiteY22" fmla="*/ 872338 h 1243584"/>
              <a:gd name="connsiteX23" fmla="*/ 129845 w 1245412"/>
              <a:gd name="connsiteY23" fmla="*/ 1009498 h 1243584"/>
              <a:gd name="connsiteX24" fmla="*/ 234086 w 1245412"/>
              <a:gd name="connsiteY24" fmla="*/ 1113739 h 1243584"/>
              <a:gd name="connsiteX25" fmla="*/ 371246 w 1245412"/>
              <a:gd name="connsiteY25" fmla="*/ 1068019 h 1243584"/>
              <a:gd name="connsiteX26" fmla="*/ 486461 w 1245412"/>
              <a:gd name="connsiteY26" fmla="*/ 1115568 h 1243584"/>
              <a:gd name="connsiteX27" fmla="*/ 550469 w 1245412"/>
              <a:gd name="connsiteY27" fmla="*/ 1243584 h 1243584"/>
              <a:gd name="connsiteX28" fmla="*/ 696773 w 1245412"/>
              <a:gd name="connsiteY28" fmla="*/ 1243584 h 1243584"/>
              <a:gd name="connsiteX29" fmla="*/ 760781 w 1245412"/>
              <a:gd name="connsiteY29" fmla="*/ 1115568 h 1243584"/>
              <a:gd name="connsiteX30" fmla="*/ 874166 w 1245412"/>
              <a:gd name="connsiteY30" fmla="*/ 1068019 h 1243584"/>
              <a:gd name="connsiteX31" fmla="*/ 1011326 w 1245412"/>
              <a:gd name="connsiteY31" fmla="*/ 1113739 h 1243584"/>
              <a:gd name="connsiteX32" fmla="*/ 1115568 w 1245412"/>
              <a:gd name="connsiteY32" fmla="*/ 1009498 h 1243584"/>
              <a:gd name="connsiteX33" fmla="*/ 1069848 w 1245412"/>
              <a:gd name="connsiteY33" fmla="*/ 872338 h 1243584"/>
              <a:gd name="connsiteX34" fmla="*/ 1117397 w 1245412"/>
              <a:gd name="connsiteY34" fmla="*/ 757123 h 1243584"/>
              <a:gd name="connsiteX35" fmla="*/ 1245413 w 1245412"/>
              <a:gd name="connsiteY35" fmla="*/ 693115 h 1243584"/>
              <a:gd name="connsiteX36" fmla="*/ 1245413 w 1245412"/>
              <a:gd name="connsiteY36" fmla="*/ 546811 h 1243584"/>
              <a:gd name="connsiteX37" fmla="*/ 1115568 w 1245412"/>
              <a:gd name="connsiteY37" fmla="*/ 484632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45412" h="1243584">
                <a:moveTo>
                  <a:pt x="621792" y="841248"/>
                </a:moveTo>
                <a:cubicBezTo>
                  <a:pt x="501091" y="841248"/>
                  <a:pt x="402336" y="742493"/>
                  <a:pt x="402336" y="621792"/>
                </a:cubicBezTo>
                <a:cubicBezTo>
                  <a:pt x="402336" y="501091"/>
                  <a:pt x="501091" y="402336"/>
                  <a:pt x="621792" y="402336"/>
                </a:cubicBezTo>
                <a:cubicBezTo>
                  <a:pt x="742493" y="402336"/>
                  <a:pt x="841248" y="501091"/>
                  <a:pt x="841248" y="621792"/>
                </a:cubicBezTo>
                <a:cubicBezTo>
                  <a:pt x="841248" y="742493"/>
                  <a:pt x="742493" y="841248"/>
                  <a:pt x="621792" y="841248"/>
                </a:cubicBezTo>
                <a:close/>
                <a:moveTo>
                  <a:pt x="1115568" y="484632"/>
                </a:moveTo>
                <a:cubicBezTo>
                  <a:pt x="1104595" y="444398"/>
                  <a:pt x="1088136" y="405994"/>
                  <a:pt x="1068019" y="371246"/>
                </a:cubicBezTo>
                <a:lnTo>
                  <a:pt x="1113739" y="234086"/>
                </a:lnTo>
                <a:lnTo>
                  <a:pt x="1009498" y="129845"/>
                </a:lnTo>
                <a:lnTo>
                  <a:pt x="872338" y="175565"/>
                </a:lnTo>
                <a:cubicBezTo>
                  <a:pt x="835762" y="155448"/>
                  <a:pt x="797357" y="138989"/>
                  <a:pt x="757123" y="128016"/>
                </a:cubicBezTo>
                <a:lnTo>
                  <a:pt x="694944" y="0"/>
                </a:lnTo>
                <a:lnTo>
                  <a:pt x="548640" y="0"/>
                </a:lnTo>
                <a:lnTo>
                  <a:pt x="484632" y="128016"/>
                </a:lnTo>
                <a:cubicBezTo>
                  <a:pt x="444398" y="138989"/>
                  <a:pt x="405994" y="155448"/>
                  <a:pt x="371246" y="175565"/>
                </a:cubicBezTo>
                <a:lnTo>
                  <a:pt x="234086" y="129845"/>
                </a:lnTo>
                <a:lnTo>
                  <a:pt x="129845" y="234086"/>
                </a:lnTo>
                <a:lnTo>
                  <a:pt x="175565" y="371246"/>
                </a:lnTo>
                <a:cubicBezTo>
                  <a:pt x="155448" y="407822"/>
                  <a:pt x="138989" y="446227"/>
                  <a:pt x="128016" y="486461"/>
                </a:cubicBezTo>
                <a:lnTo>
                  <a:pt x="0" y="548640"/>
                </a:lnTo>
                <a:lnTo>
                  <a:pt x="0" y="694944"/>
                </a:lnTo>
                <a:lnTo>
                  <a:pt x="128016" y="758952"/>
                </a:lnTo>
                <a:cubicBezTo>
                  <a:pt x="138989" y="799186"/>
                  <a:pt x="155448" y="837590"/>
                  <a:pt x="175565" y="872338"/>
                </a:cubicBezTo>
                <a:lnTo>
                  <a:pt x="129845" y="1009498"/>
                </a:lnTo>
                <a:lnTo>
                  <a:pt x="234086" y="1113739"/>
                </a:lnTo>
                <a:lnTo>
                  <a:pt x="371246" y="1068019"/>
                </a:lnTo>
                <a:cubicBezTo>
                  <a:pt x="407822" y="1088136"/>
                  <a:pt x="446227" y="1104595"/>
                  <a:pt x="486461" y="1115568"/>
                </a:cubicBezTo>
                <a:lnTo>
                  <a:pt x="550469" y="1243584"/>
                </a:lnTo>
                <a:lnTo>
                  <a:pt x="696773" y="1243584"/>
                </a:lnTo>
                <a:lnTo>
                  <a:pt x="760781" y="1115568"/>
                </a:lnTo>
                <a:cubicBezTo>
                  <a:pt x="801014" y="1104595"/>
                  <a:pt x="839419" y="1088136"/>
                  <a:pt x="874166" y="1068019"/>
                </a:cubicBezTo>
                <a:lnTo>
                  <a:pt x="1011326" y="1113739"/>
                </a:lnTo>
                <a:lnTo>
                  <a:pt x="1115568" y="1009498"/>
                </a:lnTo>
                <a:lnTo>
                  <a:pt x="1069848" y="872338"/>
                </a:lnTo>
                <a:cubicBezTo>
                  <a:pt x="1089965" y="835762"/>
                  <a:pt x="1106424" y="797357"/>
                  <a:pt x="1117397" y="757123"/>
                </a:cubicBezTo>
                <a:lnTo>
                  <a:pt x="1245413" y="693115"/>
                </a:lnTo>
                <a:lnTo>
                  <a:pt x="1245413" y="546811"/>
                </a:lnTo>
                <a:lnTo>
                  <a:pt x="1115568" y="484632"/>
                </a:lnTo>
                <a:close/>
              </a:path>
            </a:pathLst>
          </a:custGeom>
          <a:solidFill>
            <a:srgbClr val="000000"/>
          </a:solidFill>
          <a:ln w="18256" cap="flat">
            <a:noFill/>
            <a:prstDash val="solid"/>
            <a:miter/>
          </a:ln>
          <a:effectLst>
            <a:innerShdw blurRad="469900">
              <a:srgbClr val="5A24FD"/>
            </a:inn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Graphic 11" descr="Single gear with solid fill">
            <a:extLst>
              <a:ext uri="{FF2B5EF4-FFF2-40B4-BE49-F238E27FC236}">
                <a16:creationId xmlns:a16="http://schemas.microsoft.com/office/drawing/2014/main" id="{AD19744A-0F9D-A3A3-FFF2-E551088EA9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81093" y="3494263"/>
            <a:ext cx="1755648" cy="1755648"/>
          </a:xfrm>
          <a:custGeom>
            <a:avLst/>
            <a:gdLst>
              <a:gd name="connsiteX0" fmla="*/ 621792 w 1245412"/>
              <a:gd name="connsiteY0" fmla="*/ 841248 h 1243584"/>
              <a:gd name="connsiteX1" fmla="*/ 402336 w 1245412"/>
              <a:gd name="connsiteY1" fmla="*/ 621792 h 1243584"/>
              <a:gd name="connsiteX2" fmla="*/ 621792 w 1245412"/>
              <a:gd name="connsiteY2" fmla="*/ 402336 h 1243584"/>
              <a:gd name="connsiteX3" fmla="*/ 841248 w 1245412"/>
              <a:gd name="connsiteY3" fmla="*/ 621792 h 1243584"/>
              <a:gd name="connsiteX4" fmla="*/ 621792 w 1245412"/>
              <a:gd name="connsiteY4" fmla="*/ 841248 h 1243584"/>
              <a:gd name="connsiteX5" fmla="*/ 1115568 w 1245412"/>
              <a:gd name="connsiteY5" fmla="*/ 484632 h 1243584"/>
              <a:gd name="connsiteX6" fmla="*/ 1068019 w 1245412"/>
              <a:gd name="connsiteY6" fmla="*/ 371246 h 1243584"/>
              <a:gd name="connsiteX7" fmla="*/ 1113739 w 1245412"/>
              <a:gd name="connsiteY7" fmla="*/ 234086 h 1243584"/>
              <a:gd name="connsiteX8" fmla="*/ 1009498 w 1245412"/>
              <a:gd name="connsiteY8" fmla="*/ 129845 h 1243584"/>
              <a:gd name="connsiteX9" fmla="*/ 872338 w 1245412"/>
              <a:gd name="connsiteY9" fmla="*/ 175565 h 1243584"/>
              <a:gd name="connsiteX10" fmla="*/ 757123 w 1245412"/>
              <a:gd name="connsiteY10" fmla="*/ 128016 h 1243584"/>
              <a:gd name="connsiteX11" fmla="*/ 694944 w 1245412"/>
              <a:gd name="connsiteY11" fmla="*/ 0 h 1243584"/>
              <a:gd name="connsiteX12" fmla="*/ 548640 w 1245412"/>
              <a:gd name="connsiteY12" fmla="*/ 0 h 1243584"/>
              <a:gd name="connsiteX13" fmla="*/ 484632 w 1245412"/>
              <a:gd name="connsiteY13" fmla="*/ 128016 h 1243584"/>
              <a:gd name="connsiteX14" fmla="*/ 371246 w 1245412"/>
              <a:gd name="connsiteY14" fmla="*/ 175565 h 1243584"/>
              <a:gd name="connsiteX15" fmla="*/ 234086 w 1245412"/>
              <a:gd name="connsiteY15" fmla="*/ 129845 h 1243584"/>
              <a:gd name="connsiteX16" fmla="*/ 129845 w 1245412"/>
              <a:gd name="connsiteY16" fmla="*/ 234086 h 1243584"/>
              <a:gd name="connsiteX17" fmla="*/ 175565 w 1245412"/>
              <a:gd name="connsiteY17" fmla="*/ 371246 h 1243584"/>
              <a:gd name="connsiteX18" fmla="*/ 128016 w 1245412"/>
              <a:gd name="connsiteY18" fmla="*/ 486461 h 1243584"/>
              <a:gd name="connsiteX19" fmla="*/ 0 w 1245412"/>
              <a:gd name="connsiteY19" fmla="*/ 548640 h 1243584"/>
              <a:gd name="connsiteX20" fmla="*/ 0 w 1245412"/>
              <a:gd name="connsiteY20" fmla="*/ 694944 h 1243584"/>
              <a:gd name="connsiteX21" fmla="*/ 128016 w 1245412"/>
              <a:gd name="connsiteY21" fmla="*/ 758952 h 1243584"/>
              <a:gd name="connsiteX22" fmla="*/ 175565 w 1245412"/>
              <a:gd name="connsiteY22" fmla="*/ 872338 h 1243584"/>
              <a:gd name="connsiteX23" fmla="*/ 129845 w 1245412"/>
              <a:gd name="connsiteY23" fmla="*/ 1009498 h 1243584"/>
              <a:gd name="connsiteX24" fmla="*/ 234086 w 1245412"/>
              <a:gd name="connsiteY24" fmla="*/ 1113739 h 1243584"/>
              <a:gd name="connsiteX25" fmla="*/ 371246 w 1245412"/>
              <a:gd name="connsiteY25" fmla="*/ 1068019 h 1243584"/>
              <a:gd name="connsiteX26" fmla="*/ 486461 w 1245412"/>
              <a:gd name="connsiteY26" fmla="*/ 1115568 h 1243584"/>
              <a:gd name="connsiteX27" fmla="*/ 550469 w 1245412"/>
              <a:gd name="connsiteY27" fmla="*/ 1243584 h 1243584"/>
              <a:gd name="connsiteX28" fmla="*/ 696773 w 1245412"/>
              <a:gd name="connsiteY28" fmla="*/ 1243584 h 1243584"/>
              <a:gd name="connsiteX29" fmla="*/ 760781 w 1245412"/>
              <a:gd name="connsiteY29" fmla="*/ 1115568 h 1243584"/>
              <a:gd name="connsiteX30" fmla="*/ 874166 w 1245412"/>
              <a:gd name="connsiteY30" fmla="*/ 1068019 h 1243584"/>
              <a:gd name="connsiteX31" fmla="*/ 1011326 w 1245412"/>
              <a:gd name="connsiteY31" fmla="*/ 1113739 h 1243584"/>
              <a:gd name="connsiteX32" fmla="*/ 1115568 w 1245412"/>
              <a:gd name="connsiteY32" fmla="*/ 1009498 h 1243584"/>
              <a:gd name="connsiteX33" fmla="*/ 1069848 w 1245412"/>
              <a:gd name="connsiteY33" fmla="*/ 872338 h 1243584"/>
              <a:gd name="connsiteX34" fmla="*/ 1117397 w 1245412"/>
              <a:gd name="connsiteY34" fmla="*/ 757123 h 1243584"/>
              <a:gd name="connsiteX35" fmla="*/ 1245413 w 1245412"/>
              <a:gd name="connsiteY35" fmla="*/ 693115 h 1243584"/>
              <a:gd name="connsiteX36" fmla="*/ 1245413 w 1245412"/>
              <a:gd name="connsiteY36" fmla="*/ 546811 h 1243584"/>
              <a:gd name="connsiteX37" fmla="*/ 1115568 w 1245412"/>
              <a:gd name="connsiteY37" fmla="*/ 484632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45412" h="1243584">
                <a:moveTo>
                  <a:pt x="621792" y="841248"/>
                </a:moveTo>
                <a:cubicBezTo>
                  <a:pt x="501091" y="841248"/>
                  <a:pt x="402336" y="742493"/>
                  <a:pt x="402336" y="621792"/>
                </a:cubicBezTo>
                <a:cubicBezTo>
                  <a:pt x="402336" y="501091"/>
                  <a:pt x="501091" y="402336"/>
                  <a:pt x="621792" y="402336"/>
                </a:cubicBezTo>
                <a:cubicBezTo>
                  <a:pt x="742493" y="402336"/>
                  <a:pt x="841248" y="501091"/>
                  <a:pt x="841248" y="621792"/>
                </a:cubicBezTo>
                <a:cubicBezTo>
                  <a:pt x="841248" y="742493"/>
                  <a:pt x="742493" y="841248"/>
                  <a:pt x="621792" y="841248"/>
                </a:cubicBezTo>
                <a:close/>
                <a:moveTo>
                  <a:pt x="1115568" y="484632"/>
                </a:moveTo>
                <a:cubicBezTo>
                  <a:pt x="1104595" y="444398"/>
                  <a:pt x="1088136" y="405994"/>
                  <a:pt x="1068019" y="371246"/>
                </a:cubicBezTo>
                <a:lnTo>
                  <a:pt x="1113739" y="234086"/>
                </a:lnTo>
                <a:lnTo>
                  <a:pt x="1009498" y="129845"/>
                </a:lnTo>
                <a:lnTo>
                  <a:pt x="872338" y="175565"/>
                </a:lnTo>
                <a:cubicBezTo>
                  <a:pt x="835762" y="155448"/>
                  <a:pt x="797357" y="138989"/>
                  <a:pt x="757123" y="128016"/>
                </a:cubicBezTo>
                <a:lnTo>
                  <a:pt x="694944" y="0"/>
                </a:lnTo>
                <a:lnTo>
                  <a:pt x="548640" y="0"/>
                </a:lnTo>
                <a:lnTo>
                  <a:pt x="484632" y="128016"/>
                </a:lnTo>
                <a:cubicBezTo>
                  <a:pt x="444398" y="138989"/>
                  <a:pt x="405994" y="155448"/>
                  <a:pt x="371246" y="175565"/>
                </a:cubicBezTo>
                <a:lnTo>
                  <a:pt x="234086" y="129845"/>
                </a:lnTo>
                <a:lnTo>
                  <a:pt x="129845" y="234086"/>
                </a:lnTo>
                <a:lnTo>
                  <a:pt x="175565" y="371246"/>
                </a:lnTo>
                <a:cubicBezTo>
                  <a:pt x="155448" y="407822"/>
                  <a:pt x="138989" y="446227"/>
                  <a:pt x="128016" y="486461"/>
                </a:cubicBezTo>
                <a:lnTo>
                  <a:pt x="0" y="548640"/>
                </a:lnTo>
                <a:lnTo>
                  <a:pt x="0" y="694944"/>
                </a:lnTo>
                <a:lnTo>
                  <a:pt x="128016" y="758952"/>
                </a:lnTo>
                <a:cubicBezTo>
                  <a:pt x="138989" y="799186"/>
                  <a:pt x="155448" y="837590"/>
                  <a:pt x="175565" y="872338"/>
                </a:cubicBezTo>
                <a:lnTo>
                  <a:pt x="129845" y="1009498"/>
                </a:lnTo>
                <a:lnTo>
                  <a:pt x="234086" y="1113739"/>
                </a:lnTo>
                <a:lnTo>
                  <a:pt x="371246" y="1068019"/>
                </a:lnTo>
                <a:cubicBezTo>
                  <a:pt x="407822" y="1088136"/>
                  <a:pt x="446227" y="1104595"/>
                  <a:pt x="486461" y="1115568"/>
                </a:cubicBezTo>
                <a:lnTo>
                  <a:pt x="550469" y="1243584"/>
                </a:lnTo>
                <a:lnTo>
                  <a:pt x="696773" y="1243584"/>
                </a:lnTo>
                <a:lnTo>
                  <a:pt x="760781" y="1115568"/>
                </a:lnTo>
                <a:cubicBezTo>
                  <a:pt x="801014" y="1104595"/>
                  <a:pt x="839419" y="1088136"/>
                  <a:pt x="874166" y="1068019"/>
                </a:cubicBezTo>
                <a:lnTo>
                  <a:pt x="1011326" y="1113739"/>
                </a:lnTo>
                <a:lnTo>
                  <a:pt x="1115568" y="1009498"/>
                </a:lnTo>
                <a:lnTo>
                  <a:pt x="1069848" y="872338"/>
                </a:lnTo>
                <a:cubicBezTo>
                  <a:pt x="1089965" y="835762"/>
                  <a:pt x="1106424" y="797357"/>
                  <a:pt x="1117397" y="757123"/>
                </a:cubicBezTo>
                <a:lnTo>
                  <a:pt x="1245413" y="693115"/>
                </a:lnTo>
                <a:lnTo>
                  <a:pt x="1245413" y="546811"/>
                </a:lnTo>
                <a:lnTo>
                  <a:pt x="1115568" y="484632"/>
                </a:lnTo>
                <a:close/>
              </a:path>
            </a:pathLst>
          </a:custGeom>
          <a:solidFill>
            <a:srgbClr val="000000"/>
          </a:solidFill>
          <a:ln w="18256" cap="flat">
            <a:noFill/>
            <a:prstDash val="solid"/>
            <a:miter/>
          </a:ln>
          <a:effectLst>
            <a:innerShdw blurRad="469900">
              <a:srgbClr val="5A24FD"/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Graphic 11" descr="Single gear with solid fill">
            <a:extLst>
              <a:ext uri="{FF2B5EF4-FFF2-40B4-BE49-F238E27FC236}">
                <a16:creationId xmlns:a16="http://schemas.microsoft.com/office/drawing/2014/main" id="{4CE31270-3249-3899-C787-3270CD7C4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34334" y="1775986"/>
            <a:ext cx="1755648" cy="1755648"/>
          </a:xfrm>
          <a:custGeom>
            <a:avLst/>
            <a:gdLst>
              <a:gd name="connsiteX0" fmla="*/ 621792 w 1245412"/>
              <a:gd name="connsiteY0" fmla="*/ 841248 h 1243584"/>
              <a:gd name="connsiteX1" fmla="*/ 402336 w 1245412"/>
              <a:gd name="connsiteY1" fmla="*/ 621792 h 1243584"/>
              <a:gd name="connsiteX2" fmla="*/ 621792 w 1245412"/>
              <a:gd name="connsiteY2" fmla="*/ 402336 h 1243584"/>
              <a:gd name="connsiteX3" fmla="*/ 841248 w 1245412"/>
              <a:gd name="connsiteY3" fmla="*/ 621792 h 1243584"/>
              <a:gd name="connsiteX4" fmla="*/ 621792 w 1245412"/>
              <a:gd name="connsiteY4" fmla="*/ 841248 h 1243584"/>
              <a:gd name="connsiteX5" fmla="*/ 1115568 w 1245412"/>
              <a:gd name="connsiteY5" fmla="*/ 484632 h 1243584"/>
              <a:gd name="connsiteX6" fmla="*/ 1068019 w 1245412"/>
              <a:gd name="connsiteY6" fmla="*/ 371246 h 1243584"/>
              <a:gd name="connsiteX7" fmla="*/ 1113739 w 1245412"/>
              <a:gd name="connsiteY7" fmla="*/ 234086 h 1243584"/>
              <a:gd name="connsiteX8" fmla="*/ 1009498 w 1245412"/>
              <a:gd name="connsiteY8" fmla="*/ 129845 h 1243584"/>
              <a:gd name="connsiteX9" fmla="*/ 872338 w 1245412"/>
              <a:gd name="connsiteY9" fmla="*/ 175565 h 1243584"/>
              <a:gd name="connsiteX10" fmla="*/ 757123 w 1245412"/>
              <a:gd name="connsiteY10" fmla="*/ 128016 h 1243584"/>
              <a:gd name="connsiteX11" fmla="*/ 694944 w 1245412"/>
              <a:gd name="connsiteY11" fmla="*/ 0 h 1243584"/>
              <a:gd name="connsiteX12" fmla="*/ 548640 w 1245412"/>
              <a:gd name="connsiteY12" fmla="*/ 0 h 1243584"/>
              <a:gd name="connsiteX13" fmla="*/ 484632 w 1245412"/>
              <a:gd name="connsiteY13" fmla="*/ 128016 h 1243584"/>
              <a:gd name="connsiteX14" fmla="*/ 371246 w 1245412"/>
              <a:gd name="connsiteY14" fmla="*/ 175565 h 1243584"/>
              <a:gd name="connsiteX15" fmla="*/ 234086 w 1245412"/>
              <a:gd name="connsiteY15" fmla="*/ 129845 h 1243584"/>
              <a:gd name="connsiteX16" fmla="*/ 129845 w 1245412"/>
              <a:gd name="connsiteY16" fmla="*/ 234086 h 1243584"/>
              <a:gd name="connsiteX17" fmla="*/ 175565 w 1245412"/>
              <a:gd name="connsiteY17" fmla="*/ 371246 h 1243584"/>
              <a:gd name="connsiteX18" fmla="*/ 128016 w 1245412"/>
              <a:gd name="connsiteY18" fmla="*/ 486461 h 1243584"/>
              <a:gd name="connsiteX19" fmla="*/ 0 w 1245412"/>
              <a:gd name="connsiteY19" fmla="*/ 548640 h 1243584"/>
              <a:gd name="connsiteX20" fmla="*/ 0 w 1245412"/>
              <a:gd name="connsiteY20" fmla="*/ 694944 h 1243584"/>
              <a:gd name="connsiteX21" fmla="*/ 128016 w 1245412"/>
              <a:gd name="connsiteY21" fmla="*/ 758952 h 1243584"/>
              <a:gd name="connsiteX22" fmla="*/ 175565 w 1245412"/>
              <a:gd name="connsiteY22" fmla="*/ 872338 h 1243584"/>
              <a:gd name="connsiteX23" fmla="*/ 129845 w 1245412"/>
              <a:gd name="connsiteY23" fmla="*/ 1009498 h 1243584"/>
              <a:gd name="connsiteX24" fmla="*/ 234086 w 1245412"/>
              <a:gd name="connsiteY24" fmla="*/ 1113739 h 1243584"/>
              <a:gd name="connsiteX25" fmla="*/ 371246 w 1245412"/>
              <a:gd name="connsiteY25" fmla="*/ 1068019 h 1243584"/>
              <a:gd name="connsiteX26" fmla="*/ 486461 w 1245412"/>
              <a:gd name="connsiteY26" fmla="*/ 1115568 h 1243584"/>
              <a:gd name="connsiteX27" fmla="*/ 550469 w 1245412"/>
              <a:gd name="connsiteY27" fmla="*/ 1243584 h 1243584"/>
              <a:gd name="connsiteX28" fmla="*/ 696773 w 1245412"/>
              <a:gd name="connsiteY28" fmla="*/ 1243584 h 1243584"/>
              <a:gd name="connsiteX29" fmla="*/ 760781 w 1245412"/>
              <a:gd name="connsiteY29" fmla="*/ 1115568 h 1243584"/>
              <a:gd name="connsiteX30" fmla="*/ 874166 w 1245412"/>
              <a:gd name="connsiteY30" fmla="*/ 1068019 h 1243584"/>
              <a:gd name="connsiteX31" fmla="*/ 1011326 w 1245412"/>
              <a:gd name="connsiteY31" fmla="*/ 1113739 h 1243584"/>
              <a:gd name="connsiteX32" fmla="*/ 1115568 w 1245412"/>
              <a:gd name="connsiteY32" fmla="*/ 1009498 h 1243584"/>
              <a:gd name="connsiteX33" fmla="*/ 1069848 w 1245412"/>
              <a:gd name="connsiteY33" fmla="*/ 872338 h 1243584"/>
              <a:gd name="connsiteX34" fmla="*/ 1117397 w 1245412"/>
              <a:gd name="connsiteY34" fmla="*/ 757123 h 1243584"/>
              <a:gd name="connsiteX35" fmla="*/ 1245413 w 1245412"/>
              <a:gd name="connsiteY35" fmla="*/ 693115 h 1243584"/>
              <a:gd name="connsiteX36" fmla="*/ 1245413 w 1245412"/>
              <a:gd name="connsiteY36" fmla="*/ 546811 h 1243584"/>
              <a:gd name="connsiteX37" fmla="*/ 1115568 w 1245412"/>
              <a:gd name="connsiteY37" fmla="*/ 484632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45412" h="1243584">
                <a:moveTo>
                  <a:pt x="621792" y="841248"/>
                </a:moveTo>
                <a:cubicBezTo>
                  <a:pt x="501091" y="841248"/>
                  <a:pt x="402336" y="742493"/>
                  <a:pt x="402336" y="621792"/>
                </a:cubicBezTo>
                <a:cubicBezTo>
                  <a:pt x="402336" y="501091"/>
                  <a:pt x="501091" y="402336"/>
                  <a:pt x="621792" y="402336"/>
                </a:cubicBezTo>
                <a:cubicBezTo>
                  <a:pt x="742493" y="402336"/>
                  <a:pt x="841248" y="501091"/>
                  <a:pt x="841248" y="621792"/>
                </a:cubicBezTo>
                <a:cubicBezTo>
                  <a:pt x="841248" y="742493"/>
                  <a:pt x="742493" y="841248"/>
                  <a:pt x="621792" y="841248"/>
                </a:cubicBezTo>
                <a:close/>
                <a:moveTo>
                  <a:pt x="1115568" y="484632"/>
                </a:moveTo>
                <a:cubicBezTo>
                  <a:pt x="1104595" y="444398"/>
                  <a:pt x="1088136" y="405994"/>
                  <a:pt x="1068019" y="371246"/>
                </a:cubicBezTo>
                <a:lnTo>
                  <a:pt x="1113739" y="234086"/>
                </a:lnTo>
                <a:lnTo>
                  <a:pt x="1009498" y="129845"/>
                </a:lnTo>
                <a:lnTo>
                  <a:pt x="872338" y="175565"/>
                </a:lnTo>
                <a:cubicBezTo>
                  <a:pt x="835762" y="155448"/>
                  <a:pt x="797357" y="138989"/>
                  <a:pt x="757123" y="128016"/>
                </a:cubicBezTo>
                <a:lnTo>
                  <a:pt x="694944" y="0"/>
                </a:lnTo>
                <a:lnTo>
                  <a:pt x="548640" y="0"/>
                </a:lnTo>
                <a:lnTo>
                  <a:pt x="484632" y="128016"/>
                </a:lnTo>
                <a:cubicBezTo>
                  <a:pt x="444398" y="138989"/>
                  <a:pt x="405994" y="155448"/>
                  <a:pt x="371246" y="175565"/>
                </a:cubicBezTo>
                <a:lnTo>
                  <a:pt x="234086" y="129845"/>
                </a:lnTo>
                <a:lnTo>
                  <a:pt x="129845" y="234086"/>
                </a:lnTo>
                <a:lnTo>
                  <a:pt x="175565" y="371246"/>
                </a:lnTo>
                <a:cubicBezTo>
                  <a:pt x="155448" y="407822"/>
                  <a:pt x="138989" y="446227"/>
                  <a:pt x="128016" y="486461"/>
                </a:cubicBezTo>
                <a:lnTo>
                  <a:pt x="0" y="548640"/>
                </a:lnTo>
                <a:lnTo>
                  <a:pt x="0" y="694944"/>
                </a:lnTo>
                <a:lnTo>
                  <a:pt x="128016" y="758952"/>
                </a:lnTo>
                <a:cubicBezTo>
                  <a:pt x="138989" y="799186"/>
                  <a:pt x="155448" y="837590"/>
                  <a:pt x="175565" y="872338"/>
                </a:cubicBezTo>
                <a:lnTo>
                  <a:pt x="129845" y="1009498"/>
                </a:lnTo>
                <a:lnTo>
                  <a:pt x="234086" y="1113739"/>
                </a:lnTo>
                <a:lnTo>
                  <a:pt x="371246" y="1068019"/>
                </a:lnTo>
                <a:cubicBezTo>
                  <a:pt x="407822" y="1088136"/>
                  <a:pt x="446227" y="1104595"/>
                  <a:pt x="486461" y="1115568"/>
                </a:cubicBezTo>
                <a:lnTo>
                  <a:pt x="550469" y="1243584"/>
                </a:lnTo>
                <a:lnTo>
                  <a:pt x="696773" y="1243584"/>
                </a:lnTo>
                <a:lnTo>
                  <a:pt x="760781" y="1115568"/>
                </a:lnTo>
                <a:cubicBezTo>
                  <a:pt x="801014" y="1104595"/>
                  <a:pt x="839419" y="1088136"/>
                  <a:pt x="874166" y="1068019"/>
                </a:cubicBezTo>
                <a:lnTo>
                  <a:pt x="1011326" y="1113739"/>
                </a:lnTo>
                <a:lnTo>
                  <a:pt x="1115568" y="1009498"/>
                </a:lnTo>
                <a:lnTo>
                  <a:pt x="1069848" y="872338"/>
                </a:lnTo>
                <a:cubicBezTo>
                  <a:pt x="1089965" y="835762"/>
                  <a:pt x="1106424" y="797357"/>
                  <a:pt x="1117397" y="757123"/>
                </a:cubicBezTo>
                <a:lnTo>
                  <a:pt x="1245413" y="693115"/>
                </a:lnTo>
                <a:lnTo>
                  <a:pt x="1245413" y="546811"/>
                </a:lnTo>
                <a:lnTo>
                  <a:pt x="1115568" y="484632"/>
                </a:lnTo>
                <a:close/>
              </a:path>
            </a:pathLst>
          </a:custGeom>
          <a:solidFill>
            <a:srgbClr val="000000"/>
          </a:solidFill>
          <a:ln w="18256" cap="flat">
            <a:noFill/>
            <a:prstDash val="solid"/>
            <a:miter/>
          </a:ln>
          <a:effectLst>
            <a:innerShdw blurRad="469900">
              <a:srgbClr val="5A24FD"/>
            </a:inn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Graphic 11" descr="Single gear with solid fill">
            <a:extLst>
              <a:ext uri="{FF2B5EF4-FFF2-40B4-BE49-F238E27FC236}">
                <a16:creationId xmlns:a16="http://schemas.microsoft.com/office/drawing/2014/main" id="{3FDED671-FBA8-AB13-3A80-C6C7EAA3CE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05566" y="1775986"/>
            <a:ext cx="1755648" cy="1755648"/>
          </a:xfrm>
          <a:custGeom>
            <a:avLst/>
            <a:gdLst>
              <a:gd name="connsiteX0" fmla="*/ 621792 w 1245412"/>
              <a:gd name="connsiteY0" fmla="*/ 841248 h 1243584"/>
              <a:gd name="connsiteX1" fmla="*/ 402336 w 1245412"/>
              <a:gd name="connsiteY1" fmla="*/ 621792 h 1243584"/>
              <a:gd name="connsiteX2" fmla="*/ 621792 w 1245412"/>
              <a:gd name="connsiteY2" fmla="*/ 402336 h 1243584"/>
              <a:gd name="connsiteX3" fmla="*/ 841248 w 1245412"/>
              <a:gd name="connsiteY3" fmla="*/ 621792 h 1243584"/>
              <a:gd name="connsiteX4" fmla="*/ 621792 w 1245412"/>
              <a:gd name="connsiteY4" fmla="*/ 841248 h 1243584"/>
              <a:gd name="connsiteX5" fmla="*/ 1115568 w 1245412"/>
              <a:gd name="connsiteY5" fmla="*/ 484632 h 1243584"/>
              <a:gd name="connsiteX6" fmla="*/ 1068019 w 1245412"/>
              <a:gd name="connsiteY6" fmla="*/ 371246 h 1243584"/>
              <a:gd name="connsiteX7" fmla="*/ 1113739 w 1245412"/>
              <a:gd name="connsiteY7" fmla="*/ 234086 h 1243584"/>
              <a:gd name="connsiteX8" fmla="*/ 1009498 w 1245412"/>
              <a:gd name="connsiteY8" fmla="*/ 129845 h 1243584"/>
              <a:gd name="connsiteX9" fmla="*/ 872338 w 1245412"/>
              <a:gd name="connsiteY9" fmla="*/ 175565 h 1243584"/>
              <a:gd name="connsiteX10" fmla="*/ 757123 w 1245412"/>
              <a:gd name="connsiteY10" fmla="*/ 128016 h 1243584"/>
              <a:gd name="connsiteX11" fmla="*/ 694944 w 1245412"/>
              <a:gd name="connsiteY11" fmla="*/ 0 h 1243584"/>
              <a:gd name="connsiteX12" fmla="*/ 548640 w 1245412"/>
              <a:gd name="connsiteY12" fmla="*/ 0 h 1243584"/>
              <a:gd name="connsiteX13" fmla="*/ 484632 w 1245412"/>
              <a:gd name="connsiteY13" fmla="*/ 128016 h 1243584"/>
              <a:gd name="connsiteX14" fmla="*/ 371246 w 1245412"/>
              <a:gd name="connsiteY14" fmla="*/ 175565 h 1243584"/>
              <a:gd name="connsiteX15" fmla="*/ 234086 w 1245412"/>
              <a:gd name="connsiteY15" fmla="*/ 129845 h 1243584"/>
              <a:gd name="connsiteX16" fmla="*/ 129845 w 1245412"/>
              <a:gd name="connsiteY16" fmla="*/ 234086 h 1243584"/>
              <a:gd name="connsiteX17" fmla="*/ 175565 w 1245412"/>
              <a:gd name="connsiteY17" fmla="*/ 371246 h 1243584"/>
              <a:gd name="connsiteX18" fmla="*/ 128016 w 1245412"/>
              <a:gd name="connsiteY18" fmla="*/ 486461 h 1243584"/>
              <a:gd name="connsiteX19" fmla="*/ 0 w 1245412"/>
              <a:gd name="connsiteY19" fmla="*/ 548640 h 1243584"/>
              <a:gd name="connsiteX20" fmla="*/ 0 w 1245412"/>
              <a:gd name="connsiteY20" fmla="*/ 694944 h 1243584"/>
              <a:gd name="connsiteX21" fmla="*/ 128016 w 1245412"/>
              <a:gd name="connsiteY21" fmla="*/ 758952 h 1243584"/>
              <a:gd name="connsiteX22" fmla="*/ 175565 w 1245412"/>
              <a:gd name="connsiteY22" fmla="*/ 872338 h 1243584"/>
              <a:gd name="connsiteX23" fmla="*/ 129845 w 1245412"/>
              <a:gd name="connsiteY23" fmla="*/ 1009498 h 1243584"/>
              <a:gd name="connsiteX24" fmla="*/ 234086 w 1245412"/>
              <a:gd name="connsiteY24" fmla="*/ 1113739 h 1243584"/>
              <a:gd name="connsiteX25" fmla="*/ 371246 w 1245412"/>
              <a:gd name="connsiteY25" fmla="*/ 1068019 h 1243584"/>
              <a:gd name="connsiteX26" fmla="*/ 486461 w 1245412"/>
              <a:gd name="connsiteY26" fmla="*/ 1115568 h 1243584"/>
              <a:gd name="connsiteX27" fmla="*/ 550469 w 1245412"/>
              <a:gd name="connsiteY27" fmla="*/ 1243584 h 1243584"/>
              <a:gd name="connsiteX28" fmla="*/ 696773 w 1245412"/>
              <a:gd name="connsiteY28" fmla="*/ 1243584 h 1243584"/>
              <a:gd name="connsiteX29" fmla="*/ 760781 w 1245412"/>
              <a:gd name="connsiteY29" fmla="*/ 1115568 h 1243584"/>
              <a:gd name="connsiteX30" fmla="*/ 874166 w 1245412"/>
              <a:gd name="connsiteY30" fmla="*/ 1068019 h 1243584"/>
              <a:gd name="connsiteX31" fmla="*/ 1011326 w 1245412"/>
              <a:gd name="connsiteY31" fmla="*/ 1113739 h 1243584"/>
              <a:gd name="connsiteX32" fmla="*/ 1115568 w 1245412"/>
              <a:gd name="connsiteY32" fmla="*/ 1009498 h 1243584"/>
              <a:gd name="connsiteX33" fmla="*/ 1069848 w 1245412"/>
              <a:gd name="connsiteY33" fmla="*/ 872338 h 1243584"/>
              <a:gd name="connsiteX34" fmla="*/ 1117397 w 1245412"/>
              <a:gd name="connsiteY34" fmla="*/ 757123 h 1243584"/>
              <a:gd name="connsiteX35" fmla="*/ 1245413 w 1245412"/>
              <a:gd name="connsiteY35" fmla="*/ 693115 h 1243584"/>
              <a:gd name="connsiteX36" fmla="*/ 1245413 w 1245412"/>
              <a:gd name="connsiteY36" fmla="*/ 546811 h 1243584"/>
              <a:gd name="connsiteX37" fmla="*/ 1115568 w 1245412"/>
              <a:gd name="connsiteY37" fmla="*/ 484632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45412" h="1243584">
                <a:moveTo>
                  <a:pt x="621792" y="841248"/>
                </a:moveTo>
                <a:cubicBezTo>
                  <a:pt x="501091" y="841248"/>
                  <a:pt x="402336" y="742493"/>
                  <a:pt x="402336" y="621792"/>
                </a:cubicBezTo>
                <a:cubicBezTo>
                  <a:pt x="402336" y="501091"/>
                  <a:pt x="501091" y="402336"/>
                  <a:pt x="621792" y="402336"/>
                </a:cubicBezTo>
                <a:cubicBezTo>
                  <a:pt x="742493" y="402336"/>
                  <a:pt x="841248" y="501091"/>
                  <a:pt x="841248" y="621792"/>
                </a:cubicBezTo>
                <a:cubicBezTo>
                  <a:pt x="841248" y="742493"/>
                  <a:pt x="742493" y="841248"/>
                  <a:pt x="621792" y="841248"/>
                </a:cubicBezTo>
                <a:close/>
                <a:moveTo>
                  <a:pt x="1115568" y="484632"/>
                </a:moveTo>
                <a:cubicBezTo>
                  <a:pt x="1104595" y="444398"/>
                  <a:pt x="1088136" y="405994"/>
                  <a:pt x="1068019" y="371246"/>
                </a:cubicBezTo>
                <a:lnTo>
                  <a:pt x="1113739" y="234086"/>
                </a:lnTo>
                <a:lnTo>
                  <a:pt x="1009498" y="129845"/>
                </a:lnTo>
                <a:lnTo>
                  <a:pt x="872338" y="175565"/>
                </a:lnTo>
                <a:cubicBezTo>
                  <a:pt x="835762" y="155448"/>
                  <a:pt x="797357" y="138989"/>
                  <a:pt x="757123" y="128016"/>
                </a:cubicBezTo>
                <a:lnTo>
                  <a:pt x="694944" y="0"/>
                </a:lnTo>
                <a:lnTo>
                  <a:pt x="548640" y="0"/>
                </a:lnTo>
                <a:lnTo>
                  <a:pt x="484632" y="128016"/>
                </a:lnTo>
                <a:cubicBezTo>
                  <a:pt x="444398" y="138989"/>
                  <a:pt x="405994" y="155448"/>
                  <a:pt x="371246" y="175565"/>
                </a:cubicBezTo>
                <a:lnTo>
                  <a:pt x="234086" y="129845"/>
                </a:lnTo>
                <a:lnTo>
                  <a:pt x="129845" y="234086"/>
                </a:lnTo>
                <a:lnTo>
                  <a:pt x="175565" y="371246"/>
                </a:lnTo>
                <a:cubicBezTo>
                  <a:pt x="155448" y="407822"/>
                  <a:pt x="138989" y="446227"/>
                  <a:pt x="128016" y="486461"/>
                </a:cubicBezTo>
                <a:lnTo>
                  <a:pt x="0" y="548640"/>
                </a:lnTo>
                <a:lnTo>
                  <a:pt x="0" y="694944"/>
                </a:lnTo>
                <a:lnTo>
                  <a:pt x="128016" y="758952"/>
                </a:lnTo>
                <a:cubicBezTo>
                  <a:pt x="138989" y="799186"/>
                  <a:pt x="155448" y="837590"/>
                  <a:pt x="175565" y="872338"/>
                </a:cubicBezTo>
                <a:lnTo>
                  <a:pt x="129845" y="1009498"/>
                </a:lnTo>
                <a:lnTo>
                  <a:pt x="234086" y="1113739"/>
                </a:lnTo>
                <a:lnTo>
                  <a:pt x="371246" y="1068019"/>
                </a:lnTo>
                <a:cubicBezTo>
                  <a:pt x="407822" y="1088136"/>
                  <a:pt x="446227" y="1104595"/>
                  <a:pt x="486461" y="1115568"/>
                </a:cubicBezTo>
                <a:lnTo>
                  <a:pt x="550469" y="1243584"/>
                </a:lnTo>
                <a:lnTo>
                  <a:pt x="696773" y="1243584"/>
                </a:lnTo>
                <a:lnTo>
                  <a:pt x="760781" y="1115568"/>
                </a:lnTo>
                <a:cubicBezTo>
                  <a:pt x="801014" y="1104595"/>
                  <a:pt x="839419" y="1088136"/>
                  <a:pt x="874166" y="1068019"/>
                </a:cubicBezTo>
                <a:lnTo>
                  <a:pt x="1011326" y="1113739"/>
                </a:lnTo>
                <a:lnTo>
                  <a:pt x="1115568" y="1009498"/>
                </a:lnTo>
                <a:lnTo>
                  <a:pt x="1069848" y="872338"/>
                </a:lnTo>
                <a:cubicBezTo>
                  <a:pt x="1089965" y="835762"/>
                  <a:pt x="1106424" y="797357"/>
                  <a:pt x="1117397" y="757123"/>
                </a:cubicBezTo>
                <a:lnTo>
                  <a:pt x="1245413" y="693115"/>
                </a:lnTo>
                <a:lnTo>
                  <a:pt x="1245413" y="546811"/>
                </a:lnTo>
                <a:lnTo>
                  <a:pt x="1115568" y="484632"/>
                </a:lnTo>
                <a:close/>
              </a:path>
            </a:pathLst>
          </a:custGeom>
          <a:solidFill>
            <a:srgbClr val="000000"/>
          </a:solidFill>
          <a:ln w="18256" cap="flat">
            <a:noFill/>
            <a:prstDash val="solid"/>
            <a:miter/>
          </a:ln>
          <a:effectLst>
            <a:innerShdw blurRad="469900">
              <a:srgbClr val="5A24FD"/>
            </a:inn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Circle: Hollow 29">
            <a:extLst>
              <a:ext uri="{FF2B5EF4-FFF2-40B4-BE49-F238E27FC236}">
                <a16:creationId xmlns:a16="http://schemas.microsoft.com/office/drawing/2014/main" id="{639F3326-444D-92FE-2CC7-14A41634AB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19840" y="2190260"/>
            <a:ext cx="927100" cy="927100"/>
          </a:xfrm>
          <a:prstGeom prst="donut">
            <a:avLst>
              <a:gd name="adj" fmla="val 137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Circle: Hollow 30">
            <a:extLst>
              <a:ext uri="{FF2B5EF4-FFF2-40B4-BE49-F238E27FC236}">
                <a16:creationId xmlns:a16="http://schemas.microsoft.com/office/drawing/2014/main" id="{4CAFB3C7-F250-7A7C-A3E5-C701AE84ED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48608" y="2190260"/>
            <a:ext cx="927100" cy="927100"/>
          </a:xfrm>
          <a:prstGeom prst="donut">
            <a:avLst>
              <a:gd name="adj" fmla="val 137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Circle: Hollow 31">
            <a:extLst>
              <a:ext uri="{FF2B5EF4-FFF2-40B4-BE49-F238E27FC236}">
                <a16:creationId xmlns:a16="http://schemas.microsoft.com/office/drawing/2014/main" id="{1058B20A-DA5E-F925-B038-E45B78BC73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95367" y="3908537"/>
            <a:ext cx="927100" cy="927100"/>
          </a:xfrm>
          <a:prstGeom prst="donut">
            <a:avLst>
              <a:gd name="adj" fmla="val 137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Circle: Hollow 32">
            <a:extLst>
              <a:ext uri="{FF2B5EF4-FFF2-40B4-BE49-F238E27FC236}">
                <a16:creationId xmlns:a16="http://schemas.microsoft.com/office/drawing/2014/main" id="{C1A9CD13-1714-6452-7AEA-E2AAD528C9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77376" y="2190260"/>
            <a:ext cx="927100" cy="927100"/>
          </a:xfrm>
          <a:prstGeom prst="donut">
            <a:avLst>
              <a:gd name="adj" fmla="val 137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4" name="Graphic 33" descr="Lightbulb and gear with solid fill">
            <a:extLst>
              <a:ext uri="{FF2B5EF4-FFF2-40B4-BE49-F238E27FC236}">
                <a16:creationId xmlns:a16="http://schemas.microsoft.com/office/drawing/2014/main" id="{CB53982D-F893-4351-A1C8-CCB76B3567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2326" y="2425210"/>
            <a:ext cx="457200" cy="457200"/>
          </a:xfrm>
          <a:prstGeom prst="rect">
            <a:avLst/>
          </a:prstGeom>
        </p:spPr>
      </p:pic>
      <p:pic>
        <p:nvPicPr>
          <p:cNvPr id="35" name="Graphic 34" descr="Bar graph with upward trend with solid fill">
            <a:extLst>
              <a:ext uri="{FF2B5EF4-FFF2-40B4-BE49-F238E27FC236}">
                <a16:creationId xmlns:a16="http://schemas.microsoft.com/office/drawing/2014/main" id="{9F0D9EE3-7B31-C393-FFF7-8BDA0E1EA4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0317" y="4143487"/>
            <a:ext cx="457200" cy="457200"/>
          </a:xfrm>
          <a:prstGeom prst="rect">
            <a:avLst/>
          </a:prstGeom>
        </p:spPr>
      </p:pic>
      <p:pic>
        <p:nvPicPr>
          <p:cNvPr id="36" name="Graphic 35" descr="Single gear with solid fill">
            <a:extLst>
              <a:ext uri="{FF2B5EF4-FFF2-40B4-BE49-F238E27FC236}">
                <a16:creationId xmlns:a16="http://schemas.microsoft.com/office/drawing/2014/main" id="{96E9DCE1-88C2-721A-C458-38742DCB4A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3558" y="2425210"/>
            <a:ext cx="457200" cy="457200"/>
          </a:xfrm>
          <a:prstGeom prst="rect">
            <a:avLst/>
          </a:prstGeom>
        </p:spPr>
      </p:pic>
      <p:pic>
        <p:nvPicPr>
          <p:cNvPr id="37" name="Graphic 36" descr="Dollar with solid fill">
            <a:extLst>
              <a:ext uri="{FF2B5EF4-FFF2-40B4-BE49-F238E27FC236}">
                <a16:creationId xmlns:a16="http://schemas.microsoft.com/office/drawing/2014/main" id="{D34D1B97-FF85-3013-583F-99748B0BA4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54790" y="2425210"/>
            <a:ext cx="457200" cy="4572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A84CFA0-6692-F571-D4D9-2276A4BCB91C}"/>
              </a:ext>
            </a:extLst>
          </p:cNvPr>
          <p:cNvSpPr txBox="1">
            <a:spLocks/>
          </p:cNvSpPr>
          <p:nvPr/>
        </p:nvSpPr>
        <p:spPr>
          <a:xfrm>
            <a:off x="3281890" y="585994"/>
            <a:ext cx="22246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US" sz="1400" dirty="0">
                <a:solidFill>
                  <a:srgbClr val="5A24FD"/>
                </a:solidFill>
              </a:rPr>
              <a:t>SALARY ANALYSIS</a:t>
            </a:r>
          </a:p>
          <a:p>
            <a:pPr lvl="0" algn="ctr" defTabSz="914400">
              <a:defRPr/>
            </a:pPr>
            <a:endParaRPr lang="en-US" sz="1400" dirty="0">
              <a:solidFill>
                <a:srgbClr val="5A24FD"/>
              </a:solidFill>
            </a:endParaRPr>
          </a:p>
          <a:p>
            <a:pPr lvl="0" algn="ctr" defTabSz="914400"/>
            <a:r>
              <a:rPr lang="en-US" sz="1400" dirty="0">
                <a:solidFill>
                  <a:srgbClr val="5A24FD"/>
                </a:solidFill>
              </a:rPr>
              <a:t>Calculate the average salary offered by the company.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A57815-A816-D9F7-45C7-FF9E336CC8EB}"/>
              </a:ext>
            </a:extLst>
          </p:cNvPr>
          <p:cNvSpPr txBox="1">
            <a:spLocks/>
          </p:cNvSpPr>
          <p:nvPr/>
        </p:nvSpPr>
        <p:spPr>
          <a:xfrm>
            <a:off x="1642073" y="5400825"/>
            <a:ext cx="21977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US" sz="1400" dirty="0">
                <a:solidFill>
                  <a:srgbClr val="5A24FD"/>
                </a:solidFill>
              </a:rPr>
              <a:t>HIRING ANALYSIS</a:t>
            </a:r>
          </a:p>
          <a:p>
            <a:pPr lvl="0" algn="ctr" defTabSz="914400">
              <a:defRPr/>
            </a:pPr>
            <a:endParaRPr lang="en-US" sz="1400" dirty="0">
              <a:solidFill>
                <a:srgbClr val="5A24FD"/>
              </a:solidFill>
            </a:endParaRPr>
          </a:p>
          <a:p>
            <a:pPr lvl="0" algn="ctr" defTabSz="914400"/>
            <a:r>
              <a:rPr lang="en-US" sz="1400" dirty="0">
                <a:solidFill>
                  <a:srgbClr val="5A24FD"/>
                </a:solidFill>
              </a:rPr>
              <a:t>Determine the gender distribution of hires</a:t>
            </a:r>
            <a:r>
              <a:rPr lang="en-US" sz="1200" dirty="0">
                <a:solidFill>
                  <a:srgbClr val="5A24FD"/>
                </a:solidFill>
              </a:rPr>
              <a:t>. </a:t>
            </a:r>
            <a:endParaRPr lang="en-US" sz="1400" dirty="0">
              <a:solidFill>
                <a:srgbClr val="5A24FD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062A90-C039-91AF-B075-B5150CC9DE5D}"/>
              </a:ext>
            </a:extLst>
          </p:cNvPr>
          <p:cNvSpPr txBox="1">
            <a:spLocks/>
          </p:cNvSpPr>
          <p:nvPr/>
        </p:nvSpPr>
        <p:spPr>
          <a:xfrm>
            <a:off x="8229398" y="5336423"/>
            <a:ext cx="2507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US" dirty="0">
                <a:solidFill>
                  <a:srgbClr val="5A24FD"/>
                </a:solidFill>
              </a:rPr>
              <a:t> </a:t>
            </a:r>
            <a:r>
              <a:rPr lang="en-US" sz="1400" dirty="0">
                <a:solidFill>
                  <a:srgbClr val="5A24FD"/>
                </a:solidFill>
              </a:rPr>
              <a:t>POST ANALYSIS</a:t>
            </a:r>
          </a:p>
          <a:p>
            <a:pPr lvl="0" algn="ctr" defTabSz="914400">
              <a:defRPr/>
            </a:pPr>
            <a:endParaRPr lang="en-US" sz="1400" dirty="0">
              <a:solidFill>
                <a:srgbClr val="5A24FD"/>
              </a:solidFill>
            </a:endParaRPr>
          </a:p>
          <a:p>
            <a:pPr lvl="0" algn="ctr" defTabSz="914400"/>
            <a:r>
              <a:rPr lang="en-US" sz="1400" dirty="0">
                <a:solidFill>
                  <a:srgbClr val="5A24FD"/>
                </a:solidFill>
              </a:rPr>
              <a:t> Visualize the distribution of positions across tiers.</a:t>
            </a:r>
          </a:p>
        </p:txBody>
      </p:sp>
      <p:sp>
        <p:nvSpPr>
          <p:cNvPr id="43" name="Graphic 11" descr="Single gear with solid fill">
            <a:extLst>
              <a:ext uri="{FF2B5EF4-FFF2-40B4-BE49-F238E27FC236}">
                <a16:creationId xmlns:a16="http://schemas.microsoft.com/office/drawing/2014/main" id="{2E722A73-DD7D-EF4E-92EE-57ACFF247F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9950" y="3429000"/>
            <a:ext cx="1755648" cy="1755648"/>
          </a:xfrm>
          <a:custGeom>
            <a:avLst/>
            <a:gdLst>
              <a:gd name="connsiteX0" fmla="*/ 621792 w 1245412"/>
              <a:gd name="connsiteY0" fmla="*/ 841248 h 1243584"/>
              <a:gd name="connsiteX1" fmla="*/ 402336 w 1245412"/>
              <a:gd name="connsiteY1" fmla="*/ 621792 h 1243584"/>
              <a:gd name="connsiteX2" fmla="*/ 621792 w 1245412"/>
              <a:gd name="connsiteY2" fmla="*/ 402336 h 1243584"/>
              <a:gd name="connsiteX3" fmla="*/ 841248 w 1245412"/>
              <a:gd name="connsiteY3" fmla="*/ 621792 h 1243584"/>
              <a:gd name="connsiteX4" fmla="*/ 621792 w 1245412"/>
              <a:gd name="connsiteY4" fmla="*/ 841248 h 1243584"/>
              <a:gd name="connsiteX5" fmla="*/ 1115568 w 1245412"/>
              <a:gd name="connsiteY5" fmla="*/ 484632 h 1243584"/>
              <a:gd name="connsiteX6" fmla="*/ 1068019 w 1245412"/>
              <a:gd name="connsiteY6" fmla="*/ 371246 h 1243584"/>
              <a:gd name="connsiteX7" fmla="*/ 1113739 w 1245412"/>
              <a:gd name="connsiteY7" fmla="*/ 234086 h 1243584"/>
              <a:gd name="connsiteX8" fmla="*/ 1009498 w 1245412"/>
              <a:gd name="connsiteY8" fmla="*/ 129845 h 1243584"/>
              <a:gd name="connsiteX9" fmla="*/ 872338 w 1245412"/>
              <a:gd name="connsiteY9" fmla="*/ 175565 h 1243584"/>
              <a:gd name="connsiteX10" fmla="*/ 757123 w 1245412"/>
              <a:gd name="connsiteY10" fmla="*/ 128016 h 1243584"/>
              <a:gd name="connsiteX11" fmla="*/ 694944 w 1245412"/>
              <a:gd name="connsiteY11" fmla="*/ 0 h 1243584"/>
              <a:gd name="connsiteX12" fmla="*/ 548640 w 1245412"/>
              <a:gd name="connsiteY12" fmla="*/ 0 h 1243584"/>
              <a:gd name="connsiteX13" fmla="*/ 484632 w 1245412"/>
              <a:gd name="connsiteY13" fmla="*/ 128016 h 1243584"/>
              <a:gd name="connsiteX14" fmla="*/ 371246 w 1245412"/>
              <a:gd name="connsiteY14" fmla="*/ 175565 h 1243584"/>
              <a:gd name="connsiteX15" fmla="*/ 234086 w 1245412"/>
              <a:gd name="connsiteY15" fmla="*/ 129845 h 1243584"/>
              <a:gd name="connsiteX16" fmla="*/ 129845 w 1245412"/>
              <a:gd name="connsiteY16" fmla="*/ 234086 h 1243584"/>
              <a:gd name="connsiteX17" fmla="*/ 175565 w 1245412"/>
              <a:gd name="connsiteY17" fmla="*/ 371246 h 1243584"/>
              <a:gd name="connsiteX18" fmla="*/ 128016 w 1245412"/>
              <a:gd name="connsiteY18" fmla="*/ 486461 h 1243584"/>
              <a:gd name="connsiteX19" fmla="*/ 0 w 1245412"/>
              <a:gd name="connsiteY19" fmla="*/ 548640 h 1243584"/>
              <a:gd name="connsiteX20" fmla="*/ 0 w 1245412"/>
              <a:gd name="connsiteY20" fmla="*/ 694944 h 1243584"/>
              <a:gd name="connsiteX21" fmla="*/ 128016 w 1245412"/>
              <a:gd name="connsiteY21" fmla="*/ 758952 h 1243584"/>
              <a:gd name="connsiteX22" fmla="*/ 175565 w 1245412"/>
              <a:gd name="connsiteY22" fmla="*/ 872338 h 1243584"/>
              <a:gd name="connsiteX23" fmla="*/ 129845 w 1245412"/>
              <a:gd name="connsiteY23" fmla="*/ 1009498 h 1243584"/>
              <a:gd name="connsiteX24" fmla="*/ 234086 w 1245412"/>
              <a:gd name="connsiteY24" fmla="*/ 1113739 h 1243584"/>
              <a:gd name="connsiteX25" fmla="*/ 371246 w 1245412"/>
              <a:gd name="connsiteY25" fmla="*/ 1068019 h 1243584"/>
              <a:gd name="connsiteX26" fmla="*/ 486461 w 1245412"/>
              <a:gd name="connsiteY26" fmla="*/ 1115568 h 1243584"/>
              <a:gd name="connsiteX27" fmla="*/ 550469 w 1245412"/>
              <a:gd name="connsiteY27" fmla="*/ 1243584 h 1243584"/>
              <a:gd name="connsiteX28" fmla="*/ 696773 w 1245412"/>
              <a:gd name="connsiteY28" fmla="*/ 1243584 h 1243584"/>
              <a:gd name="connsiteX29" fmla="*/ 760781 w 1245412"/>
              <a:gd name="connsiteY29" fmla="*/ 1115568 h 1243584"/>
              <a:gd name="connsiteX30" fmla="*/ 874166 w 1245412"/>
              <a:gd name="connsiteY30" fmla="*/ 1068019 h 1243584"/>
              <a:gd name="connsiteX31" fmla="*/ 1011326 w 1245412"/>
              <a:gd name="connsiteY31" fmla="*/ 1113739 h 1243584"/>
              <a:gd name="connsiteX32" fmla="*/ 1115568 w 1245412"/>
              <a:gd name="connsiteY32" fmla="*/ 1009498 h 1243584"/>
              <a:gd name="connsiteX33" fmla="*/ 1069848 w 1245412"/>
              <a:gd name="connsiteY33" fmla="*/ 872338 h 1243584"/>
              <a:gd name="connsiteX34" fmla="*/ 1117397 w 1245412"/>
              <a:gd name="connsiteY34" fmla="*/ 757123 h 1243584"/>
              <a:gd name="connsiteX35" fmla="*/ 1245413 w 1245412"/>
              <a:gd name="connsiteY35" fmla="*/ 693115 h 1243584"/>
              <a:gd name="connsiteX36" fmla="*/ 1245413 w 1245412"/>
              <a:gd name="connsiteY36" fmla="*/ 546811 h 1243584"/>
              <a:gd name="connsiteX37" fmla="*/ 1115568 w 1245412"/>
              <a:gd name="connsiteY37" fmla="*/ 484632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45412" h="1243584">
                <a:moveTo>
                  <a:pt x="621792" y="841248"/>
                </a:moveTo>
                <a:cubicBezTo>
                  <a:pt x="501091" y="841248"/>
                  <a:pt x="402336" y="742493"/>
                  <a:pt x="402336" y="621792"/>
                </a:cubicBezTo>
                <a:cubicBezTo>
                  <a:pt x="402336" y="501091"/>
                  <a:pt x="501091" y="402336"/>
                  <a:pt x="621792" y="402336"/>
                </a:cubicBezTo>
                <a:cubicBezTo>
                  <a:pt x="742493" y="402336"/>
                  <a:pt x="841248" y="501091"/>
                  <a:pt x="841248" y="621792"/>
                </a:cubicBezTo>
                <a:cubicBezTo>
                  <a:pt x="841248" y="742493"/>
                  <a:pt x="742493" y="841248"/>
                  <a:pt x="621792" y="841248"/>
                </a:cubicBezTo>
                <a:close/>
                <a:moveTo>
                  <a:pt x="1115568" y="484632"/>
                </a:moveTo>
                <a:cubicBezTo>
                  <a:pt x="1104595" y="444398"/>
                  <a:pt x="1088136" y="405994"/>
                  <a:pt x="1068019" y="371246"/>
                </a:cubicBezTo>
                <a:lnTo>
                  <a:pt x="1113739" y="234086"/>
                </a:lnTo>
                <a:lnTo>
                  <a:pt x="1009498" y="129845"/>
                </a:lnTo>
                <a:lnTo>
                  <a:pt x="872338" y="175565"/>
                </a:lnTo>
                <a:cubicBezTo>
                  <a:pt x="835762" y="155448"/>
                  <a:pt x="797357" y="138989"/>
                  <a:pt x="757123" y="128016"/>
                </a:cubicBezTo>
                <a:lnTo>
                  <a:pt x="694944" y="0"/>
                </a:lnTo>
                <a:lnTo>
                  <a:pt x="548640" y="0"/>
                </a:lnTo>
                <a:lnTo>
                  <a:pt x="484632" y="128016"/>
                </a:lnTo>
                <a:cubicBezTo>
                  <a:pt x="444398" y="138989"/>
                  <a:pt x="405994" y="155448"/>
                  <a:pt x="371246" y="175565"/>
                </a:cubicBezTo>
                <a:lnTo>
                  <a:pt x="234086" y="129845"/>
                </a:lnTo>
                <a:lnTo>
                  <a:pt x="129845" y="234086"/>
                </a:lnTo>
                <a:lnTo>
                  <a:pt x="175565" y="371246"/>
                </a:lnTo>
                <a:cubicBezTo>
                  <a:pt x="155448" y="407822"/>
                  <a:pt x="138989" y="446227"/>
                  <a:pt x="128016" y="486461"/>
                </a:cubicBezTo>
                <a:lnTo>
                  <a:pt x="0" y="548640"/>
                </a:lnTo>
                <a:lnTo>
                  <a:pt x="0" y="694944"/>
                </a:lnTo>
                <a:lnTo>
                  <a:pt x="128016" y="758952"/>
                </a:lnTo>
                <a:cubicBezTo>
                  <a:pt x="138989" y="799186"/>
                  <a:pt x="155448" y="837590"/>
                  <a:pt x="175565" y="872338"/>
                </a:cubicBezTo>
                <a:lnTo>
                  <a:pt x="129845" y="1009498"/>
                </a:lnTo>
                <a:lnTo>
                  <a:pt x="234086" y="1113739"/>
                </a:lnTo>
                <a:lnTo>
                  <a:pt x="371246" y="1068019"/>
                </a:lnTo>
                <a:cubicBezTo>
                  <a:pt x="407822" y="1088136"/>
                  <a:pt x="446227" y="1104595"/>
                  <a:pt x="486461" y="1115568"/>
                </a:cubicBezTo>
                <a:lnTo>
                  <a:pt x="550469" y="1243584"/>
                </a:lnTo>
                <a:lnTo>
                  <a:pt x="696773" y="1243584"/>
                </a:lnTo>
                <a:lnTo>
                  <a:pt x="760781" y="1115568"/>
                </a:lnTo>
                <a:cubicBezTo>
                  <a:pt x="801014" y="1104595"/>
                  <a:pt x="839419" y="1088136"/>
                  <a:pt x="874166" y="1068019"/>
                </a:cubicBezTo>
                <a:lnTo>
                  <a:pt x="1011326" y="1113739"/>
                </a:lnTo>
                <a:lnTo>
                  <a:pt x="1115568" y="1009498"/>
                </a:lnTo>
                <a:lnTo>
                  <a:pt x="1069848" y="872338"/>
                </a:lnTo>
                <a:cubicBezTo>
                  <a:pt x="1089965" y="835762"/>
                  <a:pt x="1106424" y="797357"/>
                  <a:pt x="1117397" y="757123"/>
                </a:cubicBezTo>
                <a:lnTo>
                  <a:pt x="1245413" y="693115"/>
                </a:lnTo>
                <a:lnTo>
                  <a:pt x="1245413" y="546811"/>
                </a:lnTo>
                <a:lnTo>
                  <a:pt x="1115568" y="484632"/>
                </a:lnTo>
                <a:close/>
              </a:path>
            </a:pathLst>
          </a:custGeom>
          <a:solidFill>
            <a:srgbClr val="000000"/>
          </a:solidFill>
          <a:ln w="18256" cap="flat">
            <a:noFill/>
            <a:prstDash val="solid"/>
            <a:miter/>
          </a:ln>
          <a:effectLst>
            <a:innerShdw blurRad="469900">
              <a:srgbClr val="5A24FD"/>
            </a:inn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Circle: Hollow 43">
            <a:extLst>
              <a:ext uri="{FF2B5EF4-FFF2-40B4-BE49-F238E27FC236}">
                <a16:creationId xmlns:a16="http://schemas.microsoft.com/office/drawing/2014/main" id="{23FEC17F-020D-DD2A-5FFF-5721D4C087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34224" y="3843274"/>
            <a:ext cx="927100" cy="927100"/>
          </a:xfrm>
          <a:prstGeom prst="donut">
            <a:avLst>
              <a:gd name="adj" fmla="val 137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5" name="Graphic 44" descr="Bank with solid fill">
            <a:extLst>
              <a:ext uri="{FF2B5EF4-FFF2-40B4-BE49-F238E27FC236}">
                <a16:creationId xmlns:a16="http://schemas.microsoft.com/office/drawing/2014/main" id="{2C2CC03D-E27F-D613-7658-CFDBA93A63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569174" y="4078224"/>
            <a:ext cx="457200" cy="4572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9D9B7F9-8D61-2490-28FD-3DAB52A48180}"/>
              </a:ext>
            </a:extLst>
          </p:cNvPr>
          <p:cNvSpPr txBox="1">
            <a:spLocks/>
          </p:cNvSpPr>
          <p:nvPr/>
        </p:nvSpPr>
        <p:spPr>
          <a:xfrm>
            <a:off x="4852072" y="5447737"/>
            <a:ext cx="2507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US" sz="1400" dirty="0">
                <a:solidFill>
                  <a:srgbClr val="5A24FD"/>
                </a:solidFill>
              </a:rPr>
              <a:t>DISTRIBUTION ANALYSIS</a:t>
            </a:r>
          </a:p>
          <a:p>
            <a:pPr lvl="0" algn="ctr" defTabSz="914400">
              <a:defRPr/>
            </a:pPr>
            <a:endParaRPr lang="en-US" sz="1400" dirty="0">
              <a:solidFill>
                <a:srgbClr val="5A24FD"/>
              </a:solidFill>
            </a:endParaRPr>
          </a:p>
          <a:p>
            <a:pPr lvl="0" algn="ctr" defTabSz="914400"/>
            <a:r>
              <a:rPr lang="en-US" sz="1400" dirty="0">
                <a:solidFill>
                  <a:srgbClr val="5A24FD"/>
                </a:solidFill>
              </a:rPr>
              <a:t>Create class intervals for salaries.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D37356-F014-A3B8-69C4-360588F1AC60}"/>
              </a:ext>
            </a:extLst>
          </p:cNvPr>
          <p:cNvSpPr txBox="1">
            <a:spLocks/>
          </p:cNvSpPr>
          <p:nvPr/>
        </p:nvSpPr>
        <p:spPr>
          <a:xfrm>
            <a:off x="6685436" y="567415"/>
            <a:ext cx="22246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US" sz="1400" dirty="0">
                <a:solidFill>
                  <a:srgbClr val="5A24FD"/>
                </a:solidFill>
              </a:rPr>
              <a:t>DEPARTMENT ANALYSIS</a:t>
            </a:r>
          </a:p>
          <a:p>
            <a:pPr lvl="0" algn="ctr" defTabSz="914400">
              <a:defRPr/>
            </a:pPr>
            <a:endParaRPr lang="en-US" sz="1400" dirty="0">
              <a:solidFill>
                <a:srgbClr val="5A24FD"/>
              </a:solidFill>
            </a:endParaRPr>
          </a:p>
          <a:p>
            <a:pPr lvl="0" algn="ctr" defTabSz="914400"/>
            <a:r>
              <a:rPr lang="en-US" sz="1400" dirty="0">
                <a:solidFill>
                  <a:srgbClr val="5A24FD"/>
                </a:solidFill>
              </a:rPr>
              <a:t>Visualize the proportion of people in different departments. </a:t>
            </a:r>
          </a:p>
        </p:txBody>
      </p:sp>
    </p:spTree>
    <p:extLst>
      <p:ext uri="{BB962C8B-B14F-4D97-AF65-F5344CB8AC3E}">
        <p14:creationId xmlns:p14="http://schemas.microsoft.com/office/powerpoint/2010/main" val="178780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8" fill="hold" grpId="0" nodeType="with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63" dur="2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64" dur="2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8" fill="hold" grpId="0" nodeType="with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67" dur="2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68" dur="2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fill="hold" grpId="0" nodeType="with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71" dur="2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72" dur="2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2" fill="hold" grpId="0" nodeType="with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75" dur="2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76" dur="2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2" fill="hold" grpId="0" nodeType="with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79" dur="2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80" dur="2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2400000">
                                          <p:cBhvr>
                                            <p:cTn id="82" dur="4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83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32400000">
                                          <p:cBhvr>
                                            <p:cTn id="84" dur="4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85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32400000">
                                          <p:cBhvr>
                                            <p:cTn id="86" dur="4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87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2400000">
                                          <p:cBhvr>
                                            <p:cTn id="88" dur="4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89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2400000">
                                          <p:cBhvr>
                                            <p:cTn id="90" dur="4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1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92" presetID="1" presetClass="emph" presetSubtype="2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94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98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9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0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1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2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03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4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5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07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9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10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1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2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3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7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9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2F2F2"/>
                                          </p:to>
                                        </p:animClr>
                                        <p:set>
                                          <p:cBhvr>
                                            <p:cTn id="120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2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2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23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24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25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23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  <p:bldP spid="29" grpId="0" animBg="1"/>
          <p:bldP spid="29" grpId="1" animBg="1"/>
          <p:bldP spid="30" grpId="0" animBg="1"/>
          <p:bldP spid="31" grpId="0" animBg="1"/>
          <p:bldP spid="32" grpId="0" animBg="1"/>
          <p:bldP spid="33" grpId="0" animBg="1"/>
          <p:bldP spid="38" grpId="0"/>
          <p:bldP spid="38" grpId="1"/>
          <p:bldP spid="39" grpId="0"/>
          <p:bldP spid="39" grpId="1"/>
          <p:bldP spid="41" grpId="0"/>
          <p:bldP spid="41" grpId="1"/>
          <p:bldP spid="43" grpId="0" animBg="1"/>
          <p:bldP spid="43" grpId="1" animBg="1"/>
          <p:bldP spid="44" grpId="0" animBg="1"/>
          <p:bldP spid="46" grpId="0"/>
          <p:bldP spid="46" grpId="1"/>
          <p:bldP spid="47" grpId="0"/>
          <p:bldP spid="47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2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2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2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2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2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2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2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2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2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2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2400000">
                                          <p:cBhvr>
                                            <p:cTn id="82" dur="4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83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32400000">
                                          <p:cBhvr>
                                            <p:cTn id="84" dur="4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85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32400000">
                                          <p:cBhvr>
                                            <p:cTn id="86" dur="4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87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2400000">
                                          <p:cBhvr>
                                            <p:cTn id="88" dur="4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89" presetID="8" presetClass="emph" presetSubtype="0" accel="11111" decel="55556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32400000">
                                          <p:cBhvr>
                                            <p:cTn id="90" dur="4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1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92" presetID="1" presetClass="emph" presetSubtype="2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94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98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9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0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1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2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03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4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5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07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" presetID="1" presetClass="emph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9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10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1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2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3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7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9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2F2F2"/>
                                          </p:to>
                                        </p:animClr>
                                        <p:set>
                                          <p:cBhvr>
                                            <p:cTn id="120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2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2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23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24" presetID="3" presetClass="emph" presetSubtype="2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25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23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  <p:bldP spid="29" grpId="0" animBg="1"/>
          <p:bldP spid="29" grpId="1" animBg="1"/>
          <p:bldP spid="30" grpId="0" animBg="1"/>
          <p:bldP spid="31" grpId="0" animBg="1"/>
          <p:bldP spid="32" grpId="0" animBg="1"/>
          <p:bldP spid="33" grpId="0" animBg="1"/>
          <p:bldP spid="38" grpId="0"/>
          <p:bldP spid="38" grpId="1"/>
          <p:bldP spid="39" grpId="0"/>
          <p:bldP spid="39" grpId="1"/>
          <p:bldP spid="41" grpId="0"/>
          <p:bldP spid="41" grpId="1"/>
          <p:bldP spid="43" grpId="0" animBg="1"/>
          <p:bldP spid="43" grpId="1" animBg="1"/>
          <p:bldP spid="44" grpId="0" animBg="1"/>
          <p:bldP spid="46" grpId="0"/>
          <p:bldP spid="46" grpId="1"/>
          <p:bldP spid="47" grpId="0"/>
          <p:bldP spid="47" grpId="1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F2422-555A-8B04-4ED1-7FCC2CB3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8D1D-5480-3A37-D68B-A0CD7FA3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1"/>
            <a:ext cx="9601200" cy="90992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A9C2-F8D1-D0A7-8CC3-6B810BFB8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70991"/>
            <a:ext cx="4838369" cy="4905955"/>
          </a:xfrm>
        </p:spPr>
        <p:txBody>
          <a:bodyPr/>
          <a:lstStyle/>
          <a:p>
            <a:endParaRPr lang="en-US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530352" lvl="1" indent="0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gender distribution of hires.</a:t>
            </a:r>
          </a:p>
          <a:p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 Hired - 33 %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Males Hired - 54 %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Gender parity in hiring trends.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78BD60-EE06-68A8-6373-BE266810A940}"/>
              </a:ext>
            </a:extLst>
          </p:cNvPr>
          <p:cNvGrpSpPr/>
          <p:nvPr/>
        </p:nvGrpSpPr>
        <p:grpSpPr>
          <a:xfrm>
            <a:off x="4325338" y="2992591"/>
            <a:ext cx="7396592" cy="1299660"/>
            <a:chOff x="4293534" y="3223179"/>
            <a:chExt cx="7396592" cy="129966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7293C12-67B8-3A33-E5B5-1685CB518CF5}"/>
                </a:ext>
              </a:extLst>
            </p:cNvPr>
            <p:cNvSpPr/>
            <p:nvPr/>
          </p:nvSpPr>
          <p:spPr>
            <a:xfrm>
              <a:off x="4454440" y="3223179"/>
              <a:ext cx="7235686" cy="1299660"/>
            </a:xfrm>
            <a:prstGeom prst="roundRect">
              <a:avLst>
                <a:gd name="adj" fmla="val 8345"/>
              </a:avLst>
            </a:prstGeom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FF2CAF-DDE1-8867-DD6E-0E5197A06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93534" y="3223179"/>
              <a:ext cx="7301502" cy="1227408"/>
            </a:xfrm>
            <a:prstGeom prst="rect">
              <a:avLst/>
            </a:prstGeom>
            <a:ln>
              <a:solidFill>
                <a:schemeClr val="accent1">
                  <a:shade val="1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54648966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AC00-4E2A-18FF-F98B-3384D2C8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B801-F73B-70DE-AD3B-C2E8C242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1"/>
            <a:ext cx="9601200" cy="90992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9BDBA-E0AB-F0E4-4074-C0A17EE3B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70991"/>
            <a:ext cx="7430494" cy="4905955"/>
          </a:xfrm>
        </p:spPr>
        <p:txBody>
          <a:bodyPr/>
          <a:lstStyle/>
          <a:p>
            <a:endParaRPr lang="en-US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530352" lvl="1" indent="0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average salary offered by the company</a:t>
            </a:r>
          </a:p>
          <a:p>
            <a:pPr marL="530352" lvl="1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Used 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Salary :</a:t>
            </a:r>
          </a:p>
          <a:p>
            <a:pPr marL="530352" lvl="1" indent="0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AVERAGE(</a:t>
            </a:r>
            <a:r>
              <a:rPr lang="en-US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range_of_salaries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Average and distribution of salaries to assess equity.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352" lvl="1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81F6C0-1548-E4F1-C460-2F1D840F66F3}"/>
              </a:ext>
            </a:extLst>
          </p:cNvPr>
          <p:cNvGrpSpPr/>
          <p:nvPr/>
        </p:nvGrpSpPr>
        <p:grpSpPr>
          <a:xfrm>
            <a:off x="5504690" y="3429000"/>
            <a:ext cx="5315710" cy="996478"/>
            <a:chOff x="4581661" y="3342450"/>
            <a:chExt cx="5315710" cy="99647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44359D8-FF4F-8306-8B2F-812AE284C931}"/>
                </a:ext>
              </a:extLst>
            </p:cNvPr>
            <p:cNvSpPr/>
            <p:nvPr/>
          </p:nvSpPr>
          <p:spPr>
            <a:xfrm>
              <a:off x="4667416" y="3429000"/>
              <a:ext cx="5229955" cy="909928"/>
            </a:xfrm>
            <a:prstGeom prst="roundRect">
              <a:avLst>
                <a:gd name="adj" fmla="val 8345"/>
              </a:avLst>
            </a:prstGeom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DF81105-1FB2-4822-25EC-42621D8BD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81661" y="3342450"/>
              <a:ext cx="5229955" cy="9202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673389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4B0C6-C846-03C4-CD05-D0B36A59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8CCB-59AB-CD49-1B1B-3D2896A2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1"/>
            <a:ext cx="9601200" cy="909928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Distribution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385BF-1C39-525B-0789-2E6DC67F0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70991"/>
            <a:ext cx="10921117" cy="565337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30352" lvl="1" indent="0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class intervals for salaries.</a:t>
            </a:r>
          </a:p>
          <a:p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Range 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Salary - 800 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Salary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4,00,000 Rs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employees fall within ₹40,000 -₹80,000, with fewer in higher salary ranges, indicating potential clustering or role specialization.</a:t>
            </a:r>
            <a:endParaRPr lang="en-US" sz="19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7552" lvl="2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352" lvl="1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32A289-F8D4-6D76-2296-8EEF37410E91}"/>
              </a:ext>
            </a:extLst>
          </p:cNvPr>
          <p:cNvGrpSpPr/>
          <p:nvPr/>
        </p:nvGrpSpPr>
        <p:grpSpPr>
          <a:xfrm>
            <a:off x="4794636" y="2272959"/>
            <a:ext cx="6917635" cy="3181637"/>
            <a:chOff x="4882101" y="2328618"/>
            <a:chExt cx="6917635" cy="318163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312280A-9335-6977-B88B-925B2840C5AC}"/>
                </a:ext>
              </a:extLst>
            </p:cNvPr>
            <p:cNvSpPr/>
            <p:nvPr/>
          </p:nvSpPr>
          <p:spPr>
            <a:xfrm>
              <a:off x="4956996" y="2395991"/>
              <a:ext cx="6842740" cy="3114264"/>
            </a:xfrm>
            <a:prstGeom prst="roundRect">
              <a:avLst>
                <a:gd name="adj" fmla="val 6688"/>
              </a:avLst>
            </a:prstGeom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794FE0-669E-195C-10F9-CA2031399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2101" y="2328618"/>
              <a:ext cx="6774511" cy="3058391"/>
            </a:xfrm>
            <a:prstGeom prst="rect">
              <a:avLst/>
            </a:prstGeom>
            <a:ln>
              <a:solidFill>
                <a:schemeClr val="accent1">
                  <a:shade val="1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5295664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CF17-9756-115E-BDC5-F458820A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A74E96-2B89-8AC6-6BA6-C14F7E23F093}"/>
              </a:ext>
            </a:extLst>
          </p:cNvPr>
          <p:cNvSpPr/>
          <p:nvPr/>
        </p:nvSpPr>
        <p:spPr>
          <a:xfrm>
            <a:off x="6287546" y="3973988"/>
            <a:ext cx="5066123" cy="2776669"/>
          </a:xfrm>
          <a:prstGeom prst="roundRect">
            <a:avLst>
              <a:gd name="adj" fmla="val 12379"/>
            </a:avLst>
          </a:prstGeom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639D9-4FF5-2802-6328-53B646BC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1"/>
            <a:ext cx="9601200" cy="909928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F8EC6-40FA-9393-D7F6-A1E52D4E0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70991"/>
            <a:ext cx="4655489" cy="538700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30352" lvl="1" indent="0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proportion of people in different departments.</a:t>
            </a: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Pivot Table and Pie chart</a:t>
            </a:r>
          </a:p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Departmental composition for resource allocation.</a:t>
            </a:r>
          </a:p>
          <a:p>
            <a:pPr marL="987552" lvl="2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352" lvl="1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8218D4-EA6A-E9A1-A5FD-309CE37B9777}"/>
              </a:ext>
            </a:extLst>
          </p:cNvPr>
          <p:cNvSpPr/>
          <p:nvPr/>
        </p:nvSpPr>
        <p:spPr>
          <a:xfrm>
            <a:off x="6287547" y="1157579"/>
            <a:ext cx="5066123" cy="2652613"/>
          </a:xfrm>
          <a:prstGeom prst="roundRect">
            <a:avLst>
              <a:gd name="adj" fmla="val 12379"/>
            </a:avLst>
          </a:prstGeom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7AD65-3536-9D8B-A885-B2376E42A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913" y="1157579"/>
            <a:ext cx="5066123" cy="25221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FBF6F3-17E2-60C6-790D-16B6820B9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73988"/>
            <a:ext cx="5066123" cy="26363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6002874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5128F-3196-F2B3-C971-82AD0FDD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DAD826-2551-B568-EE48-ED08B789EE27}"/>
              </a:ext>
            </a:extLst>
          </p:cNvPr>
          <p:cNvSpPr/>
          <p:nvPr/>
        </p:nvSpPr>
        <p:spPr>
          <a:xfrm>
            <a:off x="6543313" y="3746387"/>
            <a:ext cx="4971437" cy="2781634"/>
          </a:xfrm>
          <a:prstGeom prst="roundRect">
            <a:avLst>
              <a:gd name="adj" fmla="val 12379"/>
            </a:avLst>
          </a:prstGeom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6EEB98-2E4F-7260-BEAE-41D58406B3F6}"/>
              </a:ext>
            </a:extLst>
          </p:cNvPr>
          <p:cNvSpPr/>
          <p:nvPr/>
        </p:nvSpPr>
        <p:spPr>
          <a:xfrm>
            <a:off x="6287547" y="1587129"/>
            <a:ext cx="5345211" cy="1841871"/>
          </a:xfrm>
          <a:prstGeom prst="roundRect">
            <a:avLst>
              <a:gd name="adj" fmla="val 12379"/>
            </a:avLst>
          </a:prstGeom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F587C-7699-1C5E-0237-ACD0337D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1"/>
            <a:ext cx="9601200" cy="90992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Tier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C2543-12BD-0AEC-701D-36FD20796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70991"/>
            <a:ext cx="4655489" cy="538700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30352" lvl="1" indent="0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distribution of positions across tiers.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Pivot Table and Bar chart</a:t>
            </a:r>
          </a:p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Position tier distribution to identify gaps or over-represented tiers.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352" lvl="1" indent="0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A4AAC-146C-65B3-B81A-52F05B725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87129"/>
            <a:ext cx="5402848" cy="17297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6DEB28-2040-C641-821C-8E9B76EF4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409" y="3746387"/>
            <a:ext cx="4961810" cy="265506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8383188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EE1E-4DFB-2A86-9AD0-782000E8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B23B2-9B98-8578-40BE-FAECF399D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Gender ratio shows  54 % males and 33 % females.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2: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Majority of Applications fall within 40,000 – 80,000.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3: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hires are in the Operations Department.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009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4FD9-6AD8-826C-1715-E824A937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699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EDF9E-E2C3-E3D0-4217-4A2936AD6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1579"/>
            <a:ext cx="9601200" cy="416582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Hiring Process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: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Data-driven insights provide actionable improvements for hiring efficiency.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: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recommendations and monitor changes in future hiring cycles.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62295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Crop design</Template>
  <TotalTime>390</TotalTime>
  <Words>376</Words>
  <Application>Microsoft Office PowerPoint</Application>
  <PresentationFormat>Widescreen</PresentationFormat>
  <Paragraphs>117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Franklin Gothic Book</vt:lpstr>
      <vt:lpstr>Times New Roman</vt:lpstr>
      <vt:lpstr>Wingdings</vt:lpstr>
      <vt:lpstr>Crop</vt:lpstr>
      <vt:lpstr>Office Theme</vt:lpstr>
      <vt:lpstr>Hiring process analytics</vt:lpstr>
      <vt:lpstr>PowerPoint Presentation</vt:lpstr>
      <vt:lpstr>PowerPoint Presentation</vt:lpstr>
      <vt:lpstr>Dataset Overview</vt:lpstr>
      <vt:lpstr>Tasks Overview</vt:lpstr>
      <vt:lpstr>PowerPoint Presentation</vt:lpstr>
      <vt:lpstr>Hiring Analysis</vt:lpstr>
      <vt:lpstr>Salary Analysis</vt:lpstr>
      <vt:lpstr>Salary Distribution Analysis</vt:lpstr>
      <vt:lpstr>Departmental Analysis</vt:lpstr>
      <vt:lpstr>Post Tier Analysis</vt:lpstr>
      <vt:lpstr>Key Insights</vt:lpstr>
      <vt:lpstr>Spreadsheet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Mohak Shah</dc:creator>
  <cp:lastModifiedBy>Mohak Shah</cp:lastModifiedBy>
  <cp:revision>9</cp:revision>
  <dcterms:created xsi:type="dcterms:W3CDTF">2025-01-02T08:47:01Z</dcterms:created>
  <dcterms:modified xsi:type="dcterms:W3CDTF">2025-01-03T16:56:23Z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