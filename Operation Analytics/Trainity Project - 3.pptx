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9"/>
  </p:notesMasterIdLst>
  <p:sldIdLst>
    <p:sldId id="266" r:id="rId5"/>
    <p:sldId id="285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29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D81C89-AC0D-4BFF-9223-D3157C1DDC5B}" type="datetimeFigureOut">
              <a:rPr lang="en-US" smtClean="0"/>
              <a:t>12/31/2024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33D7A2-C585-48BF-BF8C-C21FDC051F7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662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3A52079-6997-47B8-B262-4ED5D2EA2D74}" type="datetime1">
              <a:rPr lang="en-US" smtClean="0"/>
              <a:t>12/31/2024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41ED8-AC2E-4560-8CC9-E6292DDF25B6}" type="datetime1">
              <a:rPr lang="en-US" smtClean="0"/>
              <a:t>12/31/2024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5238998-10EA-455D-8FDC-3EBC7E198582}" type="datetime1">
              <a:rPr lang="en-US" smtClean="0"/>
              <a:t>12/31/2024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4E9B6-2EC2-45E6-A437-DCC674AAC4AF}" type="datetime1">
              <a:rPr lang="en-US" smtClean="0"/>
              <a:t>12/31/2024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D4FF3-940D-4DDE-86D8-82D5A8663636}" type="datetime1">
              <a:rPr lang="en-US" smtClean="0"/>
              <a:t>12/31/2024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55261-7117-41BB-BB79-8C1909625493}" type="datetime1">
              <a:rPr lang="en-US" smtClean="0"/>
              <a:t>12/31/2024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204D7-DE7F-414C-8571-0012DE9EFCDB}" type="datetime1">
              <a:rPr lang="en-US" smtClean="0"/>
              <a:t>12/31/2024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E378FF3-85EA-48E5-8D8C-1DB156807E49}" type="datetime1">
              <a:rPr lang="en-US" smtClean="0"/>
              <a:t>12/31/2024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F94F13-1676-4B68-A383-661B657F6E63}" type="datetime1">
              <a:rPr lang="en-US" smtClean="0"/>
              <a:t>12/31/2024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C80CA-06EA-4D97-A1EC-F2A229B592C4}" type="datetime1">
              <a:rPr lang="en-US" smtClean="0"/>
              <a:t>12/31/2024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60CC4-6CA2-4A99-B83B-711E420D000E}" type="datetime1">
              <a:rPr lang="en-US" smtClean="0"/>
              <a:t>12/31/2024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5CB83234-995D-4149-8E1E-BC120E9070D5}" type="datetime1">
              <a:rPr lang="en-US" smtClean="0"/>
              <a:t>12/31/2024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56C94072-1B34-48FB-9A9C-5A9A0FFC8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3" name="Picture 22" descr="extreme close up of line chart graphic">
            <a:extLst>
              <a:ext uri="{FF2B5EF4-FFF2-40B4-BE49-F238E27FC236}">
                <a16:creationId xmlns:a16="http://schemas.microsoft.com/office/drawing/2014/main" id="{B38A25AE-7B44-4EC1-BC0C-CF0FFF0367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000"/>
          <a:stretch/>
        </p:blipFill>
        <p:spPr>
          <a:xfrm>
            <a:off x="20" y="0"/>
            <a:ext cx="12191980" cy="6858000"/>
          </a:xfrm>
          <a:prstGeom prst="rect">
            <a:avLst/>
          </a:prstGeom>
        </p:spPr>
      </p:pic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A5019358-4900-4555-99FF-EF6AE90B8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5670146" y="3710250"/>
            <a:ext cx="2131466" cy="1830903"/>
          </a:xfrm>
          <a:custGeom>
            <a:avLst/>
            <a:gdLst>
              <a:gd name="connsiteX0" fmla="*/ 2308583 w 2308583"/>
              <a:gd name="connsiteY0" fmla="*/ 1983044 h 1983044"/>
              <a:gd name="connsiteX1" fmla="*/ 462 w 2308583"/>
              <a:gd name="connsiteY1" fmla="*/ 1983044 h 1983044"/>
              <a:gd name="connsiteX2" fmla="*/ 0 w 2308583"/>
              <a:gd name="connsiteY2" fmla="*/ 1711185 h 1983044"/>
              <a:gd name="connsiteX3" fmla="*/ 2022607 w 2308583"/>
              <a:gd name="connsiteY3" fmla="*/ 1712117 h 1983044"/>
              <a:gd name="connsiteX4" fmla="*/ 2022607 w 2308583"/>
              <a:gd name="connsiteY4" fmla="*/ 0 h 1983044"/>
              <a:gd name="connsiteX5" fmla="*/ 2308583 w 2308583"/>
              <a:gd name="connsiteY5" fmla="*/ 0 h 1983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8583" h="1983044">
                <a:moveTo>
                  <a:pt x="2308583" y="1983044"/>
                </a:moveTo>
                <a:lnTo>
                  <a:pt x="462" y="1983044"/>
                </a:lnTo>
                <a:cubicBezTo>
                  <a:pt x="-462" y="1889214"/>
                  <a:pt x="923" y="1805015"/>
                  <a:pt x="0" y="1711185"/>
                </a:cubicBezTo>
                <a:lnTo>
                  <a:pt x="2022607" y="1712117"/>
                </a:lnTo>
                <a:lnTo>
                  <a:pt x="2022607" y="0"/>
                </a:lnTo>
                <a:lnTo>
                  <a:pt x="2308583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D5941F3-0256-4E90-BBBC-5A6EDEB8E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38004" y="4166755"/>
            <a:ext cx="5607908" cy="2040066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47C47-EF1D-4B02-906B-219155AD8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8010" y="4333009"/>
            <a:ext cx="5268177" cy="1086237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solidFill>
                  <a:srgbClr val="FFFFFF"/>
                </a:solidFill>
              </a:rPr>
              <a:t>Operation Analytics and Investigating Metric Spike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A0527F-C5FD-4E9B-9F21-5D1FBA313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8010" y="5419246"/>
            <a:ext cx="5268177" cy="531866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800" dirty="0">
                <a:solidFill>
                  <a:srgbClr val="FFFFFF"/>
                </a:solidFill>
              </a:rPr>
              <a:t>Mohak Shah</a:t>
            </a:r>
          </a:p>
        </p:txBody>
      </p:sp>
    </p:spTree>
    <p:extLst>
      <p:ext uri="{BB962C8B-B14F-4D97-AF65-F5344CB8AC3E}">
        <p14:creationId xmlns:p14="http://schemas.microsoft.com/office/powerpoint/2010/main" val="745576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A6656-68AD-E216-AE49-489A200BD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9DBC1-1D52-FD44-590B-F5C48BAC5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367746"/>
            <a:ext cx="10499697" cy="1253431"/>
          </a:xfrm>
        </p:spPr>
        <p:txBody>
          <a:bodyPr/>
          <a:lstStyle/>
          <a:p>
            <a:r>
              <a:rPr lang="en-US" dirty="0">
                <a:latin typeface="Bookman Old Style" panose="02050604050505020204" pitchFamily="18" charset="0"/>
              </a:rPr>
              <a:t>Project Overview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437A4E8-6BE8-89D5-B0E0-65C3F14136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1621178"/>
            <a:ext cx="10499697" cy="415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IN" b="1" u="sng" dirty="0">
                <a:latin typeface="Bookman Old Style" panose="02050604050505020204" pitchFamily="18" charset="0"/>
              </a:rPr>
              <a:t>Purpose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US" sz="2000" i="0" dirty="0">
                <a:latin typeface="Bookman Old Style" panose="02050604050505020204" pitchFamily="18" charset="0"/>
              </a:rPr>
              <a:t>To investigate and resolve </a:t>
            </a:r>
            <a:r>
              <a:rPr lang="en-US" sz="2000" b="1" i="0" dirty="0">
                <a:latin typeface="Bookman Old Style" panose="02050604050505020204" pitchFamily="18" charset="0"/>
              </a:rPr>
              <a:t>operational inefficiencies</a:t>
            </a:r>
            <a:r>
              <a:rPr lang="en-US" sz="2000" i="0" dirty="0">
                <a:latin typeface="Bookman Old Style" panose="02050604050505020204" pitchFamily="18" charset="0"/>
              </a:rPr>
              <a:t> through data analysis</a:t>
            </a:r>
            <a:r>
              <a:rPr lang="en-IN" sz="2000" i="0" dirty="0">
                <a:latin typeface="Bookman Old Style" panose="02050604050505020204" pitchFamily="18" charset="0"/>
              </a:rPr>
              <a:t>.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US" sz="2000" i="0" dirty="0">
                <a:latin typeface="Bookman Old Style" panose="02050604050505020204" pitchFamily="18" charset="0"/>
              </a:rPr>
              <a:t>Provide actionable insights into </a:t>
            </a:r>
            <a:r>
              <a:rPr lang="en-US" sz="2000" b="1" i="0" dirty="0">
                <a:latin typeface="Bookman Old Style" panose="02050604050505020204" pitchFamily="18" charset="0"/>
              </a:rPr>
              <a:t>job performance</a:t>
            </a:r>
            <a:r>
              <a:rPr lang="en-US" sz="2000" i="0" dirty="0">
                <a:latin typeface="Bookman Old Style" panose="02050604050505020204" pitchFamily="18" charset="0"/>
              </a:rPr>
              <a:t> and user engagement.</a:t>
            </a:r>
            <a:endParaRPr lang="en-IN" sz="2000" i="0" dirty="0">
              <a:latin typeface="Bookman Old Style" panose="02050604050505020204" pitchFamily="18" charset="0"/>
            </a:endParaRPr>
          </a:p>
          <a:p>
            <a:pPr marL="1444752" lvl="3" indent="0">
              <a:buNone/>
            </a:pPr>
            <a:endParaRPr lang="en-US" sz="2000" dirty="0">
              <a:latin typeface="Bookman Old Style" panose="02050604050505020204" pitchFamily="18" charset="0"/>
            </a:endParaRPr>
          </a:p>
          <a:p>
            <a:r>
              <a:rPr lang="en-IN" b="1" u="sng" dirty="0">
                <a:latin typeface="Bookman Old Style" panose="02050604050505020204" pitchFamily="18" charset="0"/>
              </a:rPr>
              <a:t>Focus Areas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US" sz="2000" i="0" dirty="0">
                <a:latin typeface="Bookman Old Style" panose="02050604050505020204" pitchFamily="18" charset="0"/>
              </a:rPr>
              <a:t>Job Data Analysis</a:t>
            </a:r>
            <a:r>
              <a:rPr lang="en-US" i="0" dirty="0">
                <a:latin typeface="Bookman Old Style" panose="02050604050505020204" pitchFamily="18" charset="0"/>
              </a:rPr>
              <a:t>.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US" sz="2000" i="0" dirty="0">
                <a:latin typeface="Bookman Old Style" panose="02050604050505020204" pitchFamily="18" charset="0"/>
              </a:rPr>
              <a:t>Metric Spike Investigation</a:t>
            </a:r>
            <a:r>
              <a:rPr lang="en-US" sz="2000" dirty="0">
                <a:latin typeface="Bookman Old Style" panose="02050604050505020204" pitchFamily="18" charset="0"/>
              </a:rPr>
              <a:t>. </a:t>
            </a:r>
          </a:p>
          <a:p>
            <a:pPr lvl="3"/>
            <a:endParaRPr lang="en-US" dirty="0"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US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134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3A742-7F16-D739-93C5-F1122F227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4FD7C-EC59-5F0C-4ABF-B921E6BB8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367746"/>
            <a:ext cx="10499697" cy="1253431"/>
          </a:xfrm>
        </p:spPr>
        <p:txBody>
          <a:bodyPr/>
          <a:lstStyle/>
          <a:p>
            <a:r>
              <a:rPr lang="en-US" dirty="0">
                <a:latin typeface="Bookman Old Style" panose="02050604050505020204" pitchFamily="18" charset="0"/>
              </a:rPr>
              <a:t>Tech Stack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333F658-8FD5-380B-38DB-B1FB8E2C90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1621177"/>
            <a:ext cx="10499697" cy="4024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b="1" u="sng" dirty="0">
                <a:latin typeface="Bookman Old Style" panose="02050604050505020204" pitchFamily="18" charset="0"/>
              </a:rPr>
              <a:t>MySQL Workbench 8.0 CE 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IN" sz="2000" i="0" dirty="0">
                <a:latin typeface="Bookman Old Style" panose="02050604050505020204" pitchFamily="18" charset="0"/>
              </a:rPr>
              <a:t>For running SQL queries.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IN" sz="2000" i="0" dirty="0">
                <a:latin typeface="Bookman Old Style" panose="02050604050505020204" pitchFamily="18" charset="0"/>
              </a:rPr>
              <a:t>Easy-to-Use Interface for query execution.</a:t>
            </a:r>
          </a:p>
          <a:p>
            <a:pPr marL="1444752" lvl="3" indent="0">
              <a:buNone/>
            </a:pPr>
            <a:endParaRPr lang="en-US" sz="2000" dirty="0">
              <a:latin typeface="Bookman Old Style" panose="02050604050505020204" pitchFamily="18" charset="0"/>
            </a:endParaRPr>
          </a:p>
          <a:p>
            <a:r>
              <a:rPr lang="en-US" b="1" u="sng" dirty="0">
                <a:latin typeface="Bookman Old Style" panose="02050604050505020204" pitchFamily="18" charset="0"/>
              </a:rPr>
              <a:t>MySQL Shell 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US" sz="2000" i="0" dirty="0">
                <a:latin typeface="Bookman Old Style" panose="02050604050505020204" pitchFamily="18" charset="0"/>
              </a:rPr>
              <a:t>Efficient for database management and querying.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US" sz="2000" i="0" dirty="0">
                <a:latin typeface="Bookman Old Style" panose="02050604050505020204" pitchFamily="18" charset="0"/>
              </a:rPr>
              <a:t>Simple for capturing analysis</a:t>
            </a:r>
            <a:r>
              <a:rPr lang="en-US" sz="2000" dirty="0">
                <a:latin typeface="Bookman Old Style" panose="02050604050505020204" pitchFamily="18" charset="0"/>
              </a:rPr>
              <a:t>. </a:t>
            </a:r>
          </a:p>
          <a:p>
            <a:pPr lvl="3"/>
            <a:endParaRPr lang="en-US" dirty="0">
              <a:latin typeface="Bookman Old Style" panose="02050604050505020204" pitchFamily="18" charset="0"/>
            </a:endParaRPr>
          </a:p>
          <a:p>
            <a:r>
              <a:rPr lang="en-US" b="1" u="sng" dirty="0">
                <a:latin typeface="Bookman Old Style" panose="02050604050505020204" pitchFamily="18" charset="0"/>
              </a:rPr>
              <a:t>Microsoft PowerPoint 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IN" sz="2000" i="0" dirty="0">
                <a:latin typeface="Bookman Old Style" panose="02050604050505020204" pitchFamily="18" charset="0"/>
              </a:rPr>
              <a:t>For presenting report</a:t>
            </a:r>
            <a:r>
              <a:rPr lang="en-IN" sz="2000" dirty="0">
                <a:latin typeface="Bookman Old Style" panose="02050604050505020204" pitchFamily="18" charset="0"/>
              </a:rPr>
              <a:t>.</a:t>
            </a:r>
            <a:endParaRPr lang="en-US" sz="20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345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EAAA6-CB89-28A2-0E46-C6F4A9AE4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31E2C-86B9-8ED7-BF12-7325C0945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367746"/>
            <a:ext cx="10499697" cy="1253431"/>
          </a:xfrm>
        </p:spPr>
        <p:txBody>
          <a:bodyPr/>
          <a:lstStyle/>
          <a:p>
            <a:r>
              <a:rPr lang="en-US" dirty="0">
                <a:latin typeface="Bookman Old Style" panose="02050604050505020204" pitchFamily="18" charset="0"/>
              </a:rPr>
              <a:t>Case Study 1: Job Data Analysis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B99572B-9FFB-1F59-0327-8ED65E1D6B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1621177"/>
            <a:ext cx="10499697" cy="5236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b="1" u="sng" dirty="0">
                <a:latin typeface="Bookman Old Style" panose="02050604050505020204" pitchFamily="18" charset="0"/>
              </a:rPr>
              <a:t>Objective</a:t>
            </a:r>
            <a:r>
              <a:rPr lang="en-US" dirty="0">
                <a:latin typeface="Bookman Old Style" panose="02050604050505020204" pitchFamily="18" charset="0"/>
              </a:rPr>
              <a:t>: Analyze operational performance metrics related to job reviews.</a:t>
            </a:r>
          </a:p>
          <a:p>
            <a:pPr marL="0" indent="0">
              <a:buNone/>
            </a:pPr>
            <a:endParaRPr lang="en-US" dirty="0">
              <a:latin typeface="Bookman Old Style" panose="02050604050505020204" pitchFamily="18" charset="0"/>
            </a:endParaRPr>
          </a:p>
          <a:p>
            <a:r>
              <a:rPr lang="en-IN" sz="2000" b="1" i="0" u="sng" dirty="0">
                <a:latin typeface="Bookman Old Style" panose="02050604050505020204" pitchFamily="18" charset="0"/>
              </a:rPr>
              <a:t>Dataset</a:t>
            </a:r>
            <a:r>
              <a:rPr lang="en-IN" sz="2000" i="0" dirty="0">
                <a:latin typeface="Bookman Old Style" panose="02050604050505020204" pitchFamily="18" charset="0"/>
              </a:rPr>
              <a:t>: </a:t>
            </a:r>
            <a:r>
              <a:rPr lang="en-IN" dirty="0" err="1">
                <a:latin typeface="Bookman Old Style" panose="02050604050505020204" pitchFamily="18" charset="0"/>
              </a:rPr>
              <a:t>j</a:t>
            </a:r>
            <a:r>
              <a:rPr lang="en-IN" sz="2000" i="0" dirty="0" err="1">
                <a:latin typeface="Bookman Old Style" panose="02050604050505020204" pitchFamily="18" charset="0"/>
              </a:rPr>
              <a:t>ob_data</a:t>
            </a:r>
            <a:endParaRPr lang="en-IN" sz="2000" i="0" dirty="0">
              <a:latin typeface="Bookman Old Style" panose="02050604050505020204" pitchFamily="18" charset="0"/>
            </a:endParaRPr>
          </a:p>
          <a:p>
            <a:pPr lvl="2"/>
            <a:r>
              <a:rPr lang="en-IN" i="1" dirty="0">
                <a:latin typeface="Bookman Old Style" panose="02050604050505020204" pitchFamily="18" charset="0"/>
              </a:rPr>
              <a:t>Columns</a:t>
            </a:r>
            <a:r>
              <a:rPr lang="en-IN" dirty="0"/>
              <a:t>: </a:t>
            </a:r>
          </a:p>
          <a:p>
            <a:pPr lvl="3"/>
            <a:r>
              <a:rPr lang="en-IN" sz="2000" i="0" dirty="0" err="1">
                <a:latin typeface="Bookman Old Style" panose="02050604050505020204" pitchFamily="18" charset="0"/>
              </a:rPr>
              <a:t>job_id</a:t>
            </a:r>
            <a:endParaRPr lang="en-IN" sz="2000" i="0" dirty="0">
              <a:latin typeface="Bookman Old Style" panose="02050604050505020204" pitchFamily="18" charset="0"/>
            </a:endParaRPr>
          </a:p>
          <a:p>
            <a:pPr lvl="3"/>
            <a:r>
              <a:rPr lang="en-IN" sz="2000" i="0" dirty="0" err="1">
                <a:latin typeface="Bookman Old Style" panose="02050604050505020204" pitchFamily="18" charset="0"/>
              </a:rPr>
              <a:t>actor_id</a:t>
            </a:r>
            <a:endParaRPr lang="en-IN" sz="2000" i="0" dirty="0">
              <a:latin typeface="Bookman Old Style" panose="02050604050505020204" pitchFamily="18" charset="0"/>
            </a:endParaRPr>
          </a:p>
          <a:p>
            <a:pPr lvl="3"/>
            <a:r>
              <a:rPr lang="en-IN" sz="2000" i="0" dirty="0">
                <a:latin typeface="Bookman Old Style" panose="02050604050505020204" pitchFamily="18" charset="0"/>
              </a:rPr>
              <a:t>event</a:t>
            </a:r>
          </a:p>
          <a:p>
            <a:pPr lvl="3"/>
            <a:r>
              <a:rPr lang="en-IN" sz="2000" i="0" dirty="0">
                <a:latin typeface="Bookman Old Style" panose="02050604050505020204" pitchFamily="18" charset="0"/>
              </a:rPr>
              <a:t>language</a:t>
            </a:r>
          </a:p>
          <a:p>
            <a:pPr lvl="3"/>
            <a:r>
              <a:rPr lang="en-IN" sz="2000" i="0" dirty="0" err="1">
                <a:latin typeface="Bookman Old Style" panose="02050604050505020204" pitchFamily="18" charset="0"/>
              </a:rPr>
              <a:t>time_spent</a:t>
            </a:r>
            <a:endParaRPr lang="en-IN" sz="2000" i="0" dirty="0">
              <a:latin typeface="Bookman Old Style" panose="02050604050505020204" pitchFamily="18" charset="0"/>
            </a:endParaRPr>
          </a:p>
          <a:p>
            <a:pPr lvl="3"/>
            <a:r>
              <a:rPr lang="en-IN" sz="2000" i="0" dirty="0">
                <a:latin typeface="Bookman Old Style" panose="02050604050505020204" pitchFamily="18" charset="0"/>
              </a:rPr>
              <a:t>org</a:t>
            </a:r>
          </a:p>
          <a:p>
            <a:pPr lvl="3"/>
            <a:r>
              <a:rPr lang="en-IN" sz="2000" i="0" dirty="0">
                <a:latin typeface="Bookman Old Style" panose="02050604050505020204" pitchFamily="18" charset="0"/>
              </a:rPr>
              <a:t>ds</a:t>
            </a:r>
          </a:p>
          <a:p>
            <a:pPr marL="1444752" lvl="3" indent="0">
              <a:buNone/>
            </a:pPr>
            <a:endParaRPr lang="en-US" sz="2000" dirty="0"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US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7388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E02B3-6755-73C6-33D8-CF4AA9E43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1B44F4E-F244-405D-EEF8-E57674E2EADA}"/>
              </a:ext>
            </a:extLst>
          </p:cNvPr>
          <p:cNvSpPr/>
          <p:nvPr/>
        </p:nvSpPr>
        <p:spPr>
          <a:xfrm>
            <a:off x="4023360" y="2576223"/>
            <a:ext cx="5454595" cy="3586038"/>
          </a:xfrm>
          <a:prstGeom prst="rect">
            <a:avLst/>
          </a:prstGeom>
          <a:solidFill>
            <a:schemeClr val="tx1">
              <a:alpha val="44000"/>
            </a:schemeClr>
          </a:solidFill>
          <a:effectLst>
            <a:softEdge rad="50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79BB34-DE13-D7BA-A2C3-052DC5CE0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367746"/>
            <a:ext cx="10499697" cy="1253431"/>
          </a:xfrm>
        </p:spPr>
        <p:txBody>
          <a:bodyPr/>
          <a:lstStyle/>
          <a:p>
            <a:r>
              <a:rPr lang="en-US" dirty="0">
                <a:latin typeface="Bookman Old Style" panose="02050604050505020204" pitchFamily="18" charset="0"/>
              </a:rPr>
              <a:t>Jobs Reviewed Over Time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2B113A-7480-5CFC-E35F-A6006A1D0A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1621177"/>
            <a:ext cx="10499697" cy="5236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b="1" u="sng" dirty="0">
                <a:latin typeface="Bookman Old Style" panose="02050604050505020204" pitchFamily="18" charset="0"/>
              </a:rPr>
              <a:t>Objective</a:t>
            </a:r>
            <a:r>
              <a:rPr lang="en-US" dirty="0">
                <a:latin typeface="Bookman Old Style" panose="02050604050505020204" pitchFamily="18" charset="0"/>
              </a:rPr>
              <a:t>: Calculate the number of jobs reviewed per hour for each day in 			November 2020.</a:t>
            </a:r>
          </a:p>
          <a:p>
            <a:endParaRPr lang="en-US" sz="2000" b="1" i="0" u="sng" dirty="0">
              <a:latin typeface="Bookman Old Style" panose="02050604050505020204" pitchFamily="18" charset="0"/>
            </a:endParaRPr>
          </a:p>
          <a:p>
            <a:r>
              <a:rPr lang="en-IN" sz="2000" b="1" i="0" u="sng" dirty="0">
                <a:latin typeface="Bookman Old Style" panose="02050604050505020204" pitchFamily="18" charset="0"/>
              </a:rPr>
              <a:t>SQL Query</a:t>
            </a:r>
            <a:r>
              <a:rPr lang="en-IN" sz="2000" i="0" dirty="0">
                <a:latin typeface="Bookman Old Style" panose="02050604050505020204" pitchFamily="18" charset="0"/>
              </a:rPr>
              <a:t>: 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endParaRPr lang="en-IN" sz="2000" i="0" dirty="0">
              <a:latin typeface="Bookman Old Style" panose="02050604050505020204" pitchFamily="18" charset="0"/>
            </a:endParaRPr>
          </a:p>
          <a:p>
            <a:endParaRPr lang="en-IN" dirty="0">
              <a:latin typeface="Bookman Old Style" panose="02050604050505020204" pitchFamily="18" charset="0"/>
            </a:endParaRPr>
          </a:p>
          <a:p>
            <a:endParaRPr lang="en-IN" sz="2000" i="0" dirty="0">
              <a:latin typeface="Bookman Old Style" panose="02050604050505020204" pitchFamily="18" charset="0"/>
            </a:endParaRPr>
          </a:p>
          <a:p>
            <a:endParaRPr lang="en-IN" dirty="0">
              <a:latin typeface="Bookman Old Style" panose="02050604050505020204" pitchFamily="18" charset="0"/>
            </a:endParaRPr>
          </a:p>
          <a:p>
            <a:endParaRPr lang="en-IN" sz="2000" i="0" dirty="0">
              <a:latin typeface="Bookman Old Style" panose="02050604050505020204" pitchFamily="18" charset="0"/>
            </a:endParaRPr>
          </a:p>
          <a:p>
            <a:endParaRPr lang="en-IN" sz="2000" i="0" dirty="0">
              <a:latin typeface="Bookman Old Style" panose="02050604050505020204" pitchFamily="18" charset="0"/>
            </a:endParaRPr>
          </a:p>
          <a:p>
            <a:r>
              <a:rPr lang="en-US" b="1" u="sng" dirty="0">
                <a:latin typeface="Bookman Old Style" panose="02050604050505020204" pitchFamily="18" charset="0"/>
              </a:rPr>
              <a:t>Insight</a:t>
            </a:r>
            <a:r>
              <a:rPr lang="en-US" dirty="0"/>
              <a:t>: </a:t>
            </a:r>
            <a:r>
              <a:rPr lang="en-US" dirty="0">
                <a:latin typeface="Bookman Old Style" panose="02050604050505020204" pitchFamily="18" charset="0"/>
              </a:rPr>
              <a:t>Peak hours for job reviews indicate optimal resource allocation times</a:t>
            </a:r>
            <a:r>
              <a:rPr lang="en-US" dirty="0"/>
              <a:t>.</a:t>
            </a:r>
            <a:endParaRPr lang="en-US" sz="2000" dirty="0"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US" dirty="0">
              <a:latin typeface="Bookman Old Style" panose="0205060405050502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F5421D-83BE-37C3-7EA3-E7D20C54CE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4570" b="30879"/>
          <a:stretch/>
        </p:blipFill>
        <p:spPr>
          <a:xfrm>
            <a:off x="3891167" y="2461732"/>
            <a:ext cx="5460560" cy="355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865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30729-E7DA-51A8-B0B3-AA60C27E3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0CB3B04-5845-C747-A4A6-4C5CEEEB76FA}"/>
              </a:ext>
            </a:extLst>
          </p:cNvPr>
          <p:cNvSpPr/>
          <p:nvPr/>
        </p:nvSpPr>
        <p:spPr>
          <a:xfrm>
            <a:off x="4023360" y="2576223"/>
            <a:ext cx="5454595" cy="3586038"/>
          </a:xfrm>
          <a:prstGeom prst="rect">
            <a:avLst/>
          </a:prstGeom>
          <a:solidFill>
            <a:schemeClr val="tx1">
              <a:alpha val="44000"/>
            </a:schemeClr>
          </a:solidFill>
          <a:effectLst>
            <a:softEdge rad="50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1852B4-4E48-A5E3-9391-2078E53A2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367746"/>
            <a:ext cx="10499697" cy="1253431"/>
          </a:xfrm>
        </p:spPr>
        <p:txBody>
          <a:bodyPr/>
          <a:lstStyle/>
          <a:p>
            <a:r>
              <a:rPr lang="en-US" dirty="0">
                <a:latin typeface="Bookman Old Style" panose="02050604050505020204" pitchFamily="18" charset="0"/>
              </a:rPr>
              <a:t>Throughput Analysis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9648265-D4F8-8948-ED07-E9032F4187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1621178"/>
            <a:ext cx="10499697" cy="5129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b="1" u="sng" dirty="0">
                <a:latin typeface="Bookman Old Style" panose="02050604050505020204" pitchFamily="18" charset="0"/>
              </a:rPr>
              <a:t>Objective</a:t>
            </a:r>
            <a:r>
              <a:rPr lang="en-US" dirty="0">
                <a:latin typeface="Bookman Old Style" panose="02050604050505020204" pitchFamily="18" charset="0"/>
              </a:rPr>
              <a:t>: Calculate the 7-day rolling average of throughput.</a:t>
            </a:r>
          </a:p>
          <a:p>
            <a:pPr marL="0" indent="0">
              <a:buNone/>
            </a:pPr>
            <a:endParaRPr lang="en-IN" sz="2000" b="1" i="0" u="sng" dirty="0">
              <a:latin typeface="Bookman Old Style" panose="02050604050505020204" pitchFamily="18" charset="0"/>
            </a:endParaRPr>
          </a:p>
          <a:p>
            <a:r>
              <a:rPr lang="en-IN" sz="2000" b="1" i="0" u="sng" dirty="0">
                <a:latin typeface="Bookman Old Style" panose="02050604050505020204" pitchFamily="18" charset="0"/>
              </a:rPr>
              <a:t>SQL Query</a:t>
            </a:r>
            <a:r>
              <a:rPr lang="en-IN" sz="2000" i="0" dirty="0">
                <a:latin typeface="Bookman Old Style" panose="02050604050505020204" pitchFamily="18" charset="0"/>
              </a:rPr>
              <a:t>: 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endParaRPr lang="en-IN" sz="2000" i="0" dirty="0">
              <a:latin typeface="Bookman Old Style" panose="02050604050505020204" pitchFamily="18" charset="0"/>
            </a:endParaRPr>
          </a:p>
          <a:p>
            <a:endParaRPr lang="en-IN" dirty="0"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IN" dirty="0">
              <a:latin typeface="Bookman Old Style" panose="02050604050505020204" pitchFamily="18" charset="0"/>
            </a:endParaRPr>
          </a:p>
          <a:p>
            <a:endParaRPr lang="en-IN" sz="2000" i="0" dirty="0">
              <a:latin typeface="Bookman Old Style" panose="02050604050505020204" pitchFamily="18" charset="0"/>
            </a:endParaRPr>
          </a:p>
          <a:p>
            <a:endParaRPr lang="en-IN" sz="2000" i="0" dirty="0">
              <a:latin typeface="Bookman Old Style" panose="02050604050505020204" pitchFamily="18" charset="0"/>
            </a:endParaRPr>
          </a:p>
          <a:p>
            <a:endParaRPr lang="en-IN" sz="2000" i="0" dirty="0">
              <a:latin typeface="Bookman Old Style" panose="02050604050505020204" pitchFamily="18" charset="0"/>
            </a:endParaRPr>
          </a:p>
          <a:p>
            <a:pPr marL="2359152" lvl="5" indent="0">
              <a:buNone/>
            </a:pPr>
            <a:endParaRPr lang="en-IN" i="0" dirty="0">
              <a:latin typeface="Bookman Old Style" panose="02050604050505020204" pitchFamily="18" charset="0"/>
            </a:endParaRPr>
          </a:p>
          <a:p>
            <a:r>
              <a:rPr lang="en-US" b="1" u="sng" dirty="0">
                <a:latin typeface="Bookman Old Style" panose="02050604050505020204" pitchFamily="18" charset="0"/>
              </a:rPr>
              <a:t>Insight</a:t>
            </a:r>
            <a:r>
              <a:rPr lang="en-US" dirty="0"/>
              <a:t>: </a:t>
            </a:r>
            <a:r>
              <a:rPr lang="en-US" dirty="0">
                <a:latin typeface="Bookman Old Style" panose="02050604050505020204" pitchFamily="18" charset="0"/>
              </a:rPr>
              <a:t>7-day rolling average for smoother trends and long-term decisions.</a:t>
            </a:r>
          </a:p>
          <a:p>
            <a:pPr marL="0" indent="0">
              <a:buNone/>
            </a:pPr>
            <a:endParaRPr lang="en-US" dirty="0">
              <a:latin typeface="Bookman Old Style" panose="0205060405050502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EFD927-C21F-9291-009C-E83AE663C9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4570" b="30879"/>
          <a:stretch/>
        </p:blipFill>
        <p:spPr>
          <a:xfrm>
            <a:off x="3891167" y="2461732"/>
            <a:ext cx="5460560" cy="3555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798A71-18E3-35B1-EC9E-157E9D2A61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802"/>
          <a:stretch/>
        </p:blipFill>
        <p:spPr>
          <a:xfrm>
            <a:off x="3891165" y="2461732"/>
            <a:ext cx="5454595" cy="355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436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5A981-0B9E-CEA2-72AE-AAF4921F4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2913BC-6D64-039D-6803-D4DDB1B064FF}"/>
              </a:ext>
            </a:extLst>
          </p:cNvPr>
          <p:cNvSpPr/>
          <p:nvPr/>
        </p:nvSpPr>
        <p:spPr>
          <a:xfrm>
            <a:off x="4023360" y="2576223"/>
            <a:ext cx="5454595" cy="3586038"/>
          </a:xfrm>
          <a:prstGeom prst="rect">
            <a:avLst/>
          </a:prstGeom>
          <a:solidFill>
            <a:schemeClr val="tx1">
              <a:alpha val="44000"/>
            </a:schemeClr>
          </a:solidFill>
          <a:effectLst>
            <a:softEdge rad="50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FC6BF8-271D-97A8-6E39-8FC5AB4B5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367746"/>
            <a:ext cx="10499697" cy="1253431"/>
          </a:xfrm>
        </p:spPr>
        <p:txBody>
          <a:bodyPr/>
          <a:lstStyle/>
          <a:p>
            <a:r>
              <a:rPr lang="en-IN" dirty="0">
                <a:latin typeface="Bookman Old Style" panose="02050604050505020204" pitchFamily="18" charset="0"/>
              </a:rPr>
              <a:t>Language Share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9944612-DD76-0F17-180D-C860DD8F84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1621178"/>
            <a:ext cx="10499697" cy="5129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b="1" u="sng" dirty="0">
                <a:latin typeface="Bookman Old Style" panose="02050604050505020204" pitchFamily="18" charset="0"/>
              </a:rPr>
              <a:t>Objective</a:t>
            </a:r>
            <a:r>
              <a:rPr lang="en-US" dirty="0">
                <a:latin typeface="Bookman Old Style" panose="02050604050505020204" pitchFamily="18" charset="0"/>
              </a:rPr>
              <a:t>: Calculate the percentage share of each language over the last 30 			days.</a:t>
            </a:r>
          </a:p>
          <a:p>
            <a:pPr marL="0" indent="0">
              <a:buNone/>
            </a:pPr>
            <a:endParaRPr lang="en-IN" sz="2000" b="1" i="0" u="sng" dirty="0">
              <a:latin typeface="Bookman Old Style" panose="02050604050505020204" pitchFamily="18" charset="0"/>
            </a:endParaRPr>
          </a:p>
          <a:p>
            <a:r>
              <a:rPr lang="en-IN" sz="2000" b="1" i="0" u="sng" dirty="0">
                <a:latin typeface="Bookman Old Style" panose="02050604050505020204" pitchFamily="18" charset="0"/>
              </a:rPr>
              <a:t>SQL Query</a:t>
            </a:r>
            <a:r>
              <a:rPr lang="en-IN" sz="2000" i="0" dirty="0">
                <a:latin typeface="Bookman Old Style" panose="02050604050505020204" pitchFamily="18" charset="0"/>
              </a:rPr>
              <a:t>: 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endParaRPr lang="en-IN" sz="2000" i="0" dirty="0">
              <a:latin typeface="Bookman Old Style" panose="02050604050505020204" pitchFamily="18" charset="0"/>
            </a:endParaRPr>
          </a:p>
          <a:p>
            <a:endParaRPr lang="en-IN" dirty="0"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IN" dirty="0">
              <a:latin typeface="Bookman Old Style" panose="02050604050505020204" pitchFamily="18" charset="0"/>
            </a:endParaRPr>
          </a:p>
          <a:p>
            <a:endParaRPr lang="en-IN" sz="2000" i="0" dirty="0">
              <a:latin typeface="Bookman Old Style" panose="02050604050505020204" pitchFamily="18" charset="0"/>
            </a:endParaRPr>
          </a:p>
          <a:p>
            <a:endParaRPr lang="en-IN" sz="2000" i="0" dirty="0">
              <a:latin typeface="Bookman Old Style" panose="02050604050505020204" pitchFamily="18" charset="0"/>
            </a:endParaRPr>
          </a:p>
          <a:p>
            <a:endParaRPr lang="en-US" b="1" u="sng" dirty="0">
              <a:latin typeface="Bookman Old Style" panose="02050604050505020204" pitchFamily="18" charset="0"/>
            </a:endParaRPr>
          </a:p>
          <a:p>
            <a:r>
              <a:rPr lang="en-US" b="1" u="sng" dirty="0">
                <a:latin typeface="Bookman Old Style" panose="02050604050505020204" pitchFamily="18" charset="0"/>
              </a:rPr>
              <a:t>Insight</a:t>
            </a:r>
            <a:r>
              <a:rPr lang="en-US" dirty="0"/>
              <a:t>: </a:t>
            </a:r>
            <a:r>
              <a:rPr lang="en-US" dirty="0">
                <a:latin typeface="Bookman Old Style" panose="02050604050505020204" pitchFamily="18" charset="0"/>
              </a:rPr>
              <a:t>Most-used languages guide </a:t>
            </a:r>
            <a:r>
              <a:rPr lang="en-US" b="1" dirty="0">
                <a:latin typeface="Bookman Old Style" panose="02050604050505020204" pitchFamily="18" charset="0"/>
              </a:rPr>
              <a:t>localization efforts</a:t>
            </a:r>
            <a:r>
              <a:rPr lang="en-US" dirty="0">
                <a:latin typeface="Bookman Old Style" panose="02050604050505020204" pitchFamily="18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Bookman Old Style" panose="0205060405050502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7D25D7-FE91-EF95-0E67-2AD97FC7EA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4570" b="30879"/>
          <a:stretch/>
        </p:blipFill>
        <p:spPr>
          <a:xfrm>
            <a:off x="3891167" y="2461732"/>
            <a:ext cx="5460560" cy="3555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1325F2-BF1D-27FF-B84D-B9F6A50636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802"/>
          <a:stretch/>
        </p:blipFill>
        <p:spPr>
          <a:xfrm>
            <a:off x="3891165" y="2461732"/>
            <a:ext cx="5454595" cy="35557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B3742D0-AFA1-2FCA-9D43-13C1372D15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5199" y="2461733"/>
            <a:ext cx="5466527" cy="355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824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548AF-5A5B-54B2-F9E8-E185765DC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0C42A91-574F-FD8B-4AEB-A10535D44EA7}"/>
              </a:ext>
            </a:extLst>
          </p:cNvPr>
          <p:cNvSpPr/>
          <p:nvPr/>
        </p:nvSpPr>
        <p:spPr>
          <a:xfrm>
            <a:off x="4023360" y="2576223"/>
            <a:ext cx="5454595" cy="3586038"/>
          </a:xfrm>
          <a:prstGeom prst="rect">
            <a:avLst/>
          </a:prstGeom>
          <a:solidFill>
            <a:schemeClr val="tx1">
              <a:alpha val="44000"/>
            </a:schemeClr>
          </a:solidFill>
          <a:effectLst>
            <a:softEdge rad="50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CD595C-F579-9763-BBE5-C5D94DC00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367746"/>
            <a:ext cx="10499697" cy="1253431"/>
          </a:xfrm>
        </p:spPr>
        <p:txBody>
          <a:bodyPr/>
          <a:lstStyle/>
          <a:p>
            <a:r>
              <a:rPr lang="en-IN" dirty="0">
                <a:latin typeface="Bookman Old Style" panose="02050604050505020204" pitchFamily="18" charset="0"/>
              </a:rPr>
              <a:t>Duplicate Rows Detection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7DD2497-4A5C-91EA-011A-8C93F8503E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1621178"/>
            <a:ext cx="10499697" cy="5129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b="1" u="sng" dirty="0">
                <a:latin typeface="Bookman Old Style" panose="02050604050505020204" pitchFamily="18" charset="0"/>
              </a:rPr>
              <a:t>Objective</a:t>
            </a:r>
            <a:r>
              <a:rPr lang="en-US" dirty="0">
                <a:latin typeface="Bookman Old Style" panose="02050604050505020204" pitchFamily="18" charset="0"/>
              </a:rPr>
              <a:t>: Identify duplicate rows in “</a:t>
            </a:r>
            <a:r>
              <a:rPr lang="en-US" b="1" i="1" dirty="0" err="1">
                <a:latin typeface="Bookman Old Style" panose="02050604050505020204" pitchFamily="18" charset="0"/>
              </a:rPr>
              <a:t>job_data</a:t>
            </a:r>
            <a:r>
              <a:rPr lang="en-US" dirty="0">
                <a:latin typeface="Bookman Old Style" panose="02050604050505020204" pitchFamily="18" charset="0"/>
              </a:rPr>
              <a:t>”.</a:t>
            </a:r>
          </a:p>
          <a:p>
            <a:pPr marL="0" indent="0">
              <a:buNone/>
            </a:pPr>
            <a:endParaRPr lang="en-IN" sz="2000" b="1" i="0" u="sng" dirty="0">
              <a:latin typeface="Bookman Old Style" panose="02050604050505020204" pitchFamily="18" charset="0"/>
            </a:endParaRPr>
          </a:p>
          <a:p>
            <a:r>
              <a:rPr lang="en-IN" sz="2000" b="1" i="0" u="sng" dirty="0">
                <a:latin typeface="Bookman Old Style" panose="02050604050505020204" pitchFamily="18" charset="0"/>
              </a:rPr>
              <a:t>SQL Query</a:t>
            </a:r>
            <a:r>
              <a:rPr lang="en-IN" sz="2000" i="0" dirty="0">
                <a:latin typeface="Bookman Old Style" panose="02050604050505020204" pitchFamily="18" charset="0"/>
              </a:rPr>
              <a:t>: 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endParaRPr lang="en-IN" sz="2000" i="0" dirty="0">
              <a:latin typeface="Bookman Old Style" panose="02050604050505020204" pitchFamily="18" charset="0"/>
            </a:endParaRPr>
          </a:p>
          <a:p>
            <a:endParaRPr lang="en-IN" dirty="0"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IN" dirty="0">
              <a:latin typeface="Bookman Old Style" panose="02050604050505020204" pitchFamily="18" charset="0"/>
            </a:endParaRPr>
          </a:p>
          <a:p>
            <a:endParaRPr lang="en-IN" sz="2000" i="0" dirty="0">
              <a:latin typeface="Bookman Old Style" panose="02050604050505020204" pitchFamily="18" charset="0"/>
            </a:endParaRPr>
          </a:p>
          <a:p>
            <a:endParaRPr lang="en-IN" sz="2000" i="0" dirty="0">
              <a:latin typeface="Bookman Old Style" panose="02050604050505020204" pitchFamily="18" charset="0"/>
            </a:endParaRPr>
          </a:p>
          <a:p>
            <a:endParaRPr lang="en-US" b="1" u="sng" dirty="0">
              <a:latin typeface="Bookman Old Style" panose="02050604050505020204" pitchFamily="18" charset="0"/>
            </a:endParaRPr>
          </a:p>
          <a:p>
            <a:pPr lvl="5"/>
            <a:endParaRPr lang="en-US" sz="1200" b="1" u="sng" dirty="0">
              <a:latin typeface="Bookman Old Style" panose="02050604050505020204" pitchFamily="18" charset="0"/>
            </a:endParaRPr>
          </a:p>
          <a:p>
            <a:r>
              <a:rPr lang="en-US" b="1" u="sng" dirty="0">
                <a:latin typeface="Bookman Old Style" panose="02050604050505020204" pitchFamily="18" charset="0"/>
              </a:rPr>
              <a:t>Insight</a:t>
            </a:r>
            <a:r>
              <a:rPr lang="en-US" dirty="0"/>
              <a:t>: </a:t>
            </a:r>
            <a:r>
              <a:rPr lang="en-US" dirty="0">
                <a:latin typeface="Bookman Old Style" panose="02050604050505020204" pitchFamily="18" charset="0"/>
              </a:rPr>
              <a:t>Cleaned up duplicates to ensure data accuracy.</a:t>
            </a:r>
          </a:p>
          <a:p>
            <a:pPr marL="0" indent="0">
              <a:buNone/>
            </a:pPr>
            <a:endParaRPr lang="en-US" dirty="0">
              <a:latin typeface="Bookman Old Style" panose="0205060405050502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55CF6E-53AC-8AA0-4CDC-2FE6D1E585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4570" b="30879"/>
          <a:stretch/>
        </p:blipFill>
        <p:spPr>
          <a:xfrm>
            <a:off x="3891167" y="2461732"/>
            <a:ext cx="5460560" cy="3555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C8A66D-C9B6-FB31-75DF-32D4BC5248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802"/>
          <a:stretch/>
        </p:blipFill>
        <p:spPr>
          <a:xfrm>
            <a:off x="3891165" y="2461732"/>
            <a:ext cx="5454595" cy="35557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FB824C6-B52F-51F0-A361-623C46DA8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5199" y="2461733"/>
            <a:ext cx="5466527" cy="35557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6D30CC-99A2-AD3B-CA4B-CA985E9602E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8385" b="22666"/>
          <a:stretch/>
        </p:blipFill>
        <p:spPr>
          <a:xfrm>
            <a:off x="3885199" y="2461731"/>
            <a:ext cx="5454595" cy="3586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238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BE998-F91C-172D-28FA-30626C4E7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B5C3B-BD32-2553-F882-FB45B1581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367746"/>
            <a:ext cx="10499697" cy="1253431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Bookman Old Style" panose="02050604050505020204" pitchFamily="18" charset="0"/>
              </a:rPr>
              <a:t>Case Study 2: Investigating Metric Spikes</a:t>
            </a:r>
            <a:endParaRPr lang="en-IN" sz="3600" dirty="0">
              <a:latin typeface="Bookman Old Style" panose="020506040505050202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EC1A0F-91F9-2A26-E185-58C6C95663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1621178"/>
            <a:ext cx="10499697" cy="3817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b="1" u="sng" dirty="0">
                <a:latin typeface="Bookman Old Style" panose="02050604050505020204" pitchFamily="18" charset="0"/>
              </a:rPr>
              <a:t>Objective</a:t>
            </a:r>
            <a:r>
              <a:rPr lang="en-US" dirty="0">
                <a:latin typeface="Bookman Old Style" panose="02050604050505020204" pitchFamily="18" charset="0"/>
              </a:rPr>
              <a:t>: Investigate sudden changes in user engagement and email 				interactions.</a:t>
            </a:r>
          </a:p>
          <a:p>
            <a:endParaRPr lang="en-US" dirty="0">
              <a:latin typeface="Bookman Old Style" panose="02050604050505020204" pitchFamily="18" charset="0"/>
            </a:endParaRPr>
          </a:p>
          <a:p>
            <a:r>
              <a:rPr lang="en-US" b="1" u="sng" dirty="0">
                <a:latin typeface="Bookman Old Style" panose="02050604050505020204" pitchFamily="18" charset="0"/>
              </a:rPr>
              <a:t>Datasets</a:t>
            </a:r>
            <a:r>
              <a:rPr lang="en-US" dirty="0">
                <a:latin typeface="Bookman Old Style" panose="02050604050505020204" pitchFamily="18" charset="0"/>
              </a:rPr>
              <a:t>: </a:t>
            </a:r>
          </a:p>
          <a:p>
            <a:endParaRPr lang="en-US" dirty="0">
              <a:latin typeface="Bookman Old Style" panose="02050604050505020204" pitchFamily="18" charset="0"/>
            </a:endParaRPr>
          </a:p>
          <a:p>
            <a:pPr lvl="3">
              <a:buFont typeface="Wingdings" panose="05000000000000000000" pitchFamily="2" charset="2"/>
              <a:buChar char="§"/>
            </a:pPr>
            <a:r>
              <a:rPr lang="en-US" sz="2000" i="0" dirty="0">
                <a:latin typeface="Bookman Old Style" panose="02050604050505020204" pitchFamily="18" charset="0"/>
              </a:rPr>
              <a:t>users : User details.</a:t>
            </a:r>
          </a:p>
          <a:p>
            <a:pPr lvl="2">
              <a:buFont typeface="Wingdings" panose="05000000000000000000" pitchFamily="2" charset="2"/>
              <a:buChar char="§"/>
            </a:pPr>
            <a:endParaRPr lang="en-US" sz="2000" dirty="0">
              <a:latin typeface="Bookman Old Style" panose="02050604050505020204" pitchFamily="18" charset="0"/>
            </a:endParaRPr>
          </a:p>
          <a:p>
            <a:pPr lvl="3">
              <a:buFont typeface="Wingdings" panose="05000000000000000000" pitchFamily="2" charset="2"/>
              <a:buChar char="§"/>
            </a:pPr>
            <a:r>
              <a:rPr lang="en-US" sz="2000" i="0" dirty="0">
                <a:latin typeface="Bookman Old Style" panose="02050604050505020204" pitchFamily="18" charset="0"/>
              </a:rPr>
              <a:t>events : User activity records.</a:t>
            </a:r>
          </a:p>
          <a:p>
            <a:pPr lvl="2">
              <a:buFont typeface="Wingdings" panose="05000000000000000000" pitchFamily="2" charset="2"/>
              <a:buChar char="§"/>
            </a:pPr>
            <a:endParaRPr lang="en-US" sz="2000" dirty="0">
              <a:latin typeface="Bookman Old Style" panose="02050604050505020204" pitchFamily="18" charset="0"/>
            </a:endParaRPr>
          </a:p>
          <a:p>
            <a:pPr lvl="3">
              <a:buFont typeface="Wingdings" panose="05000000000000000000" pitchFamily="2" charset="2"/>
              <a:buChar char="§"/>
            </a:pPr>
            <a:r>
              <a:rPr lang="en-US" sz="2000" i="0" dirty="0" err="1">
                <a:latin typeface="Bookman Old Style" panose="02050604050505020204" pitchFamily="18" charset="0"/>
              </a:rPr>
              <a:t>email_events</a:t>
            </a:r>
            <a:r>
              <a:rPr lang="en-US" sz="2000" i="0" dirty="0">
                <a:latin typeface="Bookman Old Style" panose="02050604050505020204" pitchFamily="18" charset="0"/>
              </a:rPr>
              <a:t> : </a:t>
            </a:r>
            <a:r>
              <a:rPr lang="en-IN" sz="2000" i="0" dirty="0">
                <a:latin typeface="Bookman Old Style" panose="02050604050505020204" pitchFamily="18" charset="0"/>
              </a:rPr>
              <a:t>Email-specific events</a:t>
            </a:r>
            <a:r>
              <a:rPr lang="en-IN" i="0" dirty="0">
                <a:latin typeface="Bookman Old Style" panose="02050604050505020204" pitchFamily="18" charset="0"/>
              </a:rPr>
              <a:t>.</a:t>
            </a:r>
            <a:endParaRPr lang="en-US" i="0" dirty="0"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US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774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502A3-FFCA-6110-EBD6-9E1F27AD9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1E9B280-320A-2F23-FABF-BF09694263F4}"/>
              </a:ext>
            </a:extLst>
          </p:cNvPr>
          <p:cNvSpPr/>
          <p:nvPr/>
        </p:nvSpPr>
        <p:spPr>
          <a:xfrm>
            <a:off x="4023360" y="2576223"/>
            <a:ext cx="5454595" cy="3586038"/>
          </a:xfrm>
          <a:prstGeom prst="rect">
            <a:avLst/>
          </a:prstGeom>
          <a:solidFill>
            <a:schemeClr val="tx1">
              <a:alpha val="44000"/>
            </a:schemeClr>
          </a:solidFill>
          <a:effectLst>
            <a:softEdge rad="50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502597-6B85-82E5-EECB-FA0C7AADE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367746"/>
            <a:ext cx="10499697" cy="1253431"/>
          </a:xfrm>
        </p:spPr>
        <p:txBody>
          <a:bodyPr/>
          <a:lstStyle/>
          <a:p>
            <a:r>
              <a:rPr lang="en-IN" dirty="0">
                <a:latin typeface="Bookman Old Style" panose="02050604050505020204" pitchFamily="18" charset="0"/>
              </a:rPr>
              <a:t>Weekly User Engagement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1BDD868-7255-66AC-6C3E-62F4435312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1621178"/>
            <a:ext cx="10499697" cy="5129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b="1" u="sng" dirty="0">
                <a:latin typeface="Bookman Old Style" panose="02050604050505020204" pitchFamily="18" charset="0"/>
              </a:rPr>
              <a:t>Objective</a:t>
            </a:r>
            <a:r>
              <a:rPr lang="en-US" dirty="0">
                <a:latin typeface="Bookman Old Style" panose="02050604050505020204" pitchFamily="18" charset="0"/>
              </a:rPr>
              <a:t>: Measure the activeness of users on a weekly basis.</a:t>
            </a:r>
          </a:p>
          <a:p>
            <a:pPr marL="0" indent="0">
              <a:buNone/>
            </a:pPr>
            <a:endParaRPr lang="en-IN" sz="2000" b="1" i="0" u="sng" dirty="0">
              <a:latin typeface="Bookman Old Style" panose="02050604050505020204" pitchFamily="18" charset="0"/>
            </a:endParaRPr>
          </a:p>
          <a:p>
            <a:r>
              <a:rPr lang="en-IN" sz="2000" b="1" i="0" u="sng" dirty="0">
                <a:latin typeface="Bookman Old Style" panose="02050604050505020204" pitchFamily="18" charset="0"/>
              </a:rPr>
              <a:t>SQL Query</a:t>
            </a:r>
            <a:r>
              <a:rPr lang="en-IN" sz="2000" i="0" dirty="0">
                <a:latin typeface="Bookman Old Style" panose="02050604050505020204" pitchFamily="18" charset="0"/>
              </a:rPr>
              <a:t>: 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endParaRPr lang="en-IN" sz="2000" i="0" dirty="0">
              <a:latin typeface="Bookman Old Style" panose="02050604050505020204" pitchFamily="18" charset="0"/>
            </a:endParaRPr>
          </a:p>
          <a:p>
            <a:endParaRPr lang="en-IN" dirty="0"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IN" dirty="0">
              <a:latin typeface="Bookman Old Style" panose="02050604050505020204" pitchFamily="18" charset="0"/>
            </a:endParaRPr>
          </a:p>
          <a:p>
            <a:endParaRPr lang="en-IN" sz="2000" i="0" dirty="0">
              <a:latin typeface="Bookman Old Style" panose="02050604050505020204" pitchFamily="18" charset="0"/>
            </a:endParaRPr>
          </a:p>
          <a:p>
            <a:endParaRPr lang="en-IN" sz="2000" i="0" dirty="0">
              <a:latin typeface="Bookman Old Style" panose="02050604050505020204" pitchFamily="18" charset="0"/>
            </a:endParaRPr>
          </a:p>
          <a:p>
            <a:pPr marL="2359152" lvl="5" indent="0">
              <a:buNone/>
            </a:pPr>
            <a:endParaRPr lang="en-US" b="1" u="sng" dirty="0">
              <a:latin typeface="Bookman Old Style" panose="02050604050505020204" pitchFamily="18" charset="0"/>
            </a:endParaRPr>
          </a:p>
          <a:p>
            <a:pPr marL="2359152" lvl="5" indent="0">
              <a:buNone/>
            </a:pPr>
            <a:endParaRPr lang="en-US" sz="1200" b="1" u="sng" dirty="0">
              <a:latin typeface="Bookman Old Style" panose="02050604050505020204" pitchFamily="18" charset="0"/>
            </a:endParaRPr>
          </a:p>
          <a:p>
            <a:r>
              <a:rPr lang="en-US" b="1" u="sng" dirty="0">
                <a:latin typeface="Bookman Old Style" panose="02050604050505020204" pitchFamily="18" charset="0"/>
              </a:rPr>
              <a:t>Insight</a:t>
            </a:r>
            <a:r>
              <a:rPr lang="en-US" dirty="0"/>
              <a:t>: </a:t>
            </a:r>
            <a:r>
              <a:rPr lang="en-US" dirty="0">
                <a:latin typeface="Bookman Old Style" panose="02050604050505020204" pitchFamily="18" charset="0"/>
              </a:rPr>
              <a:t>Indicates</a:t>
            </a:r>
            <a:r>
              <a:rPr lang="en-US" dirty="0"/>
              <a:t> </a:t>
            </a:r>
            <a:r>
              <a:rPr lang="en-US" dirty="0">
                <a:latin typeface="Bookman Old Style" panose="02050604050505020204" pitchFamily="18" charset="0"/>
              </a:rPr>
              <a:t>the number of distinct active users per week, helping identify trends and fluctuations in user engagement.</a:t>
            </a:r>
          </a:p>
          <a:p>
            <a:pPr marL="0" indent="0">
              <a:buNone/>
            </a:pPr>
            <a:endParaRPr lang="en-US" dirty="0">
              <a:latin typeface="Bookman Old Style" panose="0205060405050502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445072-1FB8-62B2-2B8D-0A708A4D41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4570" b="30879"/>
          <a:stretch/>
        </p:blipFill>
        <p:spPr>
          <a:xfrm>
            <a:off x="3891167" y="2461732"/>
            <a:ext cx="5460560" cy="3555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E844A5-6C7D-9DC4-188B-3380993FD9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802"/>
          <a:stretch/>
        </p:blipFill>
        <p:spPr>
          <a:xfrm>
            <a:off x="3891165" y="2461732"/>
            <a:ext cx="5454595" cy="35557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AC2D2D0-176A-6943-3F2A-17A4C31939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5199" y="2461733"/>
            <a:ext cx="5466527" cy="35557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12F671-1A34-AF57-89FF-0E59BD51DF4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8385" b="22666"/>
          <a:stretch/>
        </p:blipFill>
        <p:spPr>
          <a:xfrm>
            <a:off x="3885199" y="2461731"/>
            <a:ext cx="5454595" cy="35860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7C54686-3D01-DE03-25D4-3311457ED06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7198" t="11815" r="12983" b="11815"/>
          <a:stretch/>
        </p:blipFill>
        <p:spPr>
          <a:xfrm>
            <a:off x="3885199" y="2461730"/>
            <a:ext cx="5454596" cy="3586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721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84A2C-12B0-C51D-73E9-E041A8C22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4808C04-BEED-056D-9DDB-F37A75C366CA}"/>
              </a:ext>
            </a:extLst>
          </p:cNvPr>
          <p:cNvSpPr/>
          <p:nvPr/>
        </p:nvSpPr>
        <p:spPr>
          <a:xfrm>
            <a:off x="4023360" y="2576223"/>
            <a:ext cx="5454595" cy="3586038"/>
          </a:xfrm>
          <a:prstGeom prst="rect">
            <a:avLst/>
          </a:prstGeom>
          <a:solidFill>
            <a:schemeClr val="tx1">
              <a:alpha val="44000"/>
            </a:schemeClr>
          </a:solidFill>
          <a:effectLst>
            <a:softEdge rad="50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70776D-0F91-7CB1-BB94-3F72F9CFB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367746"/>
            <a:ext cx="10499697" cy="1253431"/>
          </a:xfrm>
        </p:spPr>
        <p:txBody>
          <a:bodyPr/>
          <a:lstStyle/>
          <a:p>
            <a:r>
              <a:rPr lang="en-IN" dirty="0">
                <a:latin typeface="Bookman Old Style" panose="02050604050505020204" pitchFamily="18" charset="0"/>
              </a:rPr>
              <a:t>User Growth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A78937A-6007-4B51-4A1A-20971392DC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1621178"/>
            <a:ext cx="10499697" cy="5129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b="1" u="sng" dirty="0">
                <a:latin typeface="Bookman Old Style" panose="02050604050505020204" pitchFamily="18" charset="0"/>
              </a:rPr>
              <a:t>Objective</a:t>
            </a:r>
            <a:r>
              <a:rPr lang="en-US" dirty="0">
                <a:latin typeface="Bookman Old Style" panose="02050604050505020204" pitchFamily="18" charset="0"/>
              </a:rPr>
              <a:t>: Analyze the growth of users over time for a product.</a:t>
            </a:r>
          </a:p>
          <a:p>
            <a:pPr marL="0" indent="0">
              <a:buNone/>
            </a:pPr>
            <a:endParaRPr lang="en-IN" sz="2000" b="1" i="0" u="sng" dirty="0">
              <a:latin typeface="Bookman Old Style" panose="02050604050505020204" pitchFamily="18" charset="0"/>
            </a:endParaRPr>
          </a:p>
          <a:p>
            <a:r>
              <a:rPr lang="en-IN" sz="2000" b="1" i="0" u="sng" dirty="0">
                <a:latin typeface="Bookman Old Style" panose="02050604050505020204" pitchFamily="18" charset="0"/>
              </a:rPr>
              <a:t>SQL Query</a:t>
            </a:r>
            <a:r>
              <a:rPr lang="en-IN" sz="2000" i="0" dirty="0">
                <a:latin typeface="Bookman Old Style" panose="02050604050505020204" pitchFamily="18" charset="0"/>
              </a:rPr>
              <a:t>: 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endParaRPr lang="en-IN" sz="2000" i="0" dirty="0">
              <a:latin typeface="Bookman Old Style" panose="02050604050505020204" pitchFamily="18" charset="0"/>
            </a:endParaRPr>
          </a:p>
          <a:p>
            <a:endParaRPr lang="en-IN" dirty="0"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IN" dirty="0">
              <a:latin typeface="Bookman Old Style" panose="02050604050505020204" pitchFamily="18" charset="0"/>
            </a:endParaRPr>
          </a:p>
          <a:p>
            <a:endParaRPr lang="en-IN" sz="2000" i="0" dirty="0"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US" b="1" u="sng" dirty="0">
              <a:latin typeface="Bookman Old Style" panose="02050604050505020204" pitchFamily="18" charset="0"/>
            </a:endParaRPr>
          </a:p>
          <a:p>
            <a:pPr marL="2359152" lvl="5" indent="0">
              <a:buNone/>
            </a:pPr>
            <a:endParaRPr lang="en-US" b="1" u="sng" dirty="0">
              <a:latin typeface="Bookman Old Style" panose="02050604050505020204" pitchFamily="18" charset="0"/>
            </a:endParaRPr>
          </a:p>
          <a:p>
            <a:pPr marL="2359152" lvl="5" indent="0">
              <a:buNone/>
            </a:pPr>
            <a:endParaRPr lang="en-US" sz="1200" b="1" u="sng" dirty="0">
              <a:latin typeface="Bookman Old Style" panose="02050604050505020204" pitchFamily="18" charset="0"/>
            </a:endParaRPr>
          </a:p>
          <a:p>
            <a:r>
              <a:rPr lang="en-US" b="1" u="sng" dirty="0">
                <a:latin typeface="Bookman Old Style" panose="02050604050505020204" pitchFamily="18" charset="0"/>
              </a:rPr>
              <a:t>Insight</a:t>
            </a:r>
            <a:r>
              <a:rPr lang="en-US" dirty="0"/>
              <a:t>: </a:t>
            </a:r>
            <a:r>
              <a:rPr lang="en-US" sz="1800" dirty="0">
                <a:latin typeface="Bookman Old Style" panose="02050604050505020204" pitchFamily="18" charset="0"/>
              </a:rPr>
              <a:t>Tracks new user signups weekly, allowing for trend analysis to identify periods of high growth and evaluate the impact of product launches or marketing efforts</a:t>
            </a:r>
            <a:r>
              <a:rPr lang="en-US" dirty="0">
                <a:latin typeface="Bookman Old Style" panose="02050604050505020204" pitchFamily="18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Bookman Old Style" panose="0205060405050502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5F686B-6411-CD17-C429-59AB40EDF4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4570" b="30879"/>
          <a:stretch/>
        </p:blipFill>
        <p:spPr>
          <a:xfrm>
            <a:off x="3891167" y="2461732"/>
            <a:ext cx="5460560" cy="3555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376208-832F-17D3-D9F6-054531D65B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802"/>
          <a:stretch/>
        </p:blipFill>
        <p:spPr>
          <a:xfrm>
            <a:off x="3891165" y="2461732"/>
            <a:ext cx="5454595" cy="35557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F6EB4BB-DD4A-9309-116F-8AEBD3EDE3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5199" y="2461733"/>
            <a:ext cx="5466527" cy="35557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F05FB2-58A2-A0A6-1E7D-ECE58DE66C5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8385" b="22666"/>
          <a:stretch/>
        </p:blipFill>
        <p:spPr>
          <a:xfrm>
            <a:off x="3885199" y="2461731"/>
            <a:ext cx="5454595" cy="35860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07FBCD-DFF4-0BF5-01D9-B5A2F76B33A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7198" t="11815" r="12983" b="11815"/>
          <a:stretch/>
        </p:blipFill>
        <p:spPr>
          <a:xfrm>
            <a:off x="3885199" y="2461730"/>
            <a:ext cx="5454596" cy="35860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C6B6F1-47A0-F147-2964-07D7AF8CCF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5199" y="2461730"/>
            <a:ext cx="5466527" cy="3586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024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D78F2-1AF3-9354-E721-1D2E1B04D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71E3C5E-71C8-FB20-4416-C64A5C5E0A53}"/>
              </a:ext>
            </a:extLst>
          </p:cNvPr>
          <p:cNvSpPr/>
          <p:nvPr/>
        </p:nvSpPr>
        <p:spPr>
          <a:xfrm>
            <a:off x="4023360" y="2576223"/>
            <a:ext cx="5454595" cy="3586038"/>
          </a:xfrm>
          <a:prstGeom prst="rect">
            <a:avLst/>
          </a:prstGeom>
          <a:solidFill>
            <a:schemeClr val="tx1">
              <a:alpha val="44000"/>
            </a:schemeClr>
          </a:solidFill>
          <a:effectLst>
            <a:softEdge rad="50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F39EB4-4EE7-484F-9D25-B3DE6ED0B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367746"/>
            <a:ext cx="10499697" cy="1253431"/>
          </a:xfrm>
        </p:spPr>
        <p:txBody>
          <a:bodyPr/>
          <a:lstStyle/>
          <a:p>
            <a:r>
              <a:rPr lang="en-IN" dirty="0">
                <a:latin typeface="Bookman Old Style" panose="02050604050505020204" pitchFamily="18" charset="0"/>
              </a:rPr>
              <a:t>Weekly Retention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1576450-86AC-35BE-36AC-66BE71E8D9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1621178"/>
            <a:ext cx="10499697" cy="5129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b="1" u="sng" dirty="0">
                <a:latin typeface="Bookman Old Style" panose="02050604050505020204" pitchFamily="18" charset="0"/>
              </a:rPr>
              <a:t>Objective</a:t>
            </a:r>
            <a:r>
              <a:rPr lang="en-US" dirty="0">
                <a:latin typeface="Bookman Old Style" panose="02050604050505020204" pitchFamily="18" charset="0"/>
              </a:rPr>
              <a:t>: Analyze the retention of users on a weekly basis after signing up for 		a product.</a:t>
            </a:r>
          </a:p>
          <a:p>
            <a:pPr marL="0" indent="0">
              <a:buNone/>
            </a:pPr>
            <a:endParaRPr lang="en-IN" sz="2000" b="1" i="0" u="sng" dirty="0">
              <a:latin typeface="Bookman Old Style" panose="02050604050505020204" pitchFamily="18" charset="0"/>
            </a:endParaRPr>
          </a:p>
          <a:p>
            <a:r>
              <a:rPr lang="en-IN" sz="2000" b="1" i="0" u="sng" dirty="0">
                <a:latin typeface="Bookman Old Style" panose="02050604050505020204" pitchFamily="18" charset="0"/>
              </a:rPr>
              <a:t>SQL Query</a:t>
            </a:r>
            <a:r>
              <a:rPr lang="en-IN" sz="2000" i="0" dirty="0">
                <a:latin typeface="Bookman Old Style" panose="02050604050505020204" pitchFamily="18" charset="0"/>
              </a:rPr>
              <a:t>: 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endParaRPr lang="en-IN" sz="2000" i="0" dirty="0">
              <a:latin typeface="Bookman Old Style" panose="02050604050505020204" pitchFamily="18" charset="0"/>
            </a:endParaRPr>
          </a:p>
          <a:p>
            <a:endParaRPr lang="en-IN" dirty="0"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IN" dirty="0">
              <a:latin typeface="Bookman Old Style" panose="02050604050505020204" pitchFamily="18" charset="0"/>
            </a:endParaRPr>
          </a:p>
          <a:p>
            <a:endParaRPr lang="en-IN" sz="2000" i="0" dirty="0">
              <a:latin typeface="Bookman Old Style" panose="02050604050505020204" pitchFamily="18" charset="0"/>
            </a:endParaRPr>
          </a:p>
          <a:p>
            <a:pPr marL="2359152" lvl="5" indent="0">
              <a:buNone/>
            </a:pPr>
            <a:endParaRPr lang="en-US" b="1" u="sng" dirty="0">
              <a:latin typeface="Bookman Old Style" panose="02050604050505020204" pitchFamily="18" charset="0"/>
            </a:endParaRPr>
          </a:p>
          <a:p>
            <a:pPr marL="2359152" lvl="5" indent="0">
              <a:buNone/>
            </a:pPr>
            <a:endParaRPr lang="en-US" sz="2400" b="1" u="sng" dirty="0">
              <a:latin typeface="Bookman Old Style" panose="02050604050505020204" pitchFamily="18" charset="0"/>
            </a:endParaRPr>
          </a:p>
          <a:p>
            <a:r>
              <a:rPr lang="en-US" b="1" u="sng" dirty="0">
                <a:latin typeface="Bookman Old Style" panose="02050604050505020204" pitchFamily="18" charset="0"/>
              </a:rPr>
              <a:t>Insight</a:t>
            </a:r>
            <a:r>
              <a:rPr lang="en-US" dirty="0"/>
              <a:t>: </a:t>
            </a:r>
            <a:r>
              <a:rPr lang="en-US" sz="1800" dirty="0">
                <a:latin typeface="Bookman Old Style" panose="02050604050505020204" pitchFamily="18" charset="0"/>
              </a:rPr>
              <a:t>The query tracks weekly user retention by signup cohort to identify churn trends</a:t>
            </a:r>
            <a:r>
              <a:rPr lang="en-US" dirty="0">
                <a:latin typeface="Bookman Old Style" panose="02050604050505020204" pitchFamily="18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Bookman Old Style" panose="0205060405050502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67A880-7329-584E-B57C-A17D288E77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4570" b="30879"/>
          <a:stretch/>
        </p:blipFill>
        <p:spPr>
          <a:xfrm>
            <a:off x="3891167" y="2461732"/>
            <a:ext cx="5460560" cy="3555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75C765-6328-6FFD-20C8-2C60EE23BC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802"/>
          <a:stretch/>
        </p:blipFill>
        <p:spPr>
          <a:xfrm>
            <a:off x="3891165" y="2461732"/>
            <a:ext cx="5454595" cy="35557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6000179-0133-D2D7-DE65-800013ADA7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5199" y="2461733"/>
            <a:ext cx="5466527" cy="35557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8E09FB-CF7F-C42B-17F1-46485F63590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8385" b="22666"/>
          <a:stretch/>
        </p:blipFill>
        <p:spPr>
          <a:xfrm>
            <a:off x="3885199" y="2461731"/>
            <a:ext cx="5454595" cy="35860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022F76-FD18-4B8B-2EB5-DC5524BA391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7198" t="11815" r="12983" b="11815"/>
          <a:stretch/>
        </p:blipFill>
        <p:spPr>
          <a:xfrm>
            <a:off x="3885199" y="2461730"/>
            <a:ext cx="5454596" cy="35860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E3F4E7-EBAD-31C3-E3D2-74E7D4BC55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5199" y="2461730"/>
            <a:ext cx="5466527" cy="35860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B26F58-D9EB-22D7-84B8-535AF7F5D9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85198" y="2461728"/>
            <a:ext cx="5454596" cy="3586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099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BBA28-1389-F6F3-CD38-971396632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D24A01C-735B-D325-D642-93EB207E6827}"/>
              </a:ext>
            </a:extLst>
          </p:cNvPr>
          <p:cNvSpPr/>
          <p:nvPr/>
        </p:nvSpPr>
        <p:spPr>
          <a:xfrm>
            <a:off x="4023360" y="2576223"/>
            <a:ext cx="5454595" cy="3586038"/>
          </a:xfrm>
          <a:prstGeom prst="rect">
            <a:avLst/>
          </a:prstGeom>
          <a:solidFill>
            <a:schemeClr val="tx1">
              <a:alpha val="44000"/>
            </a:schemeClr>
          </a:solidFill>
          <a:effectLst>
            <a:softEdge rad="50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95B2B1-756B-1318-D17F-7DE2989A9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367746"/>
            <a:ext cx="10499697" cy="1253431"/>
          </a:xfrm>
        </p:spPr>
        <p:txBody>
          <a:bodyPr/>
          <a:lstStyle/>
          <a:p>
            <a:r>
              <a:rPr lang="en-IN" dirty="0">
                <a:latin typeface="Bookman Old Style" panose="02050604050505020204" pitchFamily="18" charset="0"/>
              </a:rPr>
              <a:t>Weekly Engagement Per Device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B7AA285-519C-18B5-8BBF-F2EB3A51DD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1621178"/>
            <a:ext cx="10499697" cy="5129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b="1" u="sng" dirty="0">
                <a:latin typeface="Bookman Old Style" panose="02050604050505020204" pitchFamily="18" charset="0"/>
              </a:rPr>
              <a:t>Objective</a:t>
            </a:r>
            <a:r>
              <a:rPr lang="en-US" dirty="0">
                <a:latin typeface="Bookman Old Style" panose="02050604050505020204" pitchFamily="18" charset="0"/>
              </a:rPr>
              <a:t>: Measure user activeness on a weekly basis per device.</a:t>
            </a:r>
          </a:p>
          <a:p>
            <a:pPr marL="0" indent="0">
              <a:buNone/>
            </a:pPr>
            <a:endParaRPr lang="en-IN" sz="2000" b="1" i="0" u="sng" dirty="0">
              <a:latin typeface="Bookman Old Style" panose="02050604050505020204" pitchFamily="18" charset="0"/>
            </a:endParaRPr>
          </a:p>
          <a:p>
            <a:r>
              <a:rPr lang="en-IN" sz="2000" b="1" i="0" u="sng" dirty="0">
                <a:latin typeface="Bookman Old Style" panose="02050604050505020204" pitchFamily="18" charset="0"/>
              </a:rPr>
              <a:t>SQL Query</a:t>
            </a:r>
            <a:r>
              <a:rPr lang="en-IN" sz="2000" i="0" dirty="0">
                <a:latin typeface="Bookman Old Style" panose="02050604050505020204" pitchFamily="18" charset="0"/>
              </a:rPr>
              <a:t>: 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endParaRPr lang="en-IN" sz="2000" i="0" dirty="0">
              <a:latin typeface="Bookman Old Style" panose="02050604050505020204" pitchFamily="18" charset="0"/>
            </a:endParaRPr>
          </a:p>
          <a:p>
            <a:endParaRPr lang="en-IN" dirty="0"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IN" dirty="0">
              <a:latin typeface="Bookman Old Style" panose="02050604050505020204" pitchFamily="18" charset="0"/>
            </a:endParaRPr>
          </a:p>
          <a:p>
            <a:endParaRPr lang="en-IN" sz="2000" i="0" dirty="0">
              <a:latin typeface="Bookman Old Style" panose="02050604050505020204" pitchFamily="18" charset="0"/>
            </a:endParaRPr>
          </a:p>
          <a:p>
            <a:pPr marL="2359152" lvl="5" indent="0">
              <a:buNone/>
            </a:pPr>
            <a:endParaRPr lang="en-US" b="1" u="sng" dirty="0">
              <a:latin typeface="Bookman Old Style" panose="02050604050505020204" pitchFamily="18" charset="0"/>
            </a:endParaRPr>
          </a:p>
          <a:p>
            <a:pPr marL="2359152" lvl="5" indent="0">
              <a:buNone/>
            </a:pPr>
            <a:endParaRPr lang="en-US" sz="2000" b="1" u="sng" dirty="0">
              <a:latin typeface="Bookman Old Style" panose="02050604050505020204" pitchFamily="18" charset="0"/>
            </a:endParaRPr>
          </a:p>
          <a:p>
            <a:pPr marL="2359152" lvl="5" indent="0">
              <a:buNone/>
            </a:pPr>
            <a:endParaRPr lang="en-US" sz="1800" b="1" u="sng" dirty="0">
              <a:latin typeface="Bookman Old Style" panose="02050604050505020204" pitchFamily="18" charset="0"/>
            </a:endParaRPr>
          </a:p>
          <a:p>
            <a:r>
              <a:rPr lang="en-US" b="1" u="sng" dirty="0">
                <a:latin typeface="Bookman Old Style" panose="02050604050505020204" pitchFamily="18" charset="0"/>
              </a:rPr>
              <a:t>Insight</a:t>
            </a:r>
            <a:r>
              <a:rPr lang="en-US" dirty="0"/>
              <a:t>: </a:t>
            </a:r>
            <a:r>
              <a:rPr lang="en-US" sz="1800" dirty="0">
                <a:latin typeface="Bookman Old Style" panose="02050604050505020204" pitchFamily="18" charset="0"/>
              </a:rPr>
              <a:t>Tracks weekly engagement per device to identify potential usability issues.</a:t>
            </a:r>
            <a:endParaRPr lang="en-US" dirty="0"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US" dirty="0">
              <a:latin typeface="Bookman Old Style" panose="0205060405050502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0E955C-82AF-CB14-6894-070B869484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4570" b="30879"/>
          <a:stretch/>
        </p:blipFill>
        <p:spPr>
          <a:xfrm>
            <a:off x="3891167" y="2461732"/>
            <a:ext cx="5460560" cy="3555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FF40BB-57DA-A69F-1103-22A8FF5822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802"/>
          <a:stretch/>
        </p:blipFill>
        <p:spPr>
          <a:xfrm>
            <a:off x="3891165" y="2461732"/>
            <a:ext cx="5454595" cy="35557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1501B4E-2F8C-B963-0CA2-9898B14D3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5199" y="2461733"/>
            <a:ext cx="5466527" cy="35557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88201B-BF49-CB52-4E62-0CFFC52A32E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8385" b="22666"/>
          <a:stretch/>
        </p:blipFill>
        <p:spPr>
          <a:xfrm>
            <a:off x="3885199" y="2461731"/>
            <a:ext cx="5454595" cy="35860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399EB4-C88F-FB3B-1D9E-5C8833F77CA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7198" t="11815" r="12983" b="11815"/>
          <a:stretch/>
        </p:blipFill>
        <p:spPr>
          <a:xfrm>
            <a:off x="3885199" y="2461730"/>
            <a:ext cx="5454596" cy="35860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E7D73B-EB4E-B1EB-1697-E174EBF6E3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5199" y="2461730"/>
            <a:ext cx="5466527" cy="35860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B8CD080-53A9-4F3E-A4F1-B3EACE32E9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85198" y="2461728"/>
            <a:ext cx="5454596" cy="35860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A07D3C-B5A2-22D1-EB6F-3F7307E09F9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85198" y="2461728"/>
            <a:ext cx="5454595" cy="3586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730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C3FAB-1AA4-96DC-C15F-CB3020AA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413B9F3-1918-C760-E0EA-4C40A84A2409}"/>
              </a:ext>
            </a:extLst>
          </p:cNvPr>
          <p:cNvSpPr/>
          <p:nvPr/>
        </p:nvSpPr>
        <p:spPr>
          <a:xfrm>
            <a:off x="4023360" y="2576223"/>
            <a:ext cx="5454595" cy="3586038"/>
          </a:xfrm>
          <a:prstGeom prst="rect">
            <a:avLst/>
          </a:prstGeom>
          <a:solidFill>
            <a:schemeClr val="tx1">
              <a:alpha val="44000"/>
            </a:schemeClr>
          </a:solidFill>
          <a:effectLst>
            <a:softEdge rad="50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B08124-DCDF-F9F5-0B10-46D5128C8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367746"/>
            <a:ext cx="10499697" cy="1253431"/>
          </a:xfrm>
        </p:spPr>
        <p:txBody>
          <a:bodyPr/>
          <a:lstStyle/>
          <a:p>
            <a:r>
              <a:rPr lang="en-IN" dirty="0">
                <a:latin typeface="Bookman Old Style" panose="02050604050505020204" pitchFamily="18" charset="0"/>
              </a:rPr>
              <a:t>Email Engagement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E1C4F92-F54C-5E96-A92A-25332221B6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1621178"/>
            <a:ext cx="10499697" cy="5129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b="1" u="sng" dirty="0">
                <a:latin typeface="Bookman Old Style" panose="02050604050505020204" pitchFamily="18" charset="0"/>
              </a:rPr>
              <a:t>Objective</a:t>
            </a:r>
            <a:r>
              <a:rPr lang="en-US" dirty="0">
                <a:latin typeface="Bookman Old Style" panose="02050604050505020204" pitchFamily="18" charset="0"/>
              </a:rPr>
              <a:t>: Analyze how users are engaging with the email service.</a:t>
            </a:r>
          </a:p>
          <a:p>
            <a:pPr marL="0" indent="0">
              <a:buNone/>
            </a:pPr>
            <a:endParaRPr lang="en-IN" sz="2000" b="1" i="0" u="sng" dirty="0">
              <a:latin typeface="Bookman Old Style" panose="02050604050505020204" pitchFamily="18" charset="0"/>
            </a:endParaRPr>
          </a:p>
          <a:p>
            <a:r>
              <a:rPr lang="en-IN" sz="2000" b="1" i="0" u="sng" dirty="0">
                <a:latin typeface="Bookman Old Style" panose="02050604050505020204" pitchFamily="18" charset="0"/>
              </a:rPr>
              <a:t>SQL Query</a:t>
            </a:r>
            <a:r>
              <a:rPr lang="en-IN" sz="2000" i="0" dirty="0">
                <a:latin typeface="Bookman Old Style" panose="02050604050505020204" pitchFamily="18" charset="0"/>
              </a:rPr>
              <a:t>: 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endParaRPr lang="en-IN" sz="2000" i="0" dirty="0">
              <a:latin typeface="Bookman Old Style" panose="02050604050505020204" pitchFamily="18" charset="0"/>
            </a:endParaRPr>
          </a:p>
          <a:p>
            <a:endParaRPr lang="en-IN" dirty="0"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IN" dirty="0">
              <a:latin typeface="Bookman Old Style" panose="02050604050505020204" pitchFamily="18" charset="0"/>
            </a:endParaRPr>
          </a:p>
          <a:p>
            <a:endParaRPr lang="en-IN" sz="2000" i="0" dirty="0">
              <a:latin typeface="Bookman Old Style" panose="02050604050505020204" pitchFamily="18" charset="0"/>
            </a:endParaRPr>
          </a:p>
          <a:p>
            <a:pPr marL="2359152" lvl="5" indent="0">
              <a:buNone/>
            </a:pPr>
            <a:endParaRPr lang="en-US" b="1" u="sng" dirty="0">
              <a:latin typeface="Bookman Old Style" panose="02050604050505020204" pitchFamily="18" charset="0"/>
            </a:endParaRPr>
          </a:p>
          <a:p>
            <a:pPr marL="2359152" lvl="5" indent="0">
              <a:buNone/>
            </a:pPr>
            <a:endParaRPr lang="en-US" sz="2000" b="1" u="sng" dirty="0">
              <a:latin typeface="Bookman Old Style" panose="02050604050505020204" pitchFamily="18" charset="0"/>
            </a:endParaRPr>
          </a:p>
          <a:p>
            <a:pPr marL="2359152" lvl="5" indent="0">
              <a:buNone/>
            </a:pPr>
            <a:endParaRPr lang="en-US" sz="1800" b="1" u="sng" dirty="0">
              <a:latin typeface="Bookman Old Style" panose="02050604050505020204" pitchFamily="18" charset="0"/>
            </a:endParaRPr>
          </a:p>
          <a:p>
            <a:r>
              <a:rPr lang="en-US" b="1" u="sng" dirty="0">
                <a:latin typeface="Bookman Old Style" panose="02050604050505020204" pitchFamily="18" charset="0"/>
              </a:rPr>
              <a:t>Insight</a:t>
            </a:r>
            <a:r>
              <a:rPr lang="en-US" dirty="0"/>
              <a:t>: </a:t>
            </a:r>
            <a:r>
              <a:rPr lang="en-US" sz="1800" dirty="0">
                <a:latin typeface="Bookman Old Style" panose="02050604050505020204" pitchFamily="18" charset="0"/>
              </a:rPr>
              <a:t>The query calculates email engagement rates, highlighting content or targeting issues.</a:t>
            </a:r>
            <a:endParaRPr lang="en-US" dirty="0"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US" dirty="0">
              <a:latin typeface="Bookman Old Style" panose="0205060405050502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155D32-F77F-0D1E-2E58-1BC873EF57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4570" b="30879"/>
          <a:stretch/>
        </p:blipFill>
        <p:spPr>
          <a:xfrm>
            <a:off x="3891167" y="2461732"/>
            <a:ext cx="5460560" cy="3555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F2A093-35E6-74DB-3F06-00D2C4E2B0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802"/>
          <a:stretch/>
        </p:blipFill>
        <p:spPr>
          <a:xfrm>
            <a:off x="3891165" y="2461732"/>
            <a:ext cx="5454595" cy="35557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64815C-F302-3A94-BA0A-1803ADA069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5199" y="2461733"/>
            <a:ext cx="5466527" cy="35557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F201B20-9213-770D-135F-E7921E08BBA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8385" b="22666"/>
          <a:stretch/>
        </p:blipFill>
        <p:spPr>
          <a:xfrm>
            <a:off x="3885199" y="2461731"/>
            <a:ext cx="5454595" cy="35860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18CC71F-416F-E750-BF3C-B7309DC9583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7198" t="11815" r="12983" b="11815"/>
          <a:stretch/>
        </p:blipFill>
        <p:spPr>
          <a:xfrm>
            <a:off x="3885199" y="2461730"/>
            <a:ext cx="5454596" cy="35860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840971-A7BA-A505-B889-0AA87AF227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5199" y="2461730"/>
            <a:ext cx="5466527" cy="35860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BDC89F4-9903-41AD-D1E8-942B74C750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85198" y="2461728"/>
            <a:ext cx="5454596" cy="35860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61040C8-01C7-57A5-6A56-F120255B15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85198" y="2461728"/>
            <a:ext cx="5454595" cy="35860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5705474-FE30-53EF-CD2F-531A9E0BC6A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73265" y="2461728"/>
            <a:ext cx="5466528" cy="3586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526950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D9A38F-9A2C-42E5-9013-4C4B1FFCB4F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8C45FB24-BEC6-4D44-888B-84AEBBA2DC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7ECF6D8-9EA4-45A1-AFEB-B7C326AF08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Crop design</Template>
  <TotalTime>272</TotalTime>
  <Words>479</Words>
  <Application>Microsoft Office PowerPoint</Application>
  <PresentationFormat>Widescreen</PresentationFormat>
  <Paragraphs>157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Bookman Old Style</vt:lpstr>
      <vt:lpstr>Calibri</vt:lpstr>
      <vt:lpstr>Franklin Gothic Book</vt:lpstr>
      <vt:lpstr>Wingdings</vt:lpstr>
      <vt:lpstr>Crop</vt:lpstr>
      <vt:lpstr>Operation Analytics and Investigating Metric Spike</vt:lpstr>
      <vt:lpstr>Project Overview</vt:lpstr>
      <vt:lpstr>Tech Stack</vt:lpstr>
      <vt:lpstr>Case Study 1: Job Data Analysis</vt:lpstr>
      <vt:lpstr>Jobs Reviewed Over Time</vt:lpstr>
      <vt:lpstr>Throughput Analysis</vt:lpstr>
      <vt:lpstr>Language Share Analysis</vt:lpstr>
      <vt:lpstr>Duplicate Rows Detection</vt:lpstr>
      <vt:lpstr>Case Study 2: Investigating Metric Spikes</vt:lpstr>
      <vt:lpstr>Weekly User Engagement</vt:lpstr>
      <vt:lpstr>User Growth Analysis</vt:lpstr>
      <vt:lpstr>Weekly Retention Analysis</vt:lpstr>
      <vt:lpstr>Weekly Engagement Per Device</vt:lpstr>
      <vt:lpstr>Email Engagement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Mohak Shah</dc:creator>
  <cp:lastModifiedBy>Mohak Shah</cp:lastModifiedBy>
  <cp:revision>2</cp:revision>
  <dcterms:created xsi:type="dcterms:W3CDTF">2024-12-31T13:41:25Z</dcterms:created>
  <dcterms:modified xsi:type="dcterms:W3CDTF">2024-12-31T18:13:35Z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