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4630400" cy="8229600"/>
  <p:notesSz cx="8229600" cy="14630400"/>
  <p:embeddedFontLst>
    <p:embeddedFont>
      <p:font typeface="Heebo Bold" panose="020B0604020202020204" charset="-79"/>
      <p:bold r:id="rId14"/>
    </p:embeddedFont>
    <p:embeddedFont>
      <p:font typeface="Heebo Light" pitchFamily="2" charset="-79"/>
      <p:regular r:id="rId15"/>
    </p:embeddedFont>
    <p:embeddedFont>
      <p:font typeface="Montserrat" panose="000005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32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9702-D48D-009D-2F24-0023939A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0F79C-2E43-F8DD-CAB0-D266859B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7A691-28FD-F320-DAFD-41E461447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64F03-F0C6-88DE-829C-B363EC7CA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4DB9-470C-6D73-2DD1-47FE88E3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E34CB-1B92-FCA3-2DF8-42A807270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DB090-5A30-542A-A131-902231FD8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96465-E0C6-B546-6C2F-384952159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5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ABC Call Volume Trend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Transforming insurance call centers through data-driven customer experience strategies.</a:t>
            </a:r>
            <a:endParaRPr lang="en-US" sz="17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009588-224C-B93E-D345-E59383FE6368}"/>
              </a:ext>
            </a:extLst>
          </p:cNvPr>
          <p:cNvGrpSpPr/>
          <p:nvPr/>
        </p:nvGrpSpPr>
        <p:grpSpPr>
          <a:xfrm>
            <a:off x="793790" y="7180451"/>
            <a:ext cx="2433995" cy="396835"/>
            <a:chOff x="793790" y="5285661"/>
            <a:chExt cx="2433995" cy="396835"/>
          </a:xfrm>
        </p:grpSpPr>
        <p:sp>
          <p:nvSpPr>
            <p:cNvPr id="5" name="Shape 2"/>
            <p:cNvSpPr/>
            <p:nvPr/>
          </p:nvSpPr>
          <p:spPr>
            <a:xfrm>
              <a:off x="793790" y="5302568"/>
              <a:ext cx="362903" cy="362903"/>
            </a:xfrm>
            <a:prstGeom prst="roundRect">
              <a:avLst>
                <a:gd name="adj" fmla="val 25194296"/>
              </a:avLst>
            </a:prstGeom>
            <a:noFill/>
            <a:ln w="7620">
              <a:solidFill>
                <a:srgbClr val="FFFFFF"/>
              </a:solidFill>
              <a:prstDash val="solid"/>
            </a:ln>
          </p:spPr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410" y="5310188"/>
              <a:ext cx="347663" cy="34766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270040" y="5285661"/>
              <a:ext cx="1957745" cy="3968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100"/>
                </a:lnSpc>
                <a:buNone/>
              </a:pPr>
              <a:r>
                <a:rPr lang="en-US" sz="2200" b="1" dirty="0">
                  <a:solidFill>
                    <a:srgbClr val="DCD7E5"/>
                  </a:solidFill>
                  <a:latin typeface="Heebo Bold" pitchFamily="34" charset="0"/>
                  <a:ea typeface="Heebo Bold" pitchFamily="34" charset="-122"/>
                  <a:cs typeface="Heebo Bold" pitchFamily="34" charset="-120"/>
                </a:rPr>
                <a:t>by Mohak Shah</a:t>
              </a:r>
              <a:endParaRPr lang="en-US" sz="2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2325"/>
            <a:ext cx="7327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Power of CX Analytics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88080"/>
            <a:ext cx="3154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692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Uncover hidden patterns. Improve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satisfaction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88080"/>
            <a:ext cx="3497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 Improvements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6922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Optimize resources. Predict customer needs. Enhance agent performance.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542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CX analytics drives efficiency. It also ensures happier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753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2430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718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Insights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208514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Agent Name. Agent ID.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492430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718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Metrics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208514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Queue Time. Call Duration.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492430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718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Details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208514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Call Status. Time Bucket.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68265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Comprehensive data to understand. It is essential for improving the customer journey.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4E1D-1629-E044-D113-2C46B9BA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6A52BEC-12E1-0315-6D6C-F86862D6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3E70A7D-1C2A-BC2C-C493-C5397F61C4AD}"/>
              </a:ext>
            </a:extLst>
          </p:cNvPr>
          <p:cNvSpPr/>
          <p:nvPr/>
        </p:nvSpPr>
        <p:spPr>
          <a:xfrm>
            <a:off x="793790" y="38753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Overview</a:t>
            </a:r>
            <a:endParaRPr lang="en-US" sz="445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E8427CF3-4E30-EF95-A610-C23DEEEDA0A9}"/>
              </a:ext>
            </a:extLst>
          </p:cNvPr>
          <p:cNvSpPr/>
          <p:nvPr/>
        </p:nvSpPr>
        <p:spPr>
          <a:xfrm>
            <a:off x="793789" y="5269884"/>
            <a:ext cx="4211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Call Duration Analysis</a:t>
            </a:r>
            <a:endParaRPr lang="en-US" sz="28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32892380-BB8E-6039-C1DD-FAB4909E4D9E}"/>
              </a:ext>
            </a:extLst>
          </p:cNvPr>
          <p:cNvSpPr/>
          <p:nvPr/>
        </p:nvSpPr>
        <p:spPr>
          <a:xfrm>
            <a:off x="3629085" y="6664403"/>
            <a:ext cx="4211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Call Volume Analysis</a:t>
            </a:r>
            <a:endParaRPr lang="en-US" sz="28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6CAACD0-6978-2A43-C737-EAE78B97537C}"/>
              </a:ext>
            </a:extLst>
          </p:cNvPr>
          <p:cNvSpPr/>
          <p:nvPr/>
        </p:nvSpPr>
        <p:spPr>
          <a:xfrm>
            <a:off x="7054758" y="5269884"/>
            <a:ext cx="4211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Man Power Planning</a:t>
            </a:r>
            <a:endParaRPr lang="en-US" sz="28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FEB9EC9E-3C4C-3F3A-2B30-980F20B79F51}"/>
              </a:ext>
            </a:extLst>
          </p:cNvPr>
          <p:cNvSpPr/>
          <p:nvPr/>
        </p:nvSpPr>
        <p:spPr>
          <a:xfrm>
            <a:off x="9958214" y="6664402"/>
            <a:ext cx="4211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Night Shift Planning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249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490895"/>
            <a:ext cx="675215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Call Duration Analysis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1405771"/>
            <a:ext cx="10531316" cy="5897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40" y="7504033"/>
            <a:ext cx="1338072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Peak call durations occur in evening. This data suggests staffing adjustments are needed during these times.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490895"/>
            <a:ext cx="4463058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Volume Trends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1405771"/>
            <a:ext cx="10531316" cy="5897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40" y="7504033"/>
            <a:ext cx="1338072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Call volume peaks around lunchtime. This data drives effective resource allocation. Adjust staffing levels accordingly.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463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Manpower Planning for Reduced Abandon Rate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592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73904" y="3444240"/>
            <a:ext cx="1228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35922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Abandon Rate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203978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30% is too high.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3592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0339" y="3444240"/>
            <a:ext cx="1932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35922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Abandon Rate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203978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Aim for 10% or less.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0488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9376" y="5133856"/>
            <a:ext cx="19192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048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Optimal Staffing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53926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 agents per bucket.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280190" y="615731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Reduce abandon rates. Balance staffing requirements with projected call volumes.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DE6618-B16F-A3F2-2524-DC2A527C1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614005"/>
            <a:ext cx="7580948" cy="13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Night Shift Manpower Planning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587609" y="2344579"/>
            <a:ext cx="30480" cy="4306253"/>
          </a:xfrm>
          <a:prstGeom prst="roundRect">
            <a:avLst>
              <a:gd name="adj" fmla="val 307713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6823591" y="2831783"/>
            <a:ext cx="781526" cy="30480"/>
          </a:xfrm>
          <a:prstGeom prst="roundRect">
            <a:avLst>
              <a:gd name="adj" fmla="val 307713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6351627" y="2595801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2365" y="2679502"/>
            <a:ext cx="120968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30979" y="2567821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Night Calls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30979" y="3050619"/>
            <a:ext cx="601789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peak times.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23591" y="4341614"/>
            <a:ext cx="781526" cy="30480"/>
          </a:xfrm>
          <a:prstGeom prst="roundRect">
            <a:avLst>
              <a:gd name="adj" fmla="val 307713"/>
            </a:avLst>
          </a:prstGeom>
          <a:solidFill>
            <a:srgbClr val="4A2C85"/>
          </a:solidFill>
          <a:ln/>
        </p:spPr>
      </p:sp>
      <p:sp>
        <p:nvSpPr>
          <p:cNvPr id="11" name="Shape 8"/>
          <p:cNvSpPr/>
          <p:nvPr/>
        </p:nvSpPr>
        <p:spPr>
          <a:xfrm>
            <a:off x="6351627" y="4105632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718" y="4189333"/>
            <a:ext cx="190262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30979" y="4077653"/>
            <a:ext cx="383071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 Additional Agents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30979" y="4560451"/>
            <a:ext cx="601789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Address customer needs.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23591" y="5851446"/>
            <a:ext cx="781526" cy="30480"/>
          </a:xfrm>
          <a:prstGeom prst="roundRect">
            <a:avLst>
              <a:gd name="adj" fmla="val 307713"/>
            </a:avLst>
          </a:prstGeom>
          <a:solidFill>
            <a:srgbClr val="4A2C85"/>
          </a:solidFill>
          <a:ln/>
        </p:spPr>
      </p:sp>
      <p:sp>
        <p:nvSpPr>
          <p:cNvPr id="16" name="Shape 13"/>
          <p:cNvSpPr/>
          <p:nvPr/>
        </p:nvSpPr>
        <p:spPr>
          <a:xfrm>
            <a:off x="6351627" y="5615464"/>
            <a:ext cx="502444" cy="50244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8433" y="5699165"/>
            <a:ext cx="188833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30979" y="5587484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CX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30979" y="6070283"/>
            <a:ext cx="601789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 24/7 service.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267926" y="6902053"/>
            <a:ext cx="7580948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Night shift staffing is crucial. Meet customer expectations. Enhance their overall experience.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0A1A5F-D2CC-E388-8045-FD86BAA80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5485607" cy="8229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264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&amp; 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90361"/>
            <a:ext cx="3664863" cy="1676519"/>
          </a:xfrm>
          <a:prstGeom prst="roundRect">
            <a:avLst>
              <a:gd name="adj" fmla="val 568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124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CX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615214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Happier customers.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90361"/>
            <a:ext cx="3664863" cy="1676519"/>
          </a:xfrm>
          <a:prstGeom prst="roundRect">
            <a:avLst>
              <a:gd name="adj" fmla="val 568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124795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Workforce Optimization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969544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Efficient resource use.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9369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028128"/>
            <a:ext cx="3393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Abandon Rate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51854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Less frustration.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37103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These recommendations aim to enhance. They also improve operational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 &amp; Next Steps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Prioritize CX analytics. It will transform your call center. Better customer service is your end goal.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data-driven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79D2-A14A-CB83-5AD7-6298CA91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0BF25C3-3B21-9BBE-7431-F99F69F473ED}"/>
              </a:ext>
            </a:extLst>
          </p:cNvPr>
          <p:cNvSpPr/>
          <p:nvPr/>
        </p:nvSpPr>
        <p:spPr>
          <a:xfrm>
            <a:off x="793790" y="256401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Set &amp; Video Link</a:t>
            </a:r>
            <a:endParaRPr lang="en-US" sz="44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D56C3A-5B78-A196-DA3A-A885760991BB}"/>
              </a:ext>
            </a:extLst>
          </p:cNvPr>
          <p:cNvGrpSpPr/>
          <p:nvPr/>
        </p:nvGrpSpPr>
        <p:grpSpPr>
          <a:xfrm>
            <a:off x="793790" y="4321731"/>
            <a:ext cx="7556421" cy="866339"/>
            <a:chOff x="793790" y="4321731"/>
            <a:chExt cx="7556421" cy="866339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25A2E3F0-627F-BD2A-F30E-3CB7259CF28E}"/>
                </a:ext>
              </a:extLst>
            </p:cNvPr>
            <p:cNvSpPr/>
            <p:nvPr/>
          </p:nvSpPr>
          <p:spPr>
            <a:xfrm>
              <a:off x="793790" y="4321731"/>
              <a:ext cx="7556421" cy="362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Dataset</a:t>
              </a:r>
              <a:endParaRPr lang="en-US" sz="175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39CE216B-16A7-04D9-00ED-C2E580D4AADF}"/>
                </a:ext>
              </a:extLst>
            </p:cNvPr>
            <p:cNvSpPr/>
            <p:nvPr/>
          </p:nvSpPr>
          <p:spPr>
            <a:xfrm>
              <a:off x="793790" y="4825167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https://docs.google.com/spreadsheets/d/1aE90aHBpkW0oO1qE-wqKVfa2pDGWovWq/edit?gid=1468500971#gid=1468500971</a:t>
              </a:r>
              <a:endParaRPr lang="en-US" sz="1750" dirty="0"/>
            </a:p>
          </p:txBody>
        </p: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63AEC78B-3880-B961-8D4C-6C6869A9D88A}"/>
              </a:ext>
            </a:extLst>
          </p:cNvPr>
          <p:cNvSpPr/>
          <p:nvPr/>
        </p:nvSpPr>
        <p:spPr>
          <a:xfrm>
            <a:off x="793789" y="5649160"/>
            <a:ext cx="755642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Video Link</a:t>
            </a:r>
            <a:endParaRPr lang="en-US" sz="17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6ADF9DA-80BA-EEE9-6917-B23186F67C00}"/>
              </a:ext>
            </a:extLst>
          </p:cNvPr>
          <p:cNvSpPr/>
          <p:nvPr/>
        </p:nvSpPr>
        <p:spPr>
          <a:xfrm>
            <a:off x="793789" y="6152596"/>
            <a:ext cx="11733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https://www.loom.com/share/5240687100f9446096f602bb5dfcaf7b?sid=c3fca49a-aa07-47e3-b54f-846e07ed38e9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75453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367</Words>
  <Application>Microsoft Office PowerPoint</Application>
  <PresentationFormat>Custom</PresentationFormat>
  <Paragraphs>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</vt:lpstr>
      <vt:lpstr>Heebo Bold</vt:lpstr>
      <vt:lpstr>Heebo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Mohak Shah</cp:lastModifiedBy>
  <cp:revision>4</cp:revision>
  <dcterms:created xsi:type="dcterms:W3CDTF">2025-03-03T14:10:06Z</dcterms:created>
  <dcterms:modified xsi:type="dcterms:W3CDTF">2025-03-07T14:28:50Z</dcterms:modified>
</cp:coreProperties>
</file>