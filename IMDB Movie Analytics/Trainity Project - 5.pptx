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4"/>
  </p:notesMasterIdLst>
  <p:sldIdLst>
    <p:sldId id="256" r:id="rId2"/>
    <p:sldId id="258" r:id="rId3"/>
    <p:sldId id="290" r:id="rId4"/>
    <p:sldId id="292" r:id="rId5"/>
    <p:sldId id="257" r:id="rId6"/>
    <p:sldId id="281" r:id="rId7"/>
    <p:sldId id="260" r:id="rId8"/>
    <p:sldId id="275" r:id="rId9"/>
    <p:sldId id="282" r:id="rId10"/>
    <p:sldId id="283" r:id="rId11"/>
    <p:sldId id="276" r:id="rId12"/>
    <p:sldId id="284" r:id="rId13"/>
    <p:sldId id="285" r:id="rId14"/>
    <p:sldId id="277" r:id="rId15"/>
    <p:sldId id="287" r:id="rId16"/>
    <p:sldId id="286" r:id="rId17"/>
    <p:sldId id="278" r:id="rId18"/>
    <p:sldId id="288" r:id="rId19"/>
    <p:sldId id="289" r:id="rId20"/>
    <p:sldId id="279" r:id="rId21"/>
    <p:sldId id="280" r:id="rId22"/>
    <p:sldId id="272" r:id="rId23"/>
  </p:sldIdLst>
  <p:sldSz cx="18288000" cy="10287000"/>
  <p:notesSz cx="6858000" cy="9144000"/>
  <p:embeddedFontLst>
    <p:embeddedFont>
      <p:font typeface="Libre Baskerville" panose="02000000000000000000" pitchFamily="2" charset="0"/>
      <p:regular r:id="rId25"/>
      <p:bold r:id="rId26"/>
      <p:italic r:id="rId27"/>
    </p:embeddedFont>
    <p:embeddedFont>
      <p:font typeface="Poppins" panose="00000500000000000000" pitchFamily="2"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75" autoAdjust="0"/>
    <p:restoredTop sz="94660"/>
  </p:normalViewPr>
  <p:slideViewPr>
    <p:cSldViewPr snapToGrid="0">
      <p:cViewPr>
        <p:scale>
          <a:sx n="64" d="100"/>
          <a:sy n="64" d="100"/>
        </p:scale>
        <p:origin x="154" y="19"/>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A4A1903A-B8B5-B915-C697-B9802C50F7B4}"/>
            </a:ext>
          </a:extLst>
        </p:cNvPr>
        <p:cNvGrpSpPr/>
        <p:nvPr/>
      </p:nvGrpSpPr>
      <p:grpSpPr>
        <a:xfrm>
          <a:off x="0" y="0"/>
          <a:ext cx="0" cy="0"/>
          <a:chOff x="0" y="0"/>
          <a:chExt cx="0" cy="0"/>
        </a:xfrm>
      </p:grpSpPr>
      <p:sp>
        <p:nvSpPr>
          <p:cNvPr id="105" name="Google Shape;105;p3:notes">
            <a:extLst>
              <a:ext uri="{FF2B5EF4-FFF2-40B4-BE49-F238E27FC236}">
                <a16:creationId xmlns:a16="http://schemas.microsoft.com/office/drawing/2014/main" id="{99B557AB-C33C-2260-875E-3672AB06D4E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3:notes">
            <a:extLst>
              <a:ext uri="{FF2B5EF4-FFF2-40B4-BE49-F238E27FC236}">
                <a16:creationId xmlns:a16="http://schemas.microsoft.com/office/drawing/2014/main" id="{B08BE3E2-66CD-C4BC-0B59-D494A7FBC9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57709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AACB871C-48A1-A3C0-0730-26019B65A7A0}"/>
            </a:ext>
          </a:extLst>
        </p:cNvPr>
        <p:cNvGrpSpPr/>
        <p:nvPr/>
      </p:nvGrpSpPr>
      <p:grpSpPr>
        <a:xfrm>
          <a:off x="0" y="0"/>
          <a:ext cx="0" cy="0"/>
          <a:chOff x="0" y="0"/>
          <a:chExt cx="0" cy="0"/>
        </a:xfrm>
      </p:grpSpPr>
      <p:sp>
        <p:nvSpPr>
          <p:cNvPr id="105" name="Google Shape;105;p3:notes">
            <a:extLst>
              <a:ext uri="{FF2B5EF4-FFF2-40B4-BE49-F238E27FC236}">
                <a16:creationId xmlns:a16="http://schemas.microsoft.com/office/drawing/2014/main" id="{0F2657A9-B402-7AD4-D44E-5537D36A0AF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3:notes">
            <a:extLst>
              <a:ext uri="{FF2B5EF4-FFF2-40B4-BE49-F238E27FC236}">
                <a16:creationId xmlns:a16="http://schemas.microsoft.com/office/drawing/2014/main" id="{D6026628-73D1-82B9-896F-6795D392AA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33571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FC68D388-DE5C-708E-5911-A6AF2760BA9B}"/>
            </a:ext>
          </a:extLst>
        </p:cNvPr>
        <p:cNvGrpSpPr/>
        <p:nvPr/>
      </p:nvGrpSpPr>
      <p:grpSpPr>
        <a:xfrm>
          <a:off x="0" y="0"/>
          <a:ext cx="0" cy="0"/>
          <a:chOff x="0" y="0"/>
          <a:chExt cx="0" cy="0"/>
        </a:xfrm>
      </p:grpSpPr>
      <p:sp>
        <p:nvSpPr>
          <p:cNvPr id="133" name="Google Shape;133;p5:notes">
            <a:extLst>
              <a:ext uri="{FF2B5EF4-FFF2-40B4-BE49-F238E27FC236}">
                <a16:creationId xmlns:a16="http://schemas.microsoft.com/office/drawing/2014/main" id="{F0DBAE9E-D267-C4CC-84B8-731D2DBFD5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5:notes">
            <a:extLst>
              <a:ext uri="{FF2B5EF4-FFF2-40B4-BE49-F238E27FC236}">
                <a16:creationId xmlns:a16="http://schemas.microsoft.com/office/drawing/2014/main" id="{74D0A205-BF6F-1353-0D63-94AA164A38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2731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87745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413858D8-B505-C151-9458-AEF8DF65EED2}"/>
            </a:ext>
          </a:extLst>
        </p:cNvPr>
        <p:cNvGrpSpPr/>
        <p:nvPr/>
      </p:nvGrpSpPr>
      <p:grpSpPr>
        <a:xfrm>
          <a:off x="0" y="0"/>
          <a:ext cx="0" cy="0"/>
          <a:chOff x="0" y="0"/>
          <a:chExt cx="0" cy="0"/>
        </a:xfrm>
      </p:grpSpPr>
      <p:sp>
        <p:nvSpPr>
          <p:cNvPr id="133" name="Google Shape;133;p5:notes">
            <a:extLst>
              <a:ext uri="{FF2B5EF4-FFF2-40B4-BE49-F238E27FC236}">
                <a16:creationId xmlns:a16="http://schemas.microsoft.com/office/drawing/2014/main" id="{27C2D2B7-58A6-C5DE-37D2-39822501FA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5:notes">
            <a:extLst>
              <a:ext uri="{FF2B5EF4-FFF2-40B4-BE49-F238E27FC236}">
                <a16:creationId xmlns:a16="http://schemas.microsoft.com/office/drawing/2014/main" id="{8A2F5B7A-4AC0-34D7-E0A1-1F1370B4F9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29584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F120BBA5-6DDE-2D2A-742D-7E14133047A0}"/>
            </a:ext>
          </a:extLst>
        </p:cNvPr>
        <p:cNvGrpSpPr/>
        <p:nvPr/>
      </p:nvGrpSpPr>
      <p:grpSpPr>
        <a:xfrm>
          <a:off x="0" y="0"/>
          <a:ext cx="0" cy="0"/>
          <a:chOff x="0" y="0"/>
          <a:chExt cx="0" cy="0"/>
        </a:xfrm>
      </p:grpSpPr>
      <p:sp>
        <p:nvSpPr>
          <p:cNvPr id="133" name="Google Shape;133;p5:notes">
            <a:extLst>
              <a:ext uri="{FF2B5EF4-FFF2-40B4-BE49-F238E27FC236}">
                <a16:creationId xmlns:a16="http://schemas.microsoft.com/office/drawing/2014/main" id="{9DB56F02-14E7-2D71-42D0-CC90A0014D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5:notes">
            <a:extLst>
              <a:ext uri="{FF2B5EF4-FFF2-40B4-BE49-F238E27FC236}">
                <a16:creationId xmlns:a16="http://schemas.microsoft.com/office/drawing/2014/main" id="{357F9413-FE05-0929-91B8-EFB631346D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987432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a:extLst>
            <a:ext uri="{FF2B5EF4-FFF2-40B4-BE49-F238E27FC236}">
              <a16:creationId xmlns:a16="http://schemas.microsoft.com/office/drawing/2014/main" id="{A55850E1-0ED3-8F74-8D8D-8D3D05D0EC2F}"/>
            </a:ext>
          </a:extLst>
        </p:cNvPr>
        <p:cNvGrpSpPr/>
        <p:nvPr/>
      </p:nvGrpSpPr>
      <p:grpSpPr>
        <a:xfrm>
          <a:off x="0" y="0"/>
          <a:ext cx="0" cy="0"/>
          <a:chOff x="0" y="0"/>
          <a:chExt cx="0" cy="0"/>
        </a:xfrm>
      </p:grpSpPr>
      <p:sp>
        <p:nvSpPr>
          <p:cNvPr id="119" name="Google Shape;119;p4:notes">
            <a:extLst>
              <a:ext uri="{FF2B5EF4-FFF2-40B4-BE49-F238E27FC236}">
                <a16:creationId xmlns:a16="http://schemas.microsoft.com/office/drawing/2014/main" id="{4388697E-789E-1416-5506-5CC69ACE2D4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4:notes">
            <a:extLst>
              <a:ext uri="{FF2B5EF4-FFF2-40B4-BE49-F238E27FC236}">
                <a16:creationId xmlns:a16="http://schemas.microsoft.com/office/drawing/2014/main" id="{B16461D1-791E-1407-3457-65CD0256AD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417383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BD47772C-EE41-788A-C90C-BDD33011B183}"/>
            </a:ext>
          </a:extLst>
        </p:cNvPr>
        <p:cNvGrpSpPr/>
        <p:nvPr/>
      </p:nvGrpSpPr>
      <p:grpSpPr>
        <a:xfrm>
          <a:off x="0" y="0"/>
          <a:ext cx="0" cy="0"/>
          <a:chOff x="0" y="0"/>
          <a:chExt cx="0" cy="0"/>
        </a:xfrm>
      </p:grpSpPr>
      <p:sp>
        <p:nvSpPr>
          <p:cNvPr id="133" name="Google Shape;133;p5:notes">
            <a:extLst>
              <a:ext uri="{FF2B5EF4-FFF2-40B4-BE49-F238E27FC236}">
                <a16:creationId xmlns:a16="http://schemas.microsoft.com/office/drawing/2014/main" id="{ACF3F67B-0B6A-3D74-3B1E-C82C54E4B3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5:notes">
            <a:extLst>
              <a:ext uri="{FF2B5EF4-FFF2-40B4-BE49-F238E27FC236}">
                <a16:creationId xmlns:a16="http://schemas.microsoft.com/office/drawing/2014/main" id="{F5855E9F-9A73-098E-1B7A-E84D84E612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97675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337D8BCA-86F7-92FC-7341-A393BBF15E25}"/>
            </a:ext>
          </a:extLst>
        </p:cNvPr>
        <p:cNvGrpSpPr/>
        <p:nvPr/>
      </p:nvGrpSpPr>
      <p:grpSpPr>
        <a:xfrm>
          <a:off x="0" y="0"/>
          <a:ext cx="0" cy="0"/>
          <a:chOff x="0" y="0"/>
          <a:chExt cx="0" cy="0"/>
        </a:xfrm>
      </p:grpSpPr>
      <p:sp>
        <p:nvSpPr>
          <p:cNvPr id="133" name="Google Shape;133;p5:notes">
            <a:extLst>
              <a:ext uri="{FF2B5EF4-FFF2-40B4-BE49-F238E27FC236}">
                <a16:creationId xmlns:a16="http://schemas.microsoft.com/office/drawing/2014/main" id="{A16DE516-FAF6-87D5-F99F-88F7A777FA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5:notes">
            <a:extLst>
              <a:ext uri="{FF2B5EF4-FFF2-40B4-BE49-F238E27FC236}">
                <a16:creationId xmlns:a16="http://schemas.microsoft.com/office/drawing/2014/main" id="{52188CD7-D068-F656-F636-9DFCC168EE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383719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a:extLst>
            <a:ext uri="{FF2B5EF4-FFF2-40B4-BE49-F238E27FC236}">
              <a16:creationId xmlns:a16="http://schemas.microsoft.com/office/drawing/2014/main" id="{CD93E152-9C92-2A6B-56CF-F24F2B45109B}"/>
            </a:ext>
          </a:extLst>
        </p:cNvPr>
        <p:cNvGrpSpPr/>
        <p:nvPr/>
      </p:nvGrpSpPr>
      <p:grpSpPr>
        <a:xfrm>
          <a:off x="0" y="0"/>
          <a:ext cx="0" cy="0"/>
          <a:chOff x="0" y="0"/>
          <a:chExt cx="0" cy="0"/>
        </a:xfrm>
      </p:grpSpPr>
      <p:sp>
        <p:nvSpPr>
          <p:cNvPr id="119" name="Google Shape;119;p4:notes">
            <a:extLst>
              <a:ext uri="{FF2B5EF4-FFF2-40B4-BE49-F238E27FC236}">
                <a16:creationId xmlns:a16="http://schemas.microsoft.com/office/drawing/2014/main" id="{C5CC317D-9A2B-157A-84E4-1C6B5575D7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4:notes">
            <a:extLst>
              <a:ext uri="{FF2B5EF4-FFF2-40B4-BE49-F238E27FC236}">
                <a16:creationId xmlns:a16="http://schemas.microsoft.com/office/drawing/2014/main" id="{1A6E2DAA-33E5-8A87-BDE1-A9114893D2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26998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9A25B824-C1D3-180A-395F-E4F3E9876EFB}"/>
            </a:ext>
          </a:extLst>
        </p:cNvPr>
        <p:cNvGrpSpPr/>
        <p:nvPr/>
      </p:nvGrpSpPr>
      <p:grpSpPr>
        <a:xfrm>
          <a:off x="0" y="0"/>
          <a:ext cx="0" cy="0"/>
          <a:chOff x="0" y="0"/>
          <a:chExt cx="0" cy="0"/>
        </a:xfrm>
      </p:grpSpPr>
      <p:sp>
        <p:nvSpPr>
          <p:cNvPr id="133" name="Google Shape;133;p5:notes">
            <a:extLst>
              <a:ext uri="{FF2B5EF4-FFF2-40B4-BE49-F238E27FC236}">
                <a16:creationId xmlns:a16="http://schemas.microsoft.com/office/drawing/2014/main" id="{94B86A64-5D4F-964D-6FA2-7F645400EE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5:notes">
            <a:extLst>
              <a:ext uri="{FF2B5EF4-FFF2-40B4-BE49-F238E27FC236}">
                <a16:creationId xmlns:a16="http://schemas.microsoft.com/office/drawing/2014/main" id="{2E0B22E3-541F-738A-BD09-AC92DAAB49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5273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255959BC-E543-BA4E-B8E7-522E06BB26D9}"/>
            </a:ext>
          </a:extLst>
        </p:cNvPr>
        <p:cNvGrpSpPr/>
        <p:nvPr/>
      </p:nvGrpSpPr>
      <p:grpSpPr>
        <a:xfrm>
          <a:off x="0" y="0"/>
          <a:ext cx="0" cy="0"/>
          <a:chOff x="0" y="0"/>
          <a:chExt cx="0" cy="0"/>
        </a:xfrm>
      </p:grpSpPr>
      <p:sp>
        <p:nvSpPr>
          <p:cNvPr id="133" name="Google Shape;133;p5:notes">
            <a:extLst>
              <a:ext uri="{FF2B5EF4-FFF2-40B4-BE49-F238E27FC236}">
                <a16:creationId xmlns:a16="http://schemas.microsoft.com/office/drawing/2014/main" id="{4FAE0B48-CC95-0387-AB96-99AE58F479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5:notes">
            <a:extLst>
              <a:ext uri="{FF2B5EF4-FFF2-40B4-BE49-F238E27FC236}">
                <a16:creationId xmlns:a16="http://schemas.microsoft.com/office/drawing/2014/main" id="{6BC076CC-B32D-D667-F476-98B8D64F3F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39217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a:extLst>
            <a:ext uri="{FF2B5EF4-FFF2-40B4-BE49-F238E27FC236}">
              <a16:creationId xmlns:a16="http://schemas.microsoft.com/office/drawing/2014/main" id="{21829734-2B67-F0E1-8182-0F7ABE5DBAEC}"/>
            </a:ext>
          </a:extLst>
        </p:cNvPr>
        <p:cNvGrpSpPr/>
        <p:nvPr/>
      </p:nvGrpSpPr>
      <p:grpSpPr>
        <a:xfrm>
          <a:off x="0" y="0"/>
          <a:ext cx="0" cy="0"/>
          <a:chOff x="0" y="0"/>
          <a:chExt cx="0" cy="0"/>
        </a:xfrm>
      </p:grpSpPr>
      <p:sp>
        <p:nvSpPr>
          <p:cNvPr id="119" name="Google Shape;119;p4:notes">
            <a:extLst>
              <a:ext uri="{FF2B5EF4-FFF2-40B4-BE49-F238E27FC236}">
                <a16:creationId xmlns:a16="http://schemas.microsoft.com/office/drawing/2014/main" id="{66B25C28-9DF2-0BFC-37D4-707511AF7D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4:notes">
            <a:extLst>
              <a:ext uri="{FF2B5EF4-FFF2-40B4-BE49-F238E27FC236}">
                <a16:creationId xmlns:a16="http://schemas.microsoft.com/office/drawing/2014/main" id="{0D05D727-6CC3-BD86-856C-88D79FFC58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729858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282B0B32-D6EF-1D16-2806-9678A8808315}"/>
            </a:ext>
          </a:extLst>
        </p:cNvPr>
        <p:cNvGrpSpPr/>
        <p:nvPr/>
      </p:nvGrpSpPr>
      <p:grpSpPr>
        <a:xfrm>
          <a:off x="0" y="0"/>
          <a:ext cx="0" cy="0"/>
          <a:chOff x="0" y="0"/>
          <a:chExt cx="0" cy="0"/>
        </a:xfrm>
      </p:grpSpPr>
      <p:sp>
        <p:nvSpPr>
          <p:cNvPr id="133" name="Google Shape;133;p5:notes">
            <a:extLst>
              <a:ext uri="{FF2B5EF4-FFF2-40B4-BE49-F238E27FC236}">
                <a16:creationId xmlns:a16="http://schemas.microsoft.com/office/drawing/2014/main" id="{49692171-7C6B-A989-F11D-AA417FD5C4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5:notes">
            <a:extLst>
              <a:ext uri="{FF2B5EF4-FFF2-40B4-BE49-F238E27FC236}">
                <a16:creationId xmlns:a16="http://schemas.microsoft.com/office/drawing/2014/main" id="{52FE0B63-51D0-A97B-4228-DD79A1DACC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91441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618A376D-DA01-A4CF-73F2-4794DB1A068E}"/>
            </a:ext>
          </a:extLst>
        </p:cNvPr>
        <p:cNvGrpSpPr/>
        <p:nvPr/>
      </p:nvGrpSpPr>
      <p:grpSpPr>
        <a:xfrm>
          <a:off x="0" y="0"/>
          <a:ext cx="0" cy="0"/>
          <a:chOff x="0" y="0"/>
          <a:chExt cx="0" cy="0"/>
        </a:xfrm>
      </p:grpSpPr>
      <p:sp>
        <p:nvSpPr>
          <p:cNvPr id="133" name="Google Shape;133;p5:notes">
            <a:extLst>
              <a:ext uri="{FF2B5EF4-FFF2-40B4-BE49-F238E27FC236}">
                <a16:creationId xmlns:a16="http://schemas.microsoft.com/office/drawing/2014/main" id="{A1AC5E91-A6B1-D0F1-2B51-D5C1B1C4FC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5:notes">
            <a:extLst>
              <a:ext uri="{FF2B5EF4-FFF2-40B4-BE49-F238E27FC236}">
                <a16:creationId xmlns:a16="http://schemas.microsoft.com/office/drawing/2014/main" id="{CB3CC32D-1365-EBDA-0E5D-E89882A752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78966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a:extLst>
            <a:ext uri="{FF2B5EF4-FFF2-40B4-BE49-F238E27FC236}">
              <a16:creationId xmlns:a16="http://schemas.microsoft.com/office/drawing/2014/main" id="{21C56B01-7E4A-446A-F86B-97C72186331E}"/>
            </a:ext>
          </a:extLst>
        </p:cNvPr>
        <p:cNvGrpSpPr/>
        <p:nvPr/>
      </p:nvGrpSpPr>
      <p:grpSpPr>
        <a:xfrm>
          <a:off x="0" y="0"/>
          <a:ext cx="0" cy="0"/>
          <a:chOff x="0" y="0"/>
          <a:chExt cx="0" cy="0"/>
        </a:xfrm>
      </p:grpSpPr>
      <p:sp>
        <p:nvSpPr>
          <p:cNvPr id="119" name="Google Shape;119;p4:notes">
            <a:extLst>
              <a:ext uri="{FF2B5EF4-FFF2-40B4-BE49-F238E27FC236}">
                <a16:creationId xmlns:a16="http://schemas.microsoft.com/office/drawing/2014/main" id="{32CC6AEC-A8F4-4DD2-7C27-CD2B32DCE5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4:notes">
            <a:extLst>
              <a:ext uri="{FF2B5EF4-FFF2-40B4-BE49-F238E27FC236}">
                <a16:creationId xmlns:a16="http://schemas.microsoft.com/office/drawing/2014/main" id="{C7C2CA5F-61DA-044D-7CDB-35036268C5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933716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4" name="Google Shape;504;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DFC"/>
        </a:solidFill>
        <a:effectLst/>
      </p:bgPr>
    </p:bg>
    <p:spTree>
      <p:nvGrpSpPr>
        <p:cNvPr id="1" name="Shape 83"/>
        <p:cNvGrpSpPr/>
        <p:nvPr/>
      </p:nvGrpSpPr>
      <p:grpSpPr>
        <a:xfrm>
          <a:off x="0" y="0"/>
          <a:ext cx="0" cy="0"/>
          <a:chOff x="0" y="0"/>
          <a:chExt cx="0" cy="0"/>
        </a:xfrm>
      </p:grpSpPr>
      <p:pic>
        <p:nvPicPr>
          <p:cNvPr id="84" name="Google Shape;84;p13"/>
          <p:cNvPicPr preferRelativeResize="0"/>
          <p:nvPr/>
        </p:nvPicPr>
        <p:blipFill>
          <a:blip r:embed="rId3">
            <a:alphaModFix/>
          </a:blip>
          <a:stretch>
            <a:fillRect/>
          </a:stretch>
        </p:blipFill>
        <p:spPr>
          <a:xfrm>
            <a:off x="24298" y="0"/>
            <a:ext cx="18288000" cy="10287000"/>
          </a:xfrm>
          <a:prstGeom prst="rect">
            <a:avLst/>
          </a:prstGeom>
          <a:noFill/>
          <a:ln>
            <a:noFill/>
          </a:ln>
        </p:spPr>
      </p:pic>
      <p:grpSp>
        <p:nvGrpSpPr>
          <p:cNvPr id="85" name="Google Shape;85;p13"/>
          <p:cNvGrpSpPr/>
          <p:nvPr/>
        </p:nvGrpSpPr>
        <p:grpSpPr>
          <a:xfrm>
            <a:off x="10787962" y="7844537"/>
            <a:ext cx="5742581" cy="931027"/>
            <a:chOff x="0" y="-38100"/>
            <a:chExt cx="1512449" cy="245209"/>
          </a:xfrm>
        </p:grpSpPr>
        <p:sp>
          <p:nvSpPr>
            <p:cNvPr id="86" name="Google Shape;86;p13"/>
            <p:cNvSpPr/>
            <p:nvPr/>
          </p:nvSpPr>
          <p:spPr>
            <a:xfrm>
              <a:off x="0" y="0"/>
              <a:ext cx="1512449" cy="207109"/>
            </a:xfrm>
            <a:custGeom>
              <a:avLst/>
              <a:gdLst/>
              <a:ahLst/>
              <a:cxnLst/>
              <a:rect l="l" t="t" r="r" b="b"/>
              <a:pathLst>
                <a:path w="1512449" h="207109" extrusionOk="0">
                  <a:moveTo>
                    <a:pt x="0" y="0"/>
                  </a:moveTo>
                  <a:lnTo>
                    <a:pt x="1512449" y="0"/>
                  </a:lnTo>
                  <a:lnTo>
                    <a:pt x="1512449" y="207109"/>
                  </a:lnTo>
                  <a:lnTo>
                    <a:pt x="0" y="207109"/>
                  </a:lnTo>
                  <a:close/>
                </a:path>
              </a:pathLst>
            </a:custGeom>
            <a:solidFill>
              <a:srgbClr val="000000"/>
            </a:solidFill>
            <a:ln>
              <a:noFill/>
            </a:ln>
          </p:spPr>
        </p:sp>
        <p:sp>
          <p:nvSpPr>
            <p:cNvPr id="87" name="Google Shape;87;p13"/>
            <p:cNvSpPr txBox="1"/>
            <p:nvPr/>
          </p:nvSpPr>
          <p:spPr>
            <a:xfrm>
              <a:off x="0" y="-38100"/>
              <a:ext cx="1512449" cy="24520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8" name="Google Shape;88;p13"/>
          <p:cNvSpPr txBox="1"/>
          <p:nvPr/>
        </p:nvSpPr>
        <p:spPr>
          <a:xfrm>
            <a:off x="6953011" y="2944979"/>
            <a:ext cx="10084200" cy="4616648"/>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None/>
            </a:pPr>
            <a:r>
              <a:rPr lang="en-US" sz="10000" b="1" i="0" u="none" strike="noStrike" cap="none" dirty="0">
                <a:solidFill>
                  <a:srgbClr val="000000"/>
                </a:solidFill>
                <a:latin typeface="Libre Baskerville"/>
                <a:ea typeface="Libre Baskerville"/>
                <a:cs typeface="Libre Baskerville"/>
                <a:sym typeface="Libre Baskerville"/>
              </a:rPr>
              <a:t>IMDB </a:t>
            </a:r>
          </a:p>
          <a:p>
            <a:pPr marL="0" marR="0" lvl="0" indent="0" algn="r" rtl="0">
              <a:lnSpc>
                <a:spcPct val="100000"/>
              </a:lnSpc>
              <a:spcBef>
                <a:spcPts val="0"/>
              </a:spcBef>
              <a:spcAft>
                <a:spcPts val="0"/>
              </a:spcAft>
              <a:buNone/>
            </a:pPr>
            <a:r>
              <a:rPr lang="en-US" sz="10000" b="1" i="0" u="none" strike="noStrike" cap="none" dirty="0">
                <a:solidFill>
                  <a:srgbClr val="000000"/>
                </a:solidFill>
                <a:latin typeface="Libre Baskerville"/>
                <a:ea typeface="Libre Baskerville"/>
                <a:cs typeface="Libre Baskerville"/>
                <a:sym typeface="Libre Baskerville"/>
              </a:rPr>
              <a:t>MOVIE ANALYSIS</a:t>
            </a:r>
          </a:p>
        </p:txBody>
      </p:sp>
      <p:sp>
        <p:nvSpPr>
          <p:cNvPr id="89" name="Google Shape;89;p13"/>
          <p:cNvSpPr txBox="1"/>
          <p:nvPr/>
        </p:nvSpPr>
        <p:spPr>
          <a:xfrm>
            <a:off x="10788125" y="8118850"/>
            <a:ext cx="5742600" cy="619400"/>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3500" i="0" u="none" strike="noStrike" cap="none" dirty="0">
                <a:solidFill>
                  <a:srgbClr val="FFFFFF"/>
                </a:solidFill>
                <a:latin typeface="Poppins"/>
                <a:ea typeface="Poppins"/>
                <a:cs typeface="Poppins"/>
                <a:sym typeface="Poppins"/>
              </a:rPr>
              <a:t>Mohak Shah</a:t>
            </a:r>
            <a:endParaRPr dirty="0">
              <a:latin typeface="Poppins"/>
              <a:ea typeface="Poppins"/>
              <a:cs typeface="Poppins"/>
              <a:sym typeface="Poppins"/>
            </a:endParaRPr>
          </a:p>
        </p:txBody>
      </p:sp>
      <p:pic>
        <p:nvPicPr>
          <p:cNvPr id="90" name="Google Shape;90;p13"/>
          <p:cNvPicPr preferRelativeResize="0"/>
          <p:nvPr/>
        </p:nvPicPr>
        <p:blipFill>
          <a:blip r:embed="rId4">
            <a:alphaModFix/>
          </a:blip>
          <a:stretch>
            <a:fillRect/>
          </a:stretch>
        </p:blipFill>
        <p:spPr>
          <a:xfrm>
            <a:off x="25300" y="-2201164"/>
            <a:ext cx="9142998" cy="15027937"/>
          </a:xfrm>
          <a:prstGeom prst="rect">
            <a:avLst/>
          </a:prstGeom>
          <a:noFill/>
          <a:ln>
            <a:noFill/>
          </a:ln>
        </p:spPr>
      </p:pic>
      <p:pic>
        <p:nvPicPr>
          <p:cNvPr id="91" name="Google Shape;91;p13"/>
          <p:cNvPicPr preferRelativeResize="0"/>
          <p:nvPr/>
        </p:nvPicPr>
        <p:blipFill>
          <a:blip r:embed="rId5">
            <a:alphaModFix/>
          </a:blip>
          <a:stretch>
            <a:fillRect/>
          </a:stretch>
        </p:blipFill>
        <p:spPr>
          <a:xfrm rot="1073596">
            <a:off x="4377738" y="-1511510"/>
            <a:ext cx="3493249" cy="4250996"/>
          </a:xfrm>
          <a:prstGeom prst="rect">
            <a:avLst/>
          </a:prstGeom>
          <a:noFill/>
          <a:ln>
            <a:noFill/>
          </a:ln>
        </p:spPr>
      </p:pic>
      <p:pic>
        <p:nvPicPr>
          <p:cNvPr id="92" name="Google Shape;92;p13"/>
          <p:cNvPicPr preferRelativeResize="0"/>
          <p:nvPr/>
        </p:nvPicPr>
        <p:blipFill>
          <a:blip r:embed="rId6">
            <a:alphaModFix/>
          </a:blip>
          <a:stretch>
            <a:fillRect/>
          </a:stretch>
        </p:blipFill>
        <p:spPr>
          <a:xfrm rot="1080631">
            <a:off x="2857522" y="2651132"/>
            <a:ext cx="3449555" cy="5302061"/>
          </a:xfrm>
          <a:prstGeom prst="rect">
            <a:avLst/>
          </a:prstGeom>
          <a:noFill/>
          <a:ln>
            <a:noFill/>
          </a:ln>
        </p:spPr>
      </p:pic>
      <p:pic>
        <p:nvPicPr>
          <p:cNvPr id="93" name="Google Shape;93;p13"/>
          <p:cNvPicPr preferRelativeResize="0"/>
          <p:nvPr/>
        </p:nvPicPr>
        <p:blipFill>
          <a:blip r:embed="rId7">
            <a:alphaModFix/>
          </a:blip>
          <a:stretch>
            <a:fillRect/>
          </a:stretch>
        </p:blipFill>
        <p:spPr>
          <a:xfrm rot="1068041">
            <a:off x="1204107" y="7847157"/>
            <a:ext cx="3409335" cy="518318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8"/>
                                        </p:tgtEl>
                                        <p:attrNameLst>
                                          <p:attrName>style.visibility</p:attrName>
                                        </p:attrNameLst>
                                      </p:cBhvr>
                                      <p:to>
                                        <p:strVal val="visible"/>
                                      </p:to>
                                    </p:set>
                                    <p:anim calcmode="lin" valueType="num">
                                      <p:cBhvr additive="base">
                                        <p:cTn id="7" dur="750" fill="hold"/>
                                        <p:tgtEl>
                                          <p:spTgt spid="88"/>
                                        </p:tgtEl>
                                        <p:attrNameLst>
                                          <p:attrName>ppt_x</p:attrName>
                                        </p:attrNameLst>
                                      </p:cBhvr>
                                      <p:tavLst>
                                        <p:tav tm="0">
                                          <p:val>
                                            <p:strVal val="#ppt_x"/>
                                          </p:val>
                                        </p:tav>
                                        <p:tav tm="100000">
                                          <p:val>
                                            <p:strVal val="#ppt_x"/>
                                          </p:val>
                                        </p:tav>
                                      </p:tavLst>
                                    </p:anim>
                                    <p:anim calcmode="lin" valueType="num">
                                      <p:cBhvr additive="base">
                                        <p:cTn id="8" dur="750" fill="hold"/>
                                        <p:tgtEl>
                                          <p:spTgt spid="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07"/>
        <p:cNvGrpSpPr/>
        <p:nvPr/>
      </p:nvGrpSpPr>
      <p:grpSpPr>
        <a:xfrm>
          <a:off x="0" y="0"/>
          <a:ext cx="0" cy="0"/>
          <a:chOff x="0" y="0"/>
          <a:chExt cx="0" cy="0"/>
        </a:xfrm>
      </p:grpSpPr>
      <p:pic>
        <p:nvPicPr>
          <p:cNvPr id="108" name="Google Shape;108;p15"/>
          <p:cNvPicPr preferRelativeResize="0"/>
          <p:nvPr/>
        </p:nvPicPr>
        <p:blipFill>
          <a:blip r:embed="rId3">
            <a:alphaModFix/>
          </a:blip>
          <a:stretch>
            <a:fillRect/>
          </a:stretch>
        </p:blipFill>
        <p:spPr>
          <a:xfrm>
            <a:off x="0" y="0"/>
            <a:ext cx="18288000" cy="10287000"/>
          </a:xfrm>
          <a:prstGeom prst="rect">
            <a:avLst/>
          </a:prstGeom>
          <a:noFill/>
          <a:ln>
            <a:noFill/>
          </a:ln>
        </p:spPr>
      </p:pic>
      <p:grpSp>
        <p:nvGrpSpPr>
          <p:cNvPr id="109" name="Google Shape;109;p15"/>
          <p:cNvGrpSpPr/>
          <p:nvPr/>
        </p:nvGrpSpPr>
        <p:grpSpPr>
          <a:xfrm>
            <a:off x="0" y="583452"/>
            <a:ext cx="14158555" cy="9703548"/>
            <a:chOff x="0" y="-174564"/>
            <a:chExt cx="18878073" cy="12369655"/>
          </a:xfrm>
        </p:grpSpPr>
        <p:grpSp>
          <p:nvGrpSpPr>
            <p:cNvPr id="110" name="Google Shape;110;p15"/>
            <p:cNvGrpSpPr/>
            <p:nvPr/>
          </p:nvGrpSpPr>
          <p:grpSpPr>
            <a:xfrm>
              <a:off x="838200" y="663636"/>
              <a:ext cx="18039873" cy="11531455"/>
              <a:chOff x="0" y="-38100"/>
              <a:chExt cx="3937354" cy="2516837"/>
            </a:xfrm>
          </p:grpSpPr>
          <p:sp>
            <p:nvSpPr>
              <p:cNvPr id="111" name="Google Shape;111;p15"/>
              <p:cNvSpPr/>
              <p:nvPr/>
            </p:nvSpPr>
            <p:spPr>
              <a:xfrm>
                <a:off x="0" y="0"/>
                <a:ext cx="3937354" cy="2394906"/>
              </a:xfrm>
              <a:custGeom>
                <a:avLst/>
                <a:gdLst/>
                <a:ahLst/>
                <a:cxnLst/>
                <a:rect l="l" t="t" r="r" b="b"/>
                <a:pathLst>
                  <a:path w="3937354" h="2394906" extrusionOk="0">
                    <a:moveTo>
                      <a:pt x="0" y="0"/>
                    </a:moveTo>
                    <a:lnTo>
                      <a:pt x="3937354" y="0"/>
                    </a:lnTo>
                    <a:lnTo>
                      <a:pt x="3937354" y="2394906"/>
                    </a:lnTo>
                    <a:lnTo>
                      <a:pt x="0" y="2394906"/>
                    </a:lnTo>
                    <a:close/>
                  </a:path>
                </a:pathLst>
              </a:custGeom>
              <a:solidFill>
                <a:srgbClr val="000000"/>
              </a:solidFill>
              <a:ln>
                <a:noFill/>
              </a:ln>
            </p:spPr>
          </p:sp>
          <p:sp>
            <p:nvSpPr>
              <p:cNvPr id="112" name="Google Shape;112;p15"/>
              <p:cNvSpPr txBox="1"/>
              <p:nvPr/>
            </p:nvSpPr>
            <p:spPr>
              <a:xfrm>
                <a:off x="0" y="-38100"/>
                <a:ext cx="3937354" cy="251683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3" name="Google Shape;113;p15"/>
            <p:cNvGrpSpPr/>
            <p:nvPr/>
          </p:nvGrpSpPr>
          <p:grpSpPr>
            <a:xfrm>
              <a:off x="0" y="-174564"/>
              <a:ext cx="18039873" cy="11531455"/>
              <a:chOff x="0" y="-38100"/>
              <a:chExt cx="3937354" cy="2516837"/>
            </a:xfrm>
          </p:grpSpPr>
          <p:sp>
            <p:nvSpPr>
              <p:cNvPr id="114" name="Google Shape;114;p15"/>
              <p:cNvSpPr/>
              <p:nvPr/>
            </p:nvSpPr>
            <p:spPr>
              <a:xfrm>
                <a:off x="0" y="0"/>
                <a:ext cx="3937354" cy="2394906"/>
              </a:xfrm>
              <a:custGeom>
                <a:avLst/>
                <a:gdLst/>
                <a:ahLst/>
                <a:cxnLst/>
                <a:rect l="l" t="t" r="r" b="b"/>
                <a:pathLst>
                  <a:path w="3937354" h="2394906" extrusionOk="0">
                    <a:moveTo>
                      <a:pt x="0" y="0"/>
                    </a:moveTo>
                    <a:lnTo>
                      <a:pt x="3937354" y="0"/>
                    </a:lnTo>
                    <a:lnTo>
                      <a:pt x="3937354" y="2394906"/>
                    </a:lnTo>
                    <a:lnTo>
                      <a:pt x="0" y="2394906"/>
                    </a:lnTo>
                    <a:close/>
                  </a:path>
                </a:pathLst>
              </a:custGeom>
              <a:solidFill>
                <a:srgbClr val="FFFDFC"/>
              </a:solidFill>
              <a:ln>
                <a:noFill/>
              </a:ln>
            </p:spPr>
          </p:sp>
          <p:sp>
            <p:nvSpPr>
              <p:cNvPr id="115" name="Google Shape;115;p15"/>
              <p:cNvSpPr txBox="1"/>
              <p:nvPr/>
            </p:nvSpPr>
            <p:spPr>
              <a:xfrm>
                <a:off x="0" y="-38100"/>
                <a:ext cx="3937354" cy="251683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116" name="Google Shape;116;p15"/>
          <p:cNvSpPr txBox="1"/>
          <p:nvPr/>
        </p:nvSpPr>
        <p:spPr>
          <a:xfrm>
            <a:off x="1435822" y="1903416"/>
            <a:ext cx="10658261" cy="1415772"/>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8000" b="1" i="0" u="none" strike="noStrike" cap="none" dirty="0">
                <a:solidFill>
                  <a:srgbClr val="000000"/>
                </a:solidFill>
                <a:latin typeface="Libre Baskerville"/>
                <a:ea typeface="Libre Baskerville"/>
                <a:cs typeface="Libre Baskerville"/>
                <a:sym typeface="Libre Baskerville"/>
              </a:rPr>
              <a:t>INTRODUCTION</a:t>
            </a:r>
            <a:endParaRPr dirty="0"/>
          </a:p>
        </p:txBody>
      </p:sp>
      <p:sp>
        <p:nvSpPr>
          <p:cNvPr id="117" name="Google Shape;117;p15"/>
          <p:cNvSpPr txBox="1"/>
          <p:nvPr/>
        </p:nvSpPr>
        <p:spPr>
          <a:xfrm>
            <a:off x="1435822" y="3771027"/>
            <a:ext cx="10658400" cy="5521512"/>
          </a:xfrm>
          <a:prstGeom prst="rect">
            <a:avLst/>
          </a:prstGeom>
          <a:noFill/>
          <a:ln>
            <a:noFill/>
          </a:ln>
        </p:spPr>
        <p:txBody>
          <a:bodyPr spcFirstLastPara="1" wrap="square" lIns="0" tIns="0" rIns="0" bIns="0" anchor="t" anchorCtr="0">
            <a:spAutoFit/>
          </a:bodyPr>
          <a:lstStyle/>
          <a:p>
            <a:pPr marL="0" marR="0" lvl="0" indent="0" algn="just" rtl="0">
              <a:lnSpc>
                <a:spcPct val="115000"/>
              </a:lnSpc>
              <a:spcBef>
                <a:spcPts val="0"/>
              </a:spcBef>
              <a:spcAft>
                <a:spcPts val="0"/>
              </a:spcAft>
              <a:buNone/>
            </a:pPr>
            <a:r>
              <a:rPr lang="en-US" sz="2600" b="1" dirty="0">
                <a:latin typeface="Poppins"/>
                <a:ea typeface="Poppins"/>
                <a:cs typeface="Poppins"/>
                <a:sym typeface="Poppins"/>
              </a:rPr>
              <a:t>Objective: </a:t>
            </a:r>
            <a:r>
              <a:rPr lang="en-US" sz="2600" dirty="0">
                <a:latin typeface="Poppins"/>
                <a:ea typeface="Poppins"/>
                <a:cs typeface="Poppins"/>
                <a:sym typeface="Poppins"/>
              </a:rPr>
              <a:t>Analyze factors influencing the success of movies based on IMDB scores.</a:t>
            </a:r>
          </a:p>
          <a:p>
            <a:pPr marL="0" marR="0" lvl="0" indent="0" algn="just" rtl="0">
              <a:lnSpc>
                <a:spcPct val="115000"/>
              </a:lnSpc>
              <a:spcBef>
                <a:spcPts val="0"/>
              </a:spcBef>
              <a:spcAft>
                <a:spcPts val="0"/>
              </a:spcAft>
              <a:buNone/>
            </a:pPr>
            <a:endParaRPr lang="en-US" sz="2600" dirty="0">
              <a:latin typeface="Poppins"/>
              <a:ea typeface="Poppins"/>
              <a:cs typeface="Poppins"/>
              <a:sym typeface="Poppins"/>
            </a:endParaRPr>
          </a:p>
          <a:p>
            <a:pPr marL="0" marR="0" lvl="0" indent="0" algn="just" rtl="0">
              <a:lnSpc>
                <a:spcPct val="115000"/>
              </a:lnSpc>
              <a:spcBef>
                <a:spcPts val="0"/>
              </a:spcBef>
              <a:spcAft>
                <a:spcPts val="0"/>
              </a:spcAft>
              <a:buNone/>
            </a:pPr>
            <a:r>
              <a:rPr lang="en-US" sz="2600" b="1" dirty="0">
                <a:latin typeface="Poppins"/>
                <a:ea typeface="Poppins"/>
                <a:cs typeface="Poppins"/>
                <a:sym typeface="Poppins"/>
              </a:rPr>
              <a:t>Significance:</a:t>
            </a:r>
          </a:p>
          <a:p>
            <a:pPr marL="457200" lvl="4" indent="-457200" algn="just">
              <a:lnSpc>
                <a:spcPct val="115000"/>
              </a:lnSpc>
              <a:buFont typeface="Arial" panose="020B0604020202020204" pitchFamily="34" charset="0"/>
              <a:buChar char="•"/>
            </a:pPr>
            <a:r>
              <a:rPr lang="en-US" sz="2600" dirty="0">
                <a:latin typeface="Poppins"/>
                <a:ea typeface="Poppins"/>
                <a:cs typeface="Poppins"/>
                <a:sym typeface="Poppins"/>
              </a:rPr>
              <a:t>Helps producers, directors, and investors make informed decisions.</a:t>
            </a:r>
          </a:p>
          <a:p>
            <a:pPr marL="457200" lvl="4" indent="-457200" algn="just">
              <a:lnSpc>
                <a:spcPct val="115000"/>
              </a:lnSpc>
              <a:buFont typeface="Arial" panose="020B0604020202020204" pitchFamily="34" charset="0"/>
              <a:buChar char="•"/>
            </a:pPr>
            <a:r>
              <a:rPr lang="en-US" sz="2600" dirty="0">
                <a:latin typeface="Poppins"/>
                <a:ea typeface="Poppins"/>
                <a:cs typeface="Poppins"/>
                <a:sym typeface="Poppins"/>
              </a:rPr>
              <a:t>Identifies trends that drive higher ratings and financial success.</a:t>
            </a:r>
          </a:p>
          <a:p>
            <a:pPr lvl="4" algn="just">
              <a:lnSpc>
                <a:spcPct val="115000"/>
              </a:lnSpc>
            </a:pPr>
            <a:endParaRPr lang="en-US" sz="2600" dirty="0">
              <a:latin typeface="Poppins"/>
              <a:ea typeface="Poppins"/>
              <a:cs typeface="Poppins"/>
              <a:sym typeface="Poppins"/>
            </a:endParaRPr>
          </a:p>
          <a:p>
            <a:pPr marL="0" marR="0" lvl="0" indent="0" algn="just" rtl="0">
              <a:lnSpc>
                <a:spcPct val="115000"/>
              </a:lnSpc>
              <a:spcBef>
                <a:spcPts val="0"/>
              </a:spcBef>
              <a:spcAft>
                <a:spcPts val="0"/>
              </a:spcAft>
              <a:buNone/>
            </a:pPr>
            <a:r>
              <a:rPr lang="en-US" sz="2600" b="1" dirty="0">
                <a:latin typeface="Poppins"/>
                <a:ea typeface="Poppins"/>
                <a:cs typeface="Poppins"/>
                <a:sym typeface="Poppins"/>
              </a:rPr>
              <a:t>Dataset Overview:</a:t>
            </a:r>
          </a:p>
          <a:p>
            <a:pPr marL="0" marR="0" lvl="0" indent="0" algn="just" rtl="0">
              <a:lnSpc>
                <a:spcPct val="115000"/>
              </a:lnSpc>
              <a:spcBef>
                <a:spcPts val="0"/>
              </a:spcBef>
              <a:spcAft>
                <a:spcPts val="0"/>
              </a:spcAft>
              <a:buNone/>
            </a:pPr>
            <a:r>
              <a:rPr lang="en-US" sz="2600" dirty="0">
                <a:latin typeface="Poppins"/>
                <a:ea typeface="Poppins"/>
                <a:cs typeface="Poppins"/>
                <a:sym typeface="Poppins"/>
              </a:rPr>
              <a:t>Records on genres, duration, languages, directors, budgets, and more.</a:t>
            </a:r>
            <a:endParaRPr sz="2600" dirty="0">
              <a:latin typeface="Poppins"/>
              <a:ea typeface="Poppins"/>
              <a:cs typeface="Poppins"/>
              <a:sym typeface="Poppins"/>
            </a:endParaRPr>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07">
          <a:extLst>
            <a:ext uri="{FF2B5EF4-FFF2-40B4-BE49-F238E27FC236}">
              <a16:creationId xmlns:a16="http://schemas.microsoft.com/office/drawing/2014/main" id="{2877DCDC-3932-FEE5-BDF3-1F2B239AC75C}"/>
            </a:ext>
          </a:extLst>
        </p:cNvPr>
        <p:cNvGrpSpPr/>
        <p:nvPr/>
      </p:nvGrpSpPr>
      <p:grpSpPr>
        <a:xfrm>
          <a:off x="0" y="0"/>
          <a:ext cx="0" cy="0"/>
          <a:chOff x="0" y="0"/>
          <a:chExt cx="0" cy="0"/>
        </a:xfrm>
      </p:grpSpPr>
      <p:pic>
        <p:nvPicPr>
          <p:cNvPr id="108" name="Google Shape;108;p15">
            <a:extLst>
              <a:ext uri="{FF2B5EF4-FFF2-40B4-BE49-F238E27FC236}">
                <a16:creationId xmlns:a16="http://schemas.microsoft.com/office/drawing/2014/main" id="{2797E20F-E641-1337-C202-8A62762F5B1B}"/>
              </a:ext>
            </a:extLst>
          </p:cNvPr>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4" name="Rectangle: Rounded Corners 3">
            <a:extLst>
              <a:ext uri="{FF2B5EF4-FFF2-40B4-BE49-F238E27FC236}">
                <a16:creationId xmlns:a16="http://schemas.microsoft.com/office/drawing/2014/main" id="{DFA23084-0A35-BAD2-C7BF-BB7CC6A169CB}"/>
              </a:ext>
            </a:extLst>
          </p:cNvPr>
          <p:cNvSpPr/>
          <p:nvPr/>
        </p:nvSpPr>
        <p:spPr>
          <a:xfrm>
            <a:off x="770021" y="3351176"/>
            <a:ext cx="17349537" cy="6861737"/>
          </a:xfrm>
          <a:prstGeom prst="roundRect">
            <a:avLst>
              <a:gd name="adj" fmla="val 0"/>
            </a:avLst>
          </a:prstGeom>
          <a:solidFill>
            <a:schemeClr val="bg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solidFill>
                <a:schemeClr val="bg1"/>
              </a:solidFill>
            </a:endParaRPr>
          </a:p>
        </p:txBody>
      </p:sp>
      <p:grpSp>
        <p:nvGrpSpPr>
          <p:cNvPr id="109" name="Google Shape;109;p15">
            <a:extLst>
              <a:ext uri="{FF2B5EF4-FFF2-40B4-BE49-F238E27FC236}">
                <a16:creationId xmlns:a16="http://schemas.microsoft.com/office/drawing/2014/main" id="{F520C7EF-DAB4-53E8-7DA0-84E7FE784B1F}"/>
              </a:ext>
            </a:extLst>
          </p:cNvPr>
          <p:cNvGrpSpPr/>
          <p:nvPr/>
        </p:nvGrpSpPr>
        <p:grpSpPr>
          <a:xfrm>
            <a:off x="0" y="583452"/>
            <a:ext cx="14158555" cy="9629461"/>
            <a:chOff x="0" y="-174564"/>
            <a:chExt cx="18878073" cy="12275212"/>
          </a:xfrm>
        </p:grpSpPr>
        <p:grpSp>
          <p:nvGrpSpPr>
            <p:cNvPr id="110" name="Google Shape;110;p15">
              <a:extLst>
                <a:ext uri="{FF2B5EF4-FFF2-40B4-BE49-F238E27FC236}">
                  <a16:creationId xmlns:a16="http://schemas.microsoft.com/office/drawing/2014/main" id="{1DBF55AA-B1E3-7DED-CE94-B21BFA1D6321}"/>
                </a:ext>
              </a:extLst>
            </p:cNvPr>
            <p:cNvGrpSpPr/>
            <p:nvPr/>
          </p:nvGrpSpPr>
          <p:grpSpPr>
            <a:xfrm>
              <a:off x="838200" y="663636"/>
              <a:ext cx="18039873" cy="11437012"/>
              <a:chOff x="0" y="-38100"/>
              <a:chExt cx="3937354" cy="2496224"/>
            </a:xfrm>
          </p:grpSpPr>
          <p:sp>
            <p:nvSpPr>
              <p:cNvPr id="111" name="Google Shape;111;p15">
                <a:extLst>
                  <a:ext uri="{FF2B5EF4-FFF2-40B4-BE49-F238E27FC236}">
                    <a16:creationId xmlns:a16="http://schemas.microsoft.com/office/drawing/2014/main" id="{F8F072A7-5E08-CCF5-97D1-637A4E7384FE}"/>
                  </a:ext>
                </a:extLst>
              </p:cNvPr>
              <p:cNvSpPr/>
              <p:nvPr/>
            </p:nvSpPr>
            <p:spPr>
              <a:xfrm>
                <a:off x="0" y="0"/>
                <a:ext cx="3937354" cy="2394906"/>
              </a:xfrm>
              <a:custGeom>
                <a:avLst/>
                <a:gdLst/>
                <a:ahLst/>
                <a:cxnLst/>
                <a:rect l="l" t="t" r="r" b="b"/>
                <a:pathLst>
                  <a:path w="3937354" h="2394906" extrusionOk="0">
                    <a:moveTo>
                      <a:pt x="0" y="0"/>
                    </a:moveTo>
                    <a:lnTo>
                      <a:pt x="3937354" y="0"/>
                    </a:lnTo>
                    <a:lnTo>
                      <a:pt x="3937354" y="2394906"/>
                    </a:lnTo>
                    <a:lnTo>
                      <a:pt x="0" y="2394906"/>
                    </a:lnTo>
                    <a:close/>
                  </a:path>
                </a:pathLst>
              </a:custGeom>
              <a:solidFill>
                <a:srgbClr val="000000"/>
              </a:solidFill>
              <a:ln>
                <a:noFill/>
              </a:ln>
            </p:spPr>
          </p:sp>
          <p:sp>
            <p:nvSpPr>
              <p:cNvPr id="112" name="Google Shape;112;p15">
                <a:extLst>
                  <a:ext uri="{FF2B5EF4-FFF2-40B4-BE49-F238E27FC236}">
                    <a16:creationId xmlns:a16="http://schemas.microsoft.com/office/drawing/2014/main" id="{FE0B0BDC-06A5-5520-39C3-16394104C33C}"/>
                  </a:ext>
                </a:extLst>
              </p:cNvPr>
              <p:cNvSpPr txBox="1"/>
              <p:nvPr/>
            </p:nvSpPr>
            <p:spPr>
              <a:xfrm>
                <a:off x="0" y="-38100"/>
                <a:ext cx="3937354" cy="2496224"/>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grpSp>
        <p:grpSp>
          <p:nvGrpSpPr>
            <p:cNvPr id="113" name="Google Shape;113;p15">
              <a:extLst>
                <a:ext uri="{FF2B5EF4-FFF2-40B4-BE49-F238E27FC236}">
                  <a16:creationId xmlns:a16="http://schemas.microsoft.com/office/drawing/2014/main" id="{2E9C6439-29DA-FFC5-8044-7B1D2F765AE5}"/>
                </a:ext>
              </a:extLst>
            </p:cNvPr>
            <p:cNvGrpSpPr/>
            <p:nvPr/>
          </p:nvGrpSpPr>
          <p:grpSpPr>
            <a:xfrm>
              <a:off x="0" y="-174564"/>
              <a:ext cx="18039873" cy="11531455"/>
              <a:chOff x="0" y="-38100"/>
              <a:chExt cx="3937354" cy="2516837"/>
            </a:xfrm>
          </p:grpSpPr>
          <p:sp>
            <p:nvSpPr>
              <p:cNvPr id="114" name="Google Shape;114;p15">
                <a:extLst>
                  <a:ext uri="{FF2B5EF4-FFF2-40B4-BE49-F238E27FC236}">
                    <a16:creationId xmlns:a16="http://schemas.microsoft.com/office/drawing/2014/main" id="{58820490-0A3F-1741-668F-F6A55B6CF141}"/>
                  </a:ext>
                </a:extLst>
              </p:cNvPr>
              <p:cNvSpPr/>
              <p:nvPr/>
            </p:nvSpPr>
            <p:spPr>
              <a:xfrm>
                <a:off x="0" y="0"/>
                <a:ext cx="3937354" cy="2394906"/>
              </a:xfrm>
              <a:custGeom>
                <a:avLst/>
                <a:gdLst/>
                <a:ahLst/>
                <a:cxnLst/>
                <a:rect l="l" t="t" r="r" b="b"/>
                <a:pathLst>
                  <a:path w="3937354" h="2394906" extrusionOk="0">
                    <a:moveTo>
                      <a:pt x="0" y="0"/>
                    </a:moveTo>
                    <a:lnTo>
                      <a:pt x="3937354" y="0"/>
                    </a:lnTo>
                    <a:lnTo>
                      <a:pt x="3937354" y="2394906"/>
                    </a:lnTo>
                    <a:lnTo>
                      <a:pt x="0" y="2394906"/>
                    </a:lnTo>
                    <a:close/>
                  </a:path>
                </a:pathLst>
              </a:custGeom>
              <a:solidFill>
                <a:srgbClr val="FFFDFC"/>
              </a:solidFill>
              <a:ln>
                <a:noFill/>
              </a:ln>
            </p:spPr>
          </p:sp>
          <p:sp>
            <p:nvSpPr>
              <p:cNvPr id="115" name="Google Shape;115;p15">
                <a:extLst>
                  <a:ext uri="{FF2B5EF4-FFF2-40B4-BE49-F238E27FC236}">
                    <a16:creationId xmlns:a16="http://schemas.microsoft.com/office/drawing/2014/main" id="{5BA900B3-5448-DCAC-730D-38C469F9E5BA}"/>
                  </a:ext>
                </a:extLst>
              </p:cNvPr>
              <p:cNvSpPr txBox="1"/>
              <p:nvPr/>
            </p:nvSpPr>
            <p:spPr>
              <a:xfrm>
                <a:off x="0" y="-38100"/>
                <a:ext cx="3937354" cy="251683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116" name="Google Shape;116;p15">
            <a:extLst>
              <a:ext uri="{FF2B5EF4-FFF2-40B4-BE49-F238E27FC236}">
                <a16:creationId xmlns:a16="http://schemas.microsoft.com/office/drawing/2014/main" id="{93DE4E2C-F7F2-765F-E66F-95EEE64D5187}"/>
              </a:ext>
            </a:extLst>
          </p:cNvPr>
          <p:cNvSpPr txBox="1"/>
          <p:nvPr/>
        </p:nvSpPr>
        <p:spPr>
          <a:xfrm>
            <a:off x="1435821" y="1240990"/>
            <a:ext cx="10658261" cy="1415772"/>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8000" b="1" i="0" u="none" strike="noStrike" cap="none" dirty="0">
                <a:solidFill>
                  <a:srgbClr val="000000"/>
                </a:solidFill>
                <a:latin typeface="Libre Baskerville"/>
                <a:ea typeface="Libre Baskerville"/>
                <a:cs typeface="Libre Baskerville"/>
                <a:sym typeface="Libre Baskerville"/>
              </a:rPr>
              <a:t>DATASET</a:t>
            </a:r>
            <a:endParaRPr dirty="0"/>
          </a:p>
        </p:txBody>
      </p:sp>
      <p:pic>
        <p:nvPicPr>
          <p:cNvPr id="3" name="Picture 2">
            <a:extLst>
              <a:ext uri="{FF2B5EF4-FFF2-40B4-BE49-F238E27FC236}">
                <a16:creationId xmlns:a16="http://schemas.microsoft.com/office/drawing/2014/main" id="{DD24EFE1-7D10-D83F-C094-0C74B1DBA146}"/>
              </a:ext>
            </a:extLst>
          </p:cNvPr>
          <p:cNvPicPr>
            <a:picLocks noChangeAspect="1"/>
          </p:cNvPicPr>
          <p:nvPr/>
        </p:nvPicPr>
        <p:blipFill>
          <a:blip r:embed="rId4"/>
          <a:srcRect t="26784" b="9321"/>
          <a:stretch/>
        </p:blipFill>
        <p:spPr>
          <a:xfrm>
            <a:off x="469231" y="3123958"/>
            <a:ext cx="17349537" cy="6861737"/>
          </a:xfrm>
          <a:prstGeom prst="rect">
            <a:avLst/>
          </a:prstGeom>
          <a:ln>
            <a:solidFill>
              <a:schemeClr val="dk1">
                <a:shade val="15000"/>
              </a:schemeClr>
            </a:solidFill>
          </a:ln>
        </p:spPr>
      </p:pic>
    </p:spTree>
    <p:extLst>
      <p:ext uri="{BB962C8B-B14F-4D97-AF65-F5344CB8AC3E}">
        <p14:creationId xmlns:p14="http://schemas.microsoft.com/office/powerpoint/2010/main" val="206278287"/>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07">
          <a:extLst>
            <a:ext uri="{FF2B5EF4-FFF2-40B4-BE49-F238E27FC236}">
              <a16:creationId xmlns:a16="http://schemas.microsoft.com/office/drawing/2014/main" id="{0E1CC157-ED23-656F-76E9-8AFA4409E2F0}"/>
            </a:ext>
          </a:extLst>
        </p:cNvPr>
        <p:cNvGrpSpPr/>
        <p:nvPr/>
      </p:nvGrpSpPr>
      <p:grpSpPr>
        <a:xfrm>
          <a:off x="0" y="0"/>
          <a:ext cx="0" cy="0"/>
          <a:chOff x="0" y="0"/>
          <a:chExt cx="0" cy="0"/>
        </a:xfrm>
      </p:grpSpPr>
      <p:pic>
        <p:nvPicPr>
          <p:cNvPr id="108" name="Google Shape;108;p15">
            <a:extLst>
              <a:ext uri="{FF2B5EF4-FFF2-40B4-BE49-F238E27FC236}">
                <a16:creationId xmlns:a16="http://schemas.microsoft.com/office/drawing/2014/main" id="{81423B51-3CCF-2D84-D5D1-0BFEBA065E89}"/>
              </a:ext>
            </a:extLst>
          </p:cNvPr>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4" name="Rectangle: Rounded Corners 3">
            <a:extLst>
              <a:ext uri="{FF2B5EF4-FFF2-40B4-BE49-F238E27FC236}">
                <a16:creationId xmlns:a16="http://schemas.microsoft.com/office/drawing/2014/main" id="{116E5E1E-5B69-330D-6497-8A30F3277AA8}"/>
              </a:ext>
            </a:extLst>
          </p:cNvPr>
          <p:cNvSpPr/>
          <p:nvPr/>
        </p:nvSpPr>
        <p:spPr>
          <a:xfrm>
            <a:off x="770021" y="3351176"/>
            <a:ext cx="17349537" cy="6861737"/>
          </a:xfrm>
          <a:prstGeom prst="roundRect">
            <a:avLst>
              <a:gd name="adj" fmla="val 0"/>
            </a:avLst>
          </a:prstGeom>
          <a:solidFill>
            <a:schemeClr val="bg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solidFill>
                <a:schemeClr val="bg1"/>
              </a:solidFill>
            </a:endParaRPr>
          </a:p>
        </p:txBody>
      </p:sp>
      <p:grpSp>
        <p:nvGrpSpPr>
          <p:cNvPr id="109" name="Google Shape;109;p15">
            <a:extLst>
              <a:ext uri="{FF2B5EF4-FFF2-40B4-BE49-F238E27FC236}">
                <a16:creationId xmlns:a16="http://schemas.microsoft.com/office/drawing/2014/main" id="{A33D9F33-32F2-5CF6-F854-F55941E9A721}"/>
              </a:ext>
            </a:extLst>
          </p:cNvPr>
          <p:cNvGrpSpPr/>
          <p:nvPr/>
        </p:nvGrpSpPr>
        <p:grpSpPr>
          <a:xfrm>
            <a:off x="0" y="583452"/>
            <a:ext cx="14158555" cy="9629461"/>
            <a:chOff x="0" y="-174564"/>
            <a:chExt cx="18878073" cy="12275212"/>
          </a:xfrm>
        </p:grpSpPr>
        <p:grpSp>
          <p:nvGrpSpPr>
            <p:cNvPr id="110" name="Google Shape;110;p15">
              <a:extLst>
                <a:ext uri="{FF2B5EF4-FFF2-40B4-BE49-F238E27FC236}">
                  <a16:creationId xmlns:a16="http://schemas.microsoft.com/office/drawing/2014/main" id="{CA0C45C9-241C-9A00-AB15-5938CEE9D8D2}"/>
                </a:ext>
              </a:extLst>
            </p:cNvPr>
            <p:cNvGrpSpPr/>
            <p:nvPr/>
          </p:nvGrpSpPr>
          <p:grpSpPr>
            <a:xfrm>
              <a:off x="838200" y="663636"/>
              <a:ext cx="18039873" cy="11437012"/>
              <a:chOff x="0" y="-38100"/>
              <a:chExt cx="3937354" cy="2496224"/>
            </a:xfrm>
          </p:grpSpPr>
          <p:sp>
            <p:nvSpPr>
              <p:cNvPr id="111" name="Google Shape;111;p15">
                <a:extLst>
                  <a:ext uri="{FF2B5EF4-FFF2-40B4-BE49-F238E27FC236}">
                    <a16:creationId xmlns:a16="http://schemas.microsoft.com/office/drawing/2014/main" id="{75529C1E-55E2-9537-A42B-0C516A9024E3}"/>
                  </a:ext>
                </a:extLst>
              </p:cNvPr>
              <p:cNvSpPr/>
              <p:nvPr/>
            </p:nvSpPr>
            <p:spPr>
              <a:xfrm>
                <a:off x="0" y="0"/>
                <a:ext cx="3937354" cy="2394906"/>
              </a:xfrm>
              <a:custGeom>
                <a:avLst/>
                <a:gdLst/>
                <a:ahLst/>
                <a:cxnLst/>
                <a:rect l="l" t="t" r="r" b="b"/>
                <a:pathLst>
                  <a:path w="3937354" h="2394906" extrusionOk="0">
                    <a:moveTo>
                      <a:pt x="0" y="0"/>
                    </a:moveTo>
                    <a:lnTo>
                      <a:pt x="3937354" y="0"/>
                    </a:lnTo>
                    <a:lnTo>
                      <a:pt x="3937354" y="2394906"/>
                    </a:lnTo>
                    <a:lnTo>
                      <a:pt x="0" y="2394906"/>
                    </a:lnTo>
                    <a:close/>
                  </a:path>
                </a:pathLst>
              </a:custGeom>
              <a:solidFill>
                <a:srgbClr val="000000"/>
              </a:solidFill>
              <a:ln>
                <a:noFill/>
              </a:ln>
            </p:spPr>
          </p:sp>
          <p:sp>
            <p:nvSpPr>
              <p:cNvPr id="112" name="Google Shape;112;p15">
                <a:extLst>
                  <a:ext uri="{FF2B5EF4-FFF2-40B4-BE49-F238E27FC236}">
                    <a16:creationId xmlns:a16="http://schemas.microsoft.com/office/drawing/2014/main" id="{B876EC19-448D-3493-5FFC-F069BBBF42EB}"/>
                  </a:ext>
                </a:extLst>
              </p:cNvPr>
              <p:cNvSpPr txBox="1"/>
              <p:nvPr/>
            </p:nvSpPr>
            <p:spPr>
              <a:xfrm>
                <a:off x="0" y="-38100"/>
                <a:ext cx="3937354" cy="2496224"/>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grpSp>
        <p:grpSp>
          <p:nvGrpSpPr>
            <p:cNvPr id="113" name="Google Shape;113;p15">
              <a:extLst>
                <a:ext uri="{FF2B5EF4-FFF2-40B4-BE49-F238E27FC236}">
                  <a16:creationId xmlns:a16="http://schemas.microsoft.com/office/drawing/2014/main" id="{F25FA66A-C49C-C1A3-178B-7CD099B4F6DF}"/>
                </a:ext>
              </a:extLst>
            </p:cNvPr>
            <p:cNvGrpSpPr/>
            <p:nvPr/>
          </p:nvGrpSpPr>
          <p:grpSpPr>
            <a:xfrm>
              <a:off x="0" y="-174564"/>
              <a:ext cx="18039873" cy="11531455"/>
              <a:chOff x="0" y="-38100"/>
              <a:chExt cx="3937354" cy="2516837"/>
            </a:xfrm>
          </p:grpSpPr>
          <p:sp>
            <p:nvSpPr>
              <p:cNvPr id="114" name="Google Shape;114;p15">
                <a:extLst>
                  <a:ext uri="{FF2B5EF4-FFF2-40B4-BE49-F238E27FC236}">
                    <a16:creationId xmlns:a16="http://schemas.microsoft.com/office/drawing/2014/main" id="{CE872A9C-4371-0E8B-ED67-749D4CC7CDD2}"/>
                  </a:ext>
                </a:extLst>
              </p:cNvPr>
              <p:cNvSpPr/>
              <p:nvPr/>
            </p:nvSpPr>
            <p:spPr>
              <a:xfrm>
                <a:off x="0" y="0"/>
                <a:ext cx="3937354" cy="2394906"/>
              </a:xfrm>
              <a:custGeom>
                <a:avLst/>
                <a:gdLst/>
                <a:ahLst/>
                <a:cxnLst/>
                <a:rect l="l" t="t" r="r" b="b"/>
                <a:pathLst>
                  <a:path w="3937354" h="2394906" extrusionOk="0">
                    <a:moveTo>
                      <a:pt x="0" y="0"/>
                    </a:moveTo>
                    <a:lnTo>
                      <a:pt x="3937354" y="0"/>
                    </a:lnTo>
                    <a:lnTo>
                      <a:pt x="3937354" y="2394906"/>
                    </a:lnTo>
                    <a:lnTo>
                      <a:pt x="0" y="2394906"/>
                    </a:lnTo>
                    <a:close/>
                  </a:path>
                </a:pathLst>
              </a:custGeom>
              <a:solidFill>
                <a:srgbClr val="FFFDFC"/>
              </a:solidFill>
              <a:ln>
                <a:noFill/>
              </a:ln>
            </p:spPr>
          </p:sp>
          <p:sp>
            <p:nvSpPr>
              <p:cNvPr id="115" name="Google Shape;115;p15">
                <a:extLst>
                  <a:ext uri="{FF2B5EF4-FFF2-40B4-BE49-F238E27FC236}">
                    <a16:creationId xmlns:a16="http://schemas.microsoft.com/office/drawing/2014/main" id="{E7E19812-1DD4-DE6A-B44D-1F648D229DDC}"/>
                  </a:ext>
                </a:extLst>
              </p:cNvPr>
              <p:cNvSpPr txBox="1"/>
              <p:nvPr/>
            </p:nvSpPr>
            <p:spPr>
              <a:xfrm>
                <a:off x="0" y="-38100"/>
                <a:ext cx="3937354" cy="251683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116" name="Google Shape;116;p15">
            <a:extLst>
              <a:ext uri="{FF2B5EF4-FFF2-40B4-BE49-F238E27FC236}">
                <a16:creationId xmlns:a16="http://schemas.microsoft.com/office/drawing/2014/main" id="{4D72A746-EA84-BE60-3FAB-7712B9B88D0E}"/>
              </a:ext>
            </a:extLst>
          </p:cNvPr>
          <p:cNvSpPr txBox="1"/>
          <p:nvPr/>
        </p:nvSpPr>
        <p:spPr>
          <a:xfrm>
            <a:off x="1435821" y="1240990"/>
            <a:ext cx="10658261" cy="1415772"/>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8000" b="1" i="0" u="none" strike="noStrike" cap="none" dirty="0">
                <a:solidFill>
                  <a:srgbClr val="000000"/>
                </a:solidFill>
                <a:latin typeface="Libre Baskerville"/>
                <a:ea typeface="Libre Baskerville"/>
                <a:cs typeface="Libre Baskerville"/>
                <a:sym typeface="Libre Baskerville"/>
              </a:rPr>
              <a:t>DATASET</a:t>
            </a:r>
            <a:endParaRPr dirty="0"/>
          </a:p>
        </p:txBody>
      </p:sp>
      <p:pic>
        <p:nvPicPr>
          <p:cNvPr id="3" name="Picture 2">
            <a:extLst>
              <a:ext uri="{FF2B5EF4-FFF2-40B4-BE49-F238E27FC236}">
                <a16:creationId xmlns:a16="http://schemas.microsoft.com/office/drawing/2014/main" id="{D1375E88-8BA6-8DB7-7B54-172D63E3A1E1}"/>
              </a:ext>
            </a:extLst>
          </p:cNvPr>
          <p:cNvPicPr>
            <a:picLocks noChangeAspect="1"/>
          </p:cNvPicPr>
          <p:nvPr/>
        </p:nvPicPr>
        <p:blipFill>
          <a:blip r:embed="rId4"/>
          <a:srcRect t="26784" b="9321"/>
          <a:stretch/>
        </p:blipFill>
        <p:spPr>
          <a:xfrm>
            <a:off x="469231" y="3123958"/>
            <a:ext cx="17349537" cy="6861737"/>
          </a:xfrm>
          <a:prstGeom prst="rect">
            <a:avLst/>
          </a:prstGeom>
          <a:ln>
            <a:solidFill>
              <a:schemeClr val="dk1">
                <a:shade val="15000"/>
              </a:schemeClr>
            </a:solidFill>
          </a:ln>
        </p:spPr>
      </p:pic>
      <p:pic>
        <p:nvPicPr>
          <p:cNvPr id="5" name="Picture 4">
            <a:extLst>
              <a:ext uri="{FF2B5EF4-FFF2-40B4-BE49-F238E27FC236}">
                <a16:creationId xmlns:a16="http://schemas.microsoft.com/office/drawing/2014/main" id="{B1267193-6E3D-5CC7-736B-15FA7BAFB0EC}"/>
              </a:ext>
            </a:extLst>
          </p:cNvPr>
          <p:cNvPicPr>
            <a:picLocks noChangeAspect="1"/>
          </p:cNvPicPr>
          <p:nvPr/>
        </p:nvPicPr>
        <p:blipFill>
          <a:blip r:embed="rId5"/>
          <a:srcRect t="27158" b="9321"/>
          <a:stretch/>
        </p:blipFill>
        <p:spPr>
          <a:xfrm>
            <a:off x="469230" y="3123958"/>
            <a:ext cx="17349537" cy="6861737"/>
          </a:xfrm>
          <a:prstGeom prst="rect">
            <a:avLst/>
          </a:prstGeom>
        </p:spPr>
      </p:pic>
    </p:spTree>
    <p:extLst>
      <p:ext uri="{BB962C8B-B14F-4D97-AF65-F5344CB8AC3E}">
        <p14:creationId xmlns:p14="http://schemas.microsoft.com/office/powerpoint/2010/main" val="41997638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0B0C"/>
        </a:solidFill>
        <a:effectLst/>
      </p:bgPr>
    </p:bg>
    <p:spTree>
      <p:nvGrpSpPr>
        <p:cNvPr id="1" name="Shape 97"/>
        <p:cNvGrpSpPr/>
        <p:nvPr/>
      </p:nvGrpSpPr>
      <p:grpSpPr>
        <a:xfrm>
          <a:off x="0" y="0"/>
          <a:ext cx="0" cy="0"/>
          <a:chOff x="0" y="0"/>
          <a:chExt cx="0" cy="0"/>
        </a:xfrm>
      </p:grpSpPr>
      <p:grpSp>
        <p:nvGrpSpPr>
          <p:cNvPr id="98" name="Google Shape;98;p14"/>
          <p:cNvGrpSpPr/>
          <p:nvPr/>
        </p:nvGrpSpPr>
        <p:grpSpPr>
          <a:xfrm>
            <a:off x="5739041" y="-144661"/>
            <a:ext cx="12548959" cy="10431661"/>
            <a:chOff x="0" y="-38100"/>
            <a:chExt cx="3305076" cy="2747433"/>
          </a:xfrm>
        </p:grpSpPr>
        <p:sp>
          <p:nvSpPr>
            <p:cNvPr id="99" name="Google Shape;99;p14"/>
            <p:cNvSpPr/>
            <p:nvPr/>
          </p:nvSpPr>
          <p:spPr>
            <a:xfrm>
              <a:off x="0" y="0"/>
              <a:ext cx="3305076" cy="2709333"/>
            </a:xfrm>
            <a:custGeom>
              <a:avLst/>
              <a:gdLst/>
              <a:ahLst/>
              <a:cxnLst/>
              <a:rect l="l" t="t" r="r" b="b"/>
              <a:pathLst>
                <a:path w="3305076" h="2709333" extrusionOk="0">
                  <a:moveTo>
                    <a:pt x="0" y="0"/>
                  </a:moveTo>
                  <a:lnTo>
                    <a:pt x="3305076" y="0"/>
                  </a:lnTo>
                  <a:lnTo>
                    <a:pt x="3305076" y="2709333"/>
                  </a:lnTo>
                  <a:lnTo>
                    <a:pt x="0" y="2709333"/>
                  </a:lnTo>
                  <a:close/>
                </a:path>
              </a:pathLst>
            </a:custGeom>
            <a:solidFill>
              <a:srgbClr val="FFFFFF"/>
            </a:solidFill>
            <a:ln>
              <a:noFill/>
            </a:ln>
          </p:spPr>
        </p:sp>
        <p:sp>
          <p:nvSpPr>
            <p:cNvPr id="100" name="Google Shape;100;p14"/>
            <p:cNvSpPr txBox="1"/>
            <p:nvPr/>
          </p:nvSpPr>
          <p:spPr>
            <a:xfrm>
              <a:off x="0" y="-38100"/>
              <a:ext cx="3305076" cy="2747433"/>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1" name="Google Shape;101;p14"/>
          <p:cNvSpPr txBox="1"/>
          <p:nvPr/>
        </p:nvSpPr>
        <p:spPr>
          <a:xfrm>
            <a:off x="6742385" y="1057275"/>
            <a:ext cx="10137234" cy="1415772"/>
          </a:xfrm>
          <a:prstGeom prst="rect">
            <a:avLst/>
          </a:prstGeom>
          <a:noFill/>
          <a:ln>
            <a:noFill/>
          </a:ln>
        </p:spPr>
        <p:txBody>
          <a:bodyPr spcFirstLastPara="1" wrap="square" lIns="0" tIns="0" rIns="0" bIns="0" anchor="t" anchorCtr="0">
            <a:spAutoFit/>
          </a:bodyPr>
          <a:lstStyle/>
          <a:p>
            <a:pPr marL="0" marR="0" lvl="0" indent="0" algn="just" rtl="0">
              <a:lnSpc>
                <a:spcPct val="115000"/>
              </a:lnSpc>
              <a:spcBef>
                <a:spcPts val="0"/>
              </a:spcBef>
              <a:spcAft>
                <a:spcPts val="0"/>
              </a:spcAft>
              <a:buNone/>
            </a:pPr>
            <a:r>
              <a:rPr lang="en-US" sz="8000" b="1" i="0" u="none" strike="noStrike" cap="none" dirty="0">
                <a:solidFill>
                  <a:srgbClr val="000000"/>
                </a:solidFill>
                <a:latin typeface="Libre Baskerville"/>
                <a:ea typeface="Libre Baskerville"/>
                <a:cs typeface="Libre Baskerville"/>
                <a:sym typeface="Libre Baskerville"/>
              </a:rPr>
              <a:t>DESCRIPTION</a:t>
            </a:r>
            <a:endParaRPr dirty="0"/>
          </a:p>
        </p:txBody>
      </p:sp>
      <p:sp>
        <p:nvSpPr>
          <p:cNvPr id="102" name="Google Shape;102;p14"/>
          <p:cNvSpPr txBox="1"/>
          <p:nvPr/>
        </p:nvSpPr>
        <p:spPr>
          <a:xfrm>
            <a:off x="6742385" y="3944620"/>
            <a:ext cx="10542300" cy="5686172"/>
          </a:xfrm>
          <a:prstGeom prst="rect">
            <a:avLst/>
          </a:prstGeom>
          <a:noFill/>
          <a:ln>
            <a:noFill/>
          </a:ln>
        </p:spPr>
        <p:txBody>
          <a:bodyPr spcFirstLastPara="1" wrap="square" lIns="0" tIns="0" rIns="0" bIns="0" anchor="t" anchorCtr="0">
            <a:spAutoFit/>
          </a:bodyPr>
          <a:lstStyle/>
          <a:p>
            <a:pPr marL="0" marR="0" lvl="0" indent="0" algn="just" rtl="0">
              <a:lnSpc>
                <a:spcPct val="140010"/>
              </a:lnSpc>
              <a:spcBef>
                <a:spcPts val="0"/>
              </a:spcBef>
              <a:spcAft>
                <a:spcPts val="0"/>
              </a:spcAft>
              <a:buNone/>
            </a:pPr>
            <a:r>
              <a:rPr lang="en-US" sz="3299" i="0" u="none" strike="noStrike" cap="none" dirty="0">
                <a:solidFill>
                  <a:srgbClr val="000000"/>
                </a:solidFill>
                <a:latin typeface="Poppins"/>
                <a:ea typeface="Poppins"/>
                <a:cs typeface="Poppins"/>
                <a:sym typeface="Poppins"/>
              </a:rPr>
              <a:t>A potential problem to investigate could be: "What factors influence the success of a movie on IMDB?" Here, success can be defined by high IMDB ratings. The impact of this problem is significant for movie producers, directors, and investors who want to understand what makes a movie successful to make informed decisions in their future projects..</a:t>
            </a:r>
            <a:endParaRPr sz="900" dirty="0">
              <a:latin typeface="Poppins"/>
              <a:ea typeface="Poppins"/>
              <a:cs typeface="Poppins"/>
              <a:sym typeface="Poppins"/>
            </a:endParaRPr>
          </a:p>
        </p:txBody>
      </p:sp>
      <p:pic>
        <p:nvPicPr>
          <p:cNvPr id="103" name="Google Shape;103;p14"/>
          <p:cNvPicPr preferRelativeResize="0"/>
          <p:nvPr/>
        </p:nvPicPr>
        <p:blipFill>
          <a:blip r:embed="rId3">
            <a:alphaModFix/>
          </a:blip>
          <a:stretch>
            <a:fillRect/>
          </a:stretch>
        </p:blipFill>
        <p:spPr>
          <a:xfrm>
            <a:off x="-675" y="0"/>
            <a:ext cx="5740400" cy="10287000"/>
          </a:xfrm>
          <a:prstGeom prst="rect">
            <a:avLst/>
          </a:prstGeom>
          <a:noFill/>
          <a:ln>
            <a:noFill/>
          </a:ln>
        </p:spPr>
      </p:pic>
    </p:spTree>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B07F3B67-B135-331C-7E08-66D50ACB89B1}"/>
            </a:ext>
          </a:extLst>
        </p:cNvPr>
        <p:cNvGrpSpPr/>
        <p:nvPr/>
      </p:nvGrpSpPr>
      <p:grpSpPr>
        <a:xfrm>
          <a:off x="0" y="0"/>
          <a:ext cx="0" cy="0"/>
          <a:chOff x="0" y="0"/>
          <a:chExt cx="0" cy="0"/>
        </a:xfrm>
      </p:grpSpPr>
      <p:pic>
        <p:nvPicPr>
          <p:cNvPr id="136" name="Google Shape;136;p17">
            <a:extLst>
              <a:ext uri="{FF2B5EF4-FFF2-40B4-BE49-F238E27FC236}">
                <a16:creationId xmlns:a16="http://schemas.microsoft.com/office/drawing/2014/main" id="{76EA4240-A2DA-39AC-4E1D-B1C68B1C10CB}"/>
              </a:ext>
            </a:extLst>
          </p:cNvPr>
          <p:cNvPicPr preferRelativeResize="0"/>
          <p:nvPr/>
        </p:nvPicPr>
        <p:blipFill>
          <a:blip r:embed="rId3">
            <a:alphaModFix/>
          </a:blip>
          <a:stretch>
            <a:fillRect/>
          </a:stretch>
        </p:blipFill>
        <p:spPr>
          <a:xfrm>
            <a:off x="0" y="-12"/>
            <a:ext cx="18288000" cy="10287000"/>
          </a:xfrm>
          <a:prstGeom prst="rect">
            <a:avLst/>
          </a:prstGeom>
          <a:noFill/>
          <a:ln>
            <a:noFill/>
          </a:ln>
        </p:spPr>
      </p:pic>
      <p:sp>
        <p:nvSpPr>
          <p:cNvPr id="137" name="Google Shape;137;p17">
            <a:extLst>
              <a:ext uri="{FF2B5EF4-FFF2-40B4-BE49-F238E27FC236}">
                <a16:creationId xmlns:a16="http://schemas.microsoft.com/office/drawing/2014/main" id="{D468C0C2-0A45-4BA7-32A7-0DAE10FBA0D1}"/>
              </a:ext>
            </a:extLst>
          </p:cNvPr>
          <p:cNvSpPr txBox="1"/>
          <p:nvPr/>
        </p:nvSpPr>
        <p:spPr>
          <a:xfrm>
            <a:off x="1028700" y="1005183"/>
            <a:ext cx="10137234" cy="1769715"/>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10000" b="1" i="0" u="none" strike="noStrike" cap="none" dirty="0">
                <a:solidFill>
                  <a:srgbClr val="E5D6A8"/>
                </a:solidFill>
                <a:latin typeface="Libre Baskerville"/>
                <a:ea typeface="Libre Baskerville"/>
                <a:cs typeface="Libre Baskerville"/>
                <a:sym typeface="Libre Baskerville"/>
              </a:rPr>
              <a:t>Task Overview</a:t>
            </a:r>
            <a:endParaRPr dirty="0"/>
          </a:p>
        </p:txBody>
      </p:sp>
      <p:sp>
        <p:nvSpPr>
          <p:cNvPr id="138" name="Google Shape;138;p17">
            <a:extLst>
              <a:ext uri="{FF2B5EF4-FFF2-40B4-BE49-F238E27FC236}">
                <a16:creationId xmlns:a16="http://schemas.microsoft.com/office/drawing/2014/main" id="{E24C426B-63AA-DEC5-59C8-41BF11E900ED}"/>
              </a:ext>
            </a:extLst>
          </p:cNvPr>
          <p:cNvSpPr txBox="1"/>
          <p:nvPr/>
        </p:nvSpPr>
        <p:spPr>
          <a:xfrm>
            <a:off x="1028700" y="3441081"/>
            <a:ext cx="6969406"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Movie Genre Analysis</a:t>
            </a:r>
            <a:endParaRPr sz="3200" dirty="0">
              <a:latin typeface="Poppins"/>
              <a:ea typeface="Poppins"/>
              <a:cs typeface="Poppins"/>
              <a:sym typeface="Poppins"/>
            </a:endParaRPr>
          </a:p>
        </p:txBody>
      </p:sp>
      <p:sp>
        <p:nvSpPr>
          <p:cNvPr id="139" name="Google Shape;139;p17">
            <a:extLst>
              <a:ext uri="{FF2B5EF4-FFF2-40B4-BE49-F238E27FC236}">
                <a16:creationId xmlns:a16="http://schemas.microsoft.com/office/drawing/2014/main" id="{E9BE2C6F-D9C3-3EA8-D6E5-732FABC6F072}"/>
              </a:ext>
            </a:extLst>
          </p:cNvPr>
          <p:cNvSpPr txBox="1"/>
          <p:nvPr/>
        </p:nvSpPr>
        <p:spPr>
          <a:xfrm>
            <a:off x="1028700" y="4627322"/>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Movie Duration Analysis</a:t>
            </a:r>
            <a:endParaRPr sz="3200" dirty="0">
              <a:latin typeface="Poppins"/>
              <a:ea typeface="Poppins"/>
              <a:cs typeface="Poppins"/>
              <a:sym typeface="Poppins"/>
            </a:endParaRPr>
          </a:p>
        </p:txBody>
      </p:sp>
      <p:sp>
        <p:nvSpPr>
          <p:cNvPr id="140" name="Google Shape;140;p17">
            <a:extLst>
              <a:ext uri="{FF2B5EF4-FFF2-40B4-BE49-F238E27FC236}">
                <a16:creationId xmlns:a16="http://schemas.microsoft.com/office/drawing/2014/main" id="{CE792E80-DDB2-C68A-B268-180C53AC5A9D}"/>
              </a:ext>
            </a:extLst>
          </p:cNvPr>
          <p:cNvSpPr txBox="1"/>
          <p:nvPr/>
        </p:nvSpPr>
        <p:spPr>
          <a:xfrm>
            <a:off x="1028700" y="5789500"/>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Language Analysis</a:t>
            </a:r>
            <a:endParaRPr lang="en-US" sz="3200" dirty="0">
              <a:latin typeface="Poppins"/>
              <a:ea typeface="Poppins"/>
              <a:cs typeface="Poppins"/>
              <a:sym typeface="Poppins"/>
            </a:endParaRPr>
          </a:p>
        </p:txBody>
      </p:sp>
      <p:sp>
        <p:nvSpPr>
          <p:cNvPr id="141" name="Google Shape;141;p17">
            <a:extLst>
              <a:ext uri="{FF2B5EF4-FFF2-40B4-BE49-F238E27FC236}">
                <a16:creationId xmlns:a16="http://schemas.microsoft.com/office/drawing/2014/main" id="{4C72354D-29F8-BA65-BA53-CA4AAB4E9265}"/>
              </a:ext>
            </a:extLst>
          </p:cNvPr>
          <p:cNvSpPr txBox="1"/>
          <p:nvPr/>
        </p:nvSpPr>
        <p:spPr>
          <a:xfrm>
            <a:off x="1028700" y="6951678"/>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Director Analysis</a:t>
            </a:r>
            <a:endParaRPr sz="3200" dirty="0">
              <a:latin typeface="Poppins"/>
              <a:ea typeface="Poppins"/>
              <a:cs typeface="Poppins"/>
              <a:sym typeface="Poppins"/>
            </a:endParaRPr>
          </a:p>
        </p:txBody>
      </p:sp>
      <p:cxnSp>
        <p:nvCxnSpPr>
          <p:cNvPr id="142" name="Google Shape;142;p17">
            <a:extLst>
              <a:ext uri="{FF2B5EF4-FFF2-40B4-BE49-F238E27FC236}">
                <a16:creationId xmlns:a16="http://schemas.microsoft.com/office/drawing/2014/main" id="{424D99DA-008B-2A0C-32F6-C5E7154B110B}"/>
              </a:ext>
            </a:extLst>
          </p:cNvPr>
          <p:cNvCxnSpPr/>
          <p:nvPr/>
        </p:nvCxnSpPr>
        <p:spPr>
          <a:xfrm>
            <a:off x="1028700" y="4390943"/>
            <a:ext cx="6492240" cy="0"/>
          </a:xfrm>
          <a:prstGeom prst="straightConnector1">
            <a:avLst/>
          </a:prstGeom>
          <a:noFill/>
          <a:ln w="19050" cap="flat" cmpd="sng">
            <a:solidFill>
              <a:srgbClr val="FFFDFC"/>
            </a:solidFill>
            <a:prstDash val="solid"/>
            <a:round/>
            <a:headEnd type="none" w="sm" len="sm"/>
            <a:tailEnd type="none" w="sm" len="sm"/>
          </a:ln>
        </p:spPr>
      </p:cxnSp>
      <p:cxnSp>
        <p:nvCxnSpPr>
          <p:cNvPr id="143" name="Google Shape;143;p17">
            <a:extLst>
              <a:ext uri="{FF2B5EF4-FFF2-40B4-BE49-F238E27FC236}">
                <a16:creationId xmlns:a16="http://schemas.microsoft.com/office/drawing/2014/main" id="{EAF0763D-DAC7-8F55-B4E0-621D6EB5B20D}"/>
              </a:ext>
            </a:extLst>
          </p:cNvPr>
          <p:cNvCxnSpPr/>
          <p:nvPr/>
        </p:nvCxnSpPr>
        <p:spPr>
          <a:xfrm>
            <a:off x="1028700" y="5553121"/>
            <a:ext cx="6492240" cy="0"/>
          </a:xfrm>
          <a:prstGeom prst="straightConnector1">
            <a:avLst/>
          </a:prstGeom>
          <a:noFill/>
          <a:ln w="19050" cap="flat" cmpd="sng">
            <a:solidFill>
              <a:srgbClr val="FFFDFC"/>
            </a:solidFill>
            <a:prstDash val="solid"/>
            <a:round/>
            <a:headEnd type="none" w="sm" len="sm"/>
            <a:tailEnd type="none" w="sm" len="sm"/>
          </a:ln>
        </p:spPr>
      </p:cxnSp>
      <p:cxnSp>
        <p:nvCxnSpPr>
          <p:cNvPr id="144" name="Google Shape;144;p17">
            <a:extLst>
              <a:ext uri="{FF2B5EF4-FFF2-40B4-BE49-F238E27FC236}">
                <a16:creationId xmlns:a16="http://schemas.microsoft.com/office/drawing/2014/main" id="{599702C4-CB30-E2D0-FD40-738BF79E698A}"/>
              </a:ext>
            </a:extLst>
          </p:cNvPr>
          <p:cNvCxnSpPr/>
          <p:nvPr/>
        </p:nvCxnSpPr>
        <p:spPr>
          <a:xfrm>
            <a:off x="1028700" y="6715299"/>
            <a:ext cx="6492240" cy="0"/>
          </a:xfrm>
          <a:prstGeom prst="straightConnector1">
            <a:avLst/>
          </a:prstGeom>
          <a:noFill/>
          <a:ln w="19050" cap="flat" cmpd="sng">
            <a:solidFill>
              <a:srgbClr val="FFFDFC"/>
            </a:solidFill>
            <a:prstDash val="solid"/>
            <a:round/>
            <a:headEnd type="none" w="sm" len="sm"/>
            <a:tailEnd type="none" w="sm" len="sm"/>
          </a:ln>
        </p:spPr>
      </p:cxnSp>
      <p:cxnSp>
        <p:nvCxnSpPr>
          <p:cNvPr id="145" name="Google Shape;145;p17">
            <a:extLst>
              <a:ext uri="{FF2B5EF4-FFF2-40B4-BE49-F238E27FC236}">
                <a16:creationId xmlns:a16="http://schemas.microsoft.com/office/drawing/2014/main" id="{8BB0EAC2-BE3A-8AC8-AC46-9972C7300A4C}"/>
              </a:ext>
            </a:extLst>
          </p:cNvPr>
          <p:cNvCxnSpPr/>
          <p:nvPr/>
        </p:nvCxnSpPr>
        <p:spPr>
          <a:xfrm>
            <a:off x="1028700" y="7877477"/>
            <a:ext cx="6492240" cy="0"/>
          </a:xfrm>
          <a:prstGeom prst="straightConnector1">
            <a:avLst/>
          </a:prstGeom>
          <a:noFill/>
          <a:ln w="19050" cap="flat" cmpd="sng">
            <a:solidFill>
              <a:srgbClr val="FFFDFC"/>
            </a:solidFill>
            <a:prstDash val="solid"/>
            <a:round/>
            <a:headEnd type="none" w="sm" len="sm"/>
            <a:tailEnd type="none" w="sm" len="sm"/>
          </a:ln>
        </p:spPr>
      </p:cxnSp>
      <p:sp>
        <p:nvSpPr>
          <p:cNvPr id="2" name="Google Shape;141;p17">
            <a:extLst>
              <a:ext uri="{FF2B5EF4-FFF2-40B4-BE49-F238E27FC236}">
                <a16:creationId xmlns:a16="http://schemas.microsoft.com/office/drawing/2014/main" id="{DDB54116-53D2-2B28-6E40-A9E444068341}"/>
              </a:ext>
            </a:extLst>
          </p:cNvPr>
          <p:cNvSpPr txBox="1"/>
          <p:nvPr/>
        </p:nvSpPr>
        <p:spPr>
          <a:xfrm>
            <a:off x="1028700" y="8113856"/>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Budget Analysis</a:t>
            </a:r>
            <a:endParaRPr lang="en-US" sz="3200" dirty="0">
              <a:latin typeface="Poppins"/>
              <a:ea typeface="Poppins"/>
              <a:cs typeface="Poppins"/>
              <a:sym typeface="Poppins"/>
            </a:endParaRPr>
          </a:p>
        </p:txBody>
      </p:sp>
      <p:cxnSp>
        <p:nvCxnSpPr>
          <p:cNvPr id="3" name="Google Shape;145;p17">
            <a:extLst>
              <a:ext uri="{FF2B5EF4-FFF2-40B4-BE49-F238E27FC236}">
                <a16:creationId xmlns:a16="http://schemas.microsoft.com/office/drawing/2014/main" id="{890C997A-402C-5B30-E01B-94E35CE54842}"/>
              </a:ext>
            </a:extLst>
          </p:cNvPr>
          <p:cNvCxnSpPr/>
          <p:nvPr/>
        </p:nvCxnSpPr>
        <p:spPr>
          <a:xfrm>
            <a:off x="1028700" y="9039658"/>
            <a:ext cx="6492240" cy="0"/>
          </a:xfrm>
          <a:prstGeom prst="straightConnector1">
            <a:avLst/>
          </a:prstGeom>
          <a:noFill/>
          <a:ln w="19050" cap="flat" cmpd="sng">
            <a:solidFill>
              <a:srgbClr val="FFFDFC"/>
            </a:solidFill>
            <a:prstDash val="solid"/>
            <a:round/>
            <a:headEnd type="none" w="sm" len="sm"/>
            <a:tailEnd type="none" w="sm" len="sm"/>
          </a:ln>
        </p:spPr>
      </p:cxnSp>
    </p:spTree>
    <p:extLst>
      <p:ext uri="{BB962C8B-B14F-4D97-AF65-F5344CB8AC3E}">
        <p14:creationId xmlns:p14="http://schemas.microsoft.com/office/powerpoint/2010/main" val="321043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p:cNvGrpSpPr/>
        <p:nvPr/>
      </p:nvGrpSpPr>
      <p:grpSpPr>
        <a:xfrm>
          <a:off x="0" y="0"/>
          <a:ext cx="0" cy="0"/>
          <a:chOff x="0" y="0"/>
          <a:chExt cx="0" cy="0"/>
        </a:xfrm>
      </p:grpSpPr>
      <p:pic>
        <p:nvPicPr>
          <p:cNvPr id="136" name="Google Shape;136;p17"/>
          <p:cNvPicPr preferRelativeResize="0"/>
          <p:nvPr/>
        </p:nvPicPr>
        <p:blipFill>
          <a:blip r:embed="rId3">
            <a:alphaModFix/>
          </a:blip>
          <a:stretch>
            <a:fillRect/>
          </a:stretch>
        </p:blipFill>
        <p:spPr>
          <a:xfrm>
            <a:off x="0" y="-12"/>
            <a:ext cx="18288000" cy="10287000"/>
          </a:xfrm>
          <a:prstGeom prst="rect">
            <a:avLst/>
          </a:prstGeom>
          <a:noFill/>
          <a:ln>
            <a:noFill/>
          </a:ln>
        </p:spPr>
      </p:pic>
      <p:sp>
        <p:nvSpPr>
          <p:cNvPr id="137" name="Google Shape;137;p17"/>
          <p:cNvSpPr txBox="1"/>
          <p:nvPr/>
        </p:nvSpPr>
        <p:spPr>
          <a:xfrm>
            <a:off x="1028700" y="1005183"/>
            <a:ext cx="10137234" cy="1769715"/>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10000" b="1" i="0" u="none" strike="noStrike" cap="none" dirty="0">
                <a:solidFill>
                  <a:srgbClr val="E5D6A8"/>
                </a:solidFill>
                <a:latin typeface="Libre Baskerville"/>
                <a:ea typeface="Libre Baskerville"/>
                <a:cs typeface="Libre Baskerville"/>
                <a:sym typeface="Libre Baskerville"/>
              </a:rPr>
              <a:t>Task Overview</a:t>
            </a:r>
            <a:endParaRPr dirty="0"/>
          </a:p>
        </p:txBody>
      </p:sp>
      <p:sp>
        <p:nvSpPr>
          <p:cNvPr id="138" name="Google Shape;138;p17"/>
          <p:cNvSpPr txBox="1"/>
          <p:nvPr/>
        </p:nvSpPr>
        <p:spPr>
          <a:xfrm>
            <a:off x="5539297" y="3356813"/>
            <a:ext cx="6969406"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b="1" i="0" strike="noStrike" cap="none" dirty="0">
                <a:solidFill>
                  <a:schemeClr val="tx1"/>
                </a:solidFill>
                <a:highlight>
                  <a:srgbClr val="C0C0C0"/>
                </a:highlight>
                <a:latin typeface="Poppins"/>
                <a:ea typeface="Poppins"/>
                <a:cs typeface="Poppins"/>
                <a:sym typeface="Poppins"/>
              </a:rPr>
              <a:t>Movie Genre Analysis</a:t>
            </a:r>
            <a:endParaRPr sz="3200" b="1" dirty="0">
              <a:solidFill>
                <a:schemeClr val="tx1"/>
              </a:solidFill>
              <a:highlight>
                <a:srgbClr val="C0C0C0"/>
              </a:highlight>
              <a:latin typeface="Poppins"/>
              <a:ea typeface="Poppins"/>
              <a:cs typeface="Poppins"/>
              <a:sym typeface="Poppins"/>
            </a:endParaRPr>
          </a:p>
        </p:txBody>
      </p:sp>
      <p:sp>
        <p:nvSpPr>
          <p:cNvPr id="139" name="Google Shape;139;p17"/>
          <p:cNvSpPr txBox="1"/>
          <p:nvPr/>
        </p:nvSpPr>
        <p:spPr>
          <a:xfrm>
            <a:off x="1028700" y="4627322"/>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Movie Duration Analysis</a:t>
            </a:r>
            <a:endParaRPr sz="3200" dirty="0">
              <a:latin typeface="Poppins"/>
              <a:ea typeface="Poppins"/>
              <a:cs typeface="Poppins"/>
              <a:sym typeface="Poppins"/>
            </a:endParaRPr>
          </a:p>
        </p:txBody>
      </p:sp>
      <p:sp>
        <p:nvSpPr>
          <p:cNvPr id="140" name="Google Shape;140;p17"/>
          <p:cNvSpPr txBox="1"/>
          <p:nvPr/>
        </p:nvSpPr>
        <p:spPr>
          <a:xfrm>
            <a:off x="1028700" y="5789500"/>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Language Analysis</a:t>
            </a:r>
            <a:endParaRPr lang="en-US" sz="3200" dirty="0">
              <a:latin typeface="Poppins"/>
              <a:ea typeface="Poppins"/>
              <a:cs typeface="Poppins"/>
              <a:sym typeface="Poppins"/>
            </a:endParaRPr>
          </a:p>
        </p:txBody>
      </p:sp>
      <p:sp>
        <p:nvSpPr>
          <p:cNvPr id="141" name="Google Shape;141;p17"/>
          <p:cNvSpPr txBox="1"/>
          <p:nvPr/>
        </p:nvSpPr>
        <p:spPr>
          <a:xfrm>
            <a:off x="1028700" y="6951678"/>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Director Analysis</a:t>
            </a:r>
            <a:endParaRPr sz="3200" dirty="0">
              <a:latin typeface="Poppins"/>
              <a:ea typeface="Poppins"/>
              <a:cs typeface="Poppins"/>
              <a:sym typeface="Poppins"/>
            </a:endParaRPr>
          </a:p>
        </p:txBody>
      </p:sp>
      <p:cxnSp>
        <p:nvCxnSpPr>
          <p:cNvPr id="142" name="Google Shape;142;p17"/>
          <p:cNvCxnSpPr/>
          <p:nvPr/>
        </p:nvCxnSpPr>
        <p:spPr>
          <a:xfrm>
            <a:off x="1028700" y="4390943"/>
            <a:ext cx="6492240" cy="0"/>
          </a:xfrm>
          <a:prstGeom prst="straightConnector1">
            <a:avLst/>
          </a:prstGeom>
          <a:noFill/>
          <a:ln w="19050" cap="flat" cmpd="sng">
            <a:solidFill>
              <a:srgbClr val="FFFDFC"/>
            </a:solidFill>
            <a:prstDash val="solid"/>
            <a:round/>
            <a:headEnd type="none" w="sm" len="sm"/>
            <a:tailEnd type="none" w="sm" len="sm"/>
          </a:ln>
        </p:spPr>
      </p:cxnSp>
      <p:cxnSp>
        <p:nvCxnSpPr>
          <p:cNvPr id="143" name="Google Shape;143;p17"/>
          <p:cNvCxnSpPr/>
          <p:nvPr/>
        </p:nvCxnSpPr>
        <p:spPr>
          <a:xfrm>
            <a:off x="1028700" y="5553121"/>
            <a:ext cx="6492240" cy="0"/>
          </a:xfrm>
          <a:prstGeom prst="straightConnector1">
            <a:avLst/>
          </a:prstGeom>
          <a:noFill/>
          <a:ln w="19050" cap="flat" cmpd="sng">
            <a:solidFill>
              <a:srgbClr val="FFFDFC"/>
            </a:solidFill>
            <a:prstDash val="solid"/>
            <a:round/>
            <a:headEnd type="none" w="sm" len="sm"/>
            <a:tailEnd type="none" w="sm" len="sm"/>
          </a:ln>
        </p:spPr>
      </p:cxnSp>
      <p:cxnSp>
        <p:nvCxnSpPr>
          <p:cNvPr id="144" name="Google Shape;144;p17"/>
          <p:cNvCxnSpPr/>
          <p:nvPr/>
        </p:nvCxnSpPr>
        <p:spPr>
          <a:xfrm>
            <a:off x="1028700" y="6715299"/>
            <a:ext cx="6492240" cy="0"/>
          </a:xfrm>
          <a:prstGeom prst="straightConnector1">
            <a:avLst/>
          </a:prstGeom>
          <a:noFill/>
          <a:ln w="19050" cap="flat" cmpd="sng">
            <a:solidFill>
              <a:srgbClr val="FFFDFC"/>
            </a:solidFill>
            <a:prstDash val="solid"/>
            <a:round/>
            <a:headEnd type="none" w="sm" len="sm"/>
            <a:tailEnd type="none" w="sm" len="sm"/>
          </a:ln>
        </p:spPr>
      </p:cxnSp>
      <p:cxnSp>
        <p:nvCxnSpPr>
          <p:cNvPr id="145" name="Google Shape;145;p17"/>
          <p:cNvCxnSpPr/>
          <p:nvPr/>
        </p:nvCxnSpPr>
        <p:spPr>
          <a:xfrm>
            <a:off x="1028700" y="7877477"/>
            <a:ext cx="6492240" cy="0"/>
          </a:xfrm>
          <a:prstGeom prst="straightConnector1">
            <a:avLst/>
          </a:prstGeom>
          <a:noFill/>
          <a:ln w="19050" cap="flat" cmpd="sng">
            <a:solidFill>
              <a:srgbClr val="FFFDFC"/>
            </a:solidFill>
            <a:prstDash val="solid"/>
            <a:round/>
            <a:headEnd type="none" w="sm" len="sm"/>
            <a:tailEnd type="none" w="sm" len="sm"/>
          </a:ln>
        </p:spPr>
      </p:cxnSp>
      <p:sp>
        <p:nvSpPr>
          <p:cNvPr id="2" name="Google Shape;141;p17">
            <a:extLst>
              <a:ext uri="{FF2B5EF4-FFF2-40B4-BE49-F238E27FC236}">
                <a16:creationId xmlns:a16="http://schemas.microsoft.com/office/drawing/2014/main" id="{037379AC-B3D4-D7B2-0156-8D02AF791A25}"/>
              </a:ext>
            </a:extLst>
          </p:cNvPr>
          <p:cNvSpPr txBox="1"/>
          <p:nvPr/>
        </p:nvSpPr>
        <p:spPr>
          <a:xfrm>
            <a:off x="1028700" y="8113856"/>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Budget Analysis</a:t>
            </a:r>
            <a:endParaRPr lang="en-US" sz="3200" dirty="0">
              <a:latin typeface="Poppins"/>
              <a:ea typeface="Poppins"/>
              <a:cs typeface="Poppins"/>
              <a:sym typeface="Poppins"/>
            </a:endParaRPr>
          </a:p>
        </p:txBody>
      </p:sp>
      <p:cxnSp>
        <p:nvCxnSpPr>
          <p:cNvPr id="3" name="Google Shape;145;p17">
            <a:extLst>
              <a:ext uri="{FF2B5EF4-FFF2-40B4-BE49-F238E27FC236}">
                <a16:creationId xmlns:a16="http://schemas.microsoft.com/office/drawing/2014/main" id="{3B98B06F-D7AD-380B-61ED-AFB6DDAF21CC}"/>
              </a:ext>
            </a:extLst>
          </p:cNvPr>
          <p:cNvCxnSpPr/>
          <p:nvPr/>
        </p:nvCxnSpPr>
        <p:spPr>
          <a:xfrm>
            <a:off x="1028700" y="9039658"/>
            <a:ext cx="6492240" cy="0"/>
          </a:xfrm>
          <a:prstGeom prst="straightConnector1">
            <a:avLst/>
          </a:prstGeom>
          <a:noFill/>
          <a:ln w="19050" cap="flat" cmpd="sng">
            <a:solidFill>
              <a:srgbClr val="FFFDFC"/>
            </a:solidFill>
            <a:prstDash val="solid"/>
            <a:round/>
            <a:headEnd type="none" w="sm" len="sm"/>
            <a:tailEnd type="none" w="sm" len="sm"/>
          </a:ln>
        </p:spPr>
      </p:cxn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grpSp>
        <p:nvGrpSpPr>
          <p:cNvPr id="122" name="Google Shape;122;p16"/>
          <p:cNvGrpSpPr/>
          <p:nvPr/>
        </p:nvGrpSpPr>
        <p:grpSpPr>
          <a:xfrm>
            <a:off x="0" y="-144660"/>
            <a:ext cx="18288000" cy="2517158"/>
            <a:chOff x="0" y="-38100"/>
            <a:chExt cx="4816593" cy="908088"/>
          </a:xfrm>
        </p:grpSpPr>
        <p:sp>
          <p:nvSpPr>
            <p:cNvPr id="123" name="Google Shape;123;p16"/>
            <p:cNvSpPr/>
            <p:nvPr/>
          </p:nvSpPr>
          <p:spPr>
            <a:xfrm>
              <a:off x="0" y="0"/>
              <a:ext cx="4816592" cy="869988"/>
            </a:xfrm>
            <a:custGeom>
              <a:avLst/>
              <a:gdLst/>
              <a:ahLst/>
              <a:cxnLst/>
              <a:rect l="l" t="t" r="r" b="b"/>
              <a:pathLst>
                <a:path w="4816592" h="869988" extrusionOk="0">
                  <a:moveTo>
                    <a:pt x="0" y="0"/>
                  </a:moveTo>
                  <a:lnTo>
                    <a:pt x="4816592" y="0"/>
                  </a:lnTo>
                  <a:lnTo>
                    <a:pt x="4816592" y="869988"/>
                  </a:lnTo>
                  <a:lnTo>
                    <a:pt x="0" y="869988"/>
                  </a:lnTo>
                  <a:close/>
                </a:path>
              </a:pathLst>
            </a:custGeom>
            <a:solidFill>
              <a:srgbClr val="000000"/>
            </a:solidFill>
            <a:ln>
              <a:noFill/>
            </a:ln>
          </p:spPr>
          <p:txBody>
            <a:bodyPr/>
            <a:lstStyle/>
            <a:p>
              <a:endParaRPr lang="en-IN" dirty="0"/>
            </a:p>
          </p:txBody>
        </p:sp>
        <p:sp>
          <p:nvSpPr>
            <p:cNvPr id="124" name="Google Shape;124;p16"/>
            <p:cNvSpPr txBox="1"/>
            <p:nvPr/>
          </p:nvSpPr>
          <p:spPr>
            <a:xfrm>
              <a:off x="0" y="-38100"/>
              <a:ext cx="4816593" cy="90808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grpSp>
      <p:sp>
        <p:nvSpPr>
          <p:cNvPr id="125" name="Google Shape;125;p16"/>
          <p:cNvSpPr txBox="1"/>
          <p:nvPr/>
        </p:nvSpPr>
        <p:spPr>
          <a:xfrm>
            <a:off x="568411" y="514786"/>
            <a:ext cx="16690887" cy="1415772"/>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8000" b="1" i="0" u="none" strike="noStrike" cap="none" dirty="0">
                <a:solidFill>
                  <a:srgbClr val="E5D6A8"/>
                </a:solidFill>
                <a:latin typeface="Libre Baskerville"/>
                <a:ea typeface="Libre Baskerville"/>
                <a:cs typeface="Libre Baskerville"/>
                <a:sym typeface="Libre Baskerville"/>
              </a:rPr>
              <a:t>Movie Genre Analysis</a:t>
            </a:r>
            <a:endParaRPr lang="en-US" dirty="0"/>
          </a:p>
        </p:txBody>
      </p:sp>
      <p:sp>
        <p:nvSpPr>
          <p:cNvPr id="2" name="TextBox 1">
            <a:extLst>
              <a:ext uri="{FF2B5EF4-FFF2-40B4-BE49-F238E27FC236}">
                <a16:creationId xmlns:a16="http://schemas.microsoft.com/office/drawing/2014/main" id="{63718E82-654C-9A7F-564A-52313A851831}"/>
              </a:ext>
            </a:extLst>
          </p:cNvPr>
          <p:cNvSpPr txBox="1"/>
          <p:nvPr/>
        </p:nvSpPr>
        <p:spPr>
          <a:xfrm>
            <a:off x="568411" y="2656703"/>
            <a:ext cx="12356757"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Objective: </a:t>
            </a:r>
            <a:r>
              <a:rPr lang="en-IN" sz="3200" dirty="0">
                <a:latin typeface="Times New Roman" panose="02020603050405020304" pitchFamily="18" charset="0"/>
                <a:cs typeface="Times New Roman" panose="02020603050405020304" pitchFamily="18" charset="0"/>
              </a:rPr>
              <a:t>Analyse how genres affect IMDB scores.</a:t>
            </a:r>
            <a:endParaRPr lang="en-IN" sz="2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9E6B45F-706C-9947-F980-87730D1A73BA}"/>
              </a:ext>
            </a:extLst>
          </p:cNvPr>
          <p:cNvSpPr txBox="1"/>
          <p:nvPr/>
        </p:nvSpPr>
        <p:spPr>
          <a:xfrm>
            <a:off x="568410" y="8799168"/>
            <a:ext cx="12356757" cy="1077218"/>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Key Insight: </a:t>
            </a:r>
            <a:r>
              <a:rPr lang="en-US" sz="3200" dirty="0">
                <a:latin typeface="Times New Roman" panose="02020603050405020304" pitchFamily="18" charset="0"/>
                <a:cs typeface="Times New Roman" panose="02020603050405020304" pitchFamily="18" charset="0"/>
              </a:rPr>
              <a:t>Genres like </a:t>
            </a:r>
            <a:r>
              <a:rPr lang="en-US" sz="3200" u="sng" dirty="0">
                <a:latin typeface="Times New Roman" panose="02020603050405020304" pitchFamily="18" charset="0"/>
                <a:cs typeface="Times New Roman" panose="02020603050405020304" pitchFamily="18" charset="0"/>
              </a:rPr>
              <a:t>Film-Noir</a:t>
            </a:r>
            <a:r>
              <a:rPr lang="en-US" sz="3200" dirty="0">
                <a:latin typeface="Times New Roman" panose="02020603050405020304" pitchFamily="18" charset="0"/>
                <a:cs typeface="Times New Roman" panose="02020603050405020304" pitchFamily="18" charset="0"/>
              </a:rPr>
              <a:t> tend to perform better with higher average ratings.</a:t>
            </a:r>
            <a:endParaRPr lang="en-IN" sz="2400" dirty="0">
              <a:latin typeface="Times New Roman" panose="02020603050405020304" pitchFamily="18" charset="0"/>
              <a:cs typeface="Times New Roman" panose="02020603050405020304" pitchFamily="18" charset="0"/>
            </a:endParaRPr>
          </a:p>
        </p:txBody>
      </p:sp>
      <p:grpSp>
        <p:nvGrpSpPr>
          <p:cNvPr id="8" name="Group 7">
            <a:extLst>
              <a:ext uri="{FF2B5EF4-FFF2-40B4-BE49-F238E27FC236}">
                <a16:creationId xmlns:a16="http://schemas.microsoft.com/office/drawing/2014/main" id="{634D846E-826E-132E-B460-78A782BCB837}"/>
              </a:ext>
            </a:extLst>
          </p:cNvPr>
          <p:cNvGrpSpPr/>
          <p:nvPr/>
        </p:nvGrpSpPr>
        <p:grpSpPr>
          <a:xfrm>
            <a:off x="11405363" y="3951004"/>
            <a:ext cx="6627859" cy="4610442"/>
            <a:chOff x="8754760" y="3922195"/>
            <a:chExt cx="6627859" cy="4610442"/>
          </a:xfrm>
        </p:grpSpPr>
        <p:sp>
          <p:nvSpPr>
            <p:cNvPr id="7" name="Rectangle: Diagonal Corners Snipped 6">
              <a:extLst>
                <a:ext uri="{FF2B5EF4-FFF2-40B4-BE49-F238E27FC236}">
                  <a16:creationId xmlns:a16="http://schemas.microsoft.com/office/drawing/2014/main" id="{747834B0-FBCA-2E84-2DC4-6CE51749102F}"/>
                </a:ext>
              </a:extLst>
            </p:cNvPr>
            <p:cNvSpPr/>
            <p:nvPr/>
          </p:nvSpPr>
          <p:spPr>
            <a:xfrm>
              <a:off x="8913854" y="4051141"/>
              <a:ext cx="6468765" cy="4481496"/>
            </a:xfrm>
            <a:prstGeom prst="snip2DiagRect">
              <a:avLst>
                <a:gd name="adj1" fmla="val 0"/>
                <a:gd name="adj2" fmla="val 0"/>
              </a:avLst>
            </a:prstGeom>
            <a:gradFill flip="none" rotWithShape="1">
              <a:gsLst>
                <a:gs pos="0">
                  <a:schemeClr val="accent1">
                    <a:lumMod val="40000"/>
                    <a:lumOff val="60000"/>
                  </a:schemeClr>
                </a:gs>
                <a:gs pos="45000">
                  <a:schemeClr val="tx1"/>
                </a:gs>
                <a:gs pos="100000">
                  <a:schemeClr val="accent1">
                    <a:lumMod val="6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id="{35A38376-EF8C-6580-D0FE-827877D75C77}"/>
                </a:ext>
              </a:extLst>
            </p:cNvPr>
            <p:cNvPicPr>
              <a:picLocks noChangeAspect="1"/>
            </p:cNvPicPr>
            <p:nvPr/>
          </p:nvPicPr>
          <p:blipFill>
            <a:blip r:embed="rId3"/>
            <a:srcRect l="42192" t="23063" r="21247" b="34775"/>
            <a:stretch/>
          </p:blipFill>
          <p:spPr>
            <a:xfrm>
              <a:off x="8754760" y="3922195"/>
              <a:ext cx="6468764" cy="4481496"/>
            </a:xfrm>
            <a:prstGeom prst="rect">
              <a:avLst/>
            </a:prstGeom>
            <a:ln>
              <a:solidFill>
                <a:schemeClr val="accent1">
                  <a:shade val="15000"/>
                </a:schemeClr>
              </a:solidFill>
            </a:ln>
          </p:spPr>
        </p:pic>
      </p:grpSp>
      <p:sp>
        <p:nvSpPr>
          <p:cNvPr id="9" name="TextBox 8">
            <a:extLst>
              <a:ext uri="{FF2B5EF4-FFF2-40B4-BE49-F238E27FC236}">
                <a16:creationId xmlns:a16="http://schemas.microsoft.com/office/drawing/2014/main" id="{6BA5F8DE-C674-1073-8AC1-A8E269A5BCD4}"/>
              </a:ext>
            </a:extLst>
          </p:cNvPr>
          <p:cNvSpPr txBox="1"/>
          <p:nvPr/>
        </p:nvSpPr>
        <p:spPr>
          <a:xfrm>
            <a:off x="568410" y="4496829"/>
            <a:ext cx="9792182" cy="3046988"/>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Methodology:</a:t>
            </a:r>
          </a:p>
          <a:p>
            <a:pPr marL="285750" lvl="8" indent="-28575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Identify unique genres.</a:t>
            </a:r>
          </a:p>
          <a:p>
            <a:pPr marL="285750" lvl="7" indent="-28575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Compute descriptive statistics for each genre </a:t>
            </a:r>
          </a:p>
          <a:p>
            <a:pPr lvl="8"/>
            <a:r>
              <a:rPr lang="en-IN" sz="3200" dirty="0">
                <a:latin typeface="Times New Roman" panose="02020603050405020304" pitchFamily="18" charset="0"/>
                <a:cs typeface="Times New Roman" panose="02020603050405020304" pitchFamily="18" charset="0"/>
              </a:rPr>
              <a:t>   (mean, median, variance).</a:t>
            </a:r>
          </a:p>
          <a:p>
            <a:pPr marL="285750" lvl="7" indent="-28575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Compare average scores across genres.</a:t>
            </a:r>
          </a:p>
          <a:p>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7154461"/>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5CA6C685-B1B2-F92A-ACB1-3D9EA48A9606}"/>
            </a:ext>
          </a:extLst>
        </p:cNvPr>
        <p:cNvGrpSpPr/>
        <p:nvPr/>
      </p:nvGrpSpPr>
      <p:grpSpPr>
        <a:xfrm>
          <a:off x="0" y="0"/>
          <a:ext cx="0" cy="0"/>
          <a:chOff x="0" y="0"/>
          <a:chExt cx="0" cy="0"/>
        </a:xfrm>
      </p:grpSpPr>
      <p:pic>
        <p:nvPicPr>
          <p:cNvPr id="136" name="Google Shape;136;p17">
            <a:extLst>
              <a:ext uri="{FF2B5EF4-FFF2-40B4-BE49-F238E27FC236}">
                <a16:creationId xmlns:a16="http://schemas.microsoft.com/office/drawing/2014/main" id="{A5A8A73B-DD25-B368-D5E7-B9CE57967DDC}"/>
              </a:ext>
            </a:extLst>
          </p:cNvPr>
          <p:cNvPicPr preferRelativeResize="0"/>
          <p:nvPr/>
        </p:nvPicPr>
        <p:blipFill>
          <a:blip r:embed="rId3">
            <a:alphaModFix/>
          </a:blip>
          <a:stretch>
            <a:fillRect/>
          </a:stretch>
        </p:blipFill>
        <p:spPr>
          <a:xfrm>
            <a:off x="0" y="-12"/>
            <a:ext cx="18288000" cy="10287000"/>
          </a:xfrm>
          <a:prstGeom prst="rect">
            <a:avLst/>
          </a:prstGeom>
          <a:noFill/>
          <a:ln>
            <a:noFill/>
          </a:ln>
        </p:spPr>
      </p:pic>
      <p:sp>
        <p:nvSpPr>
          <p:cNvPr id="137" name="Google Shape;137;p17">
            <a:extLst>
              <a:ext uri="{FF2B5EF4-FFF2-40B4-BE49-F238E27FC236}">
                <a16:creationId xmlns:a16="http://schemas.microsoft.com/office/drawing/2014/main" id="{287A4F69-34CC-2598-3D32-D4434053DDCF}"/>
              </a:ext>
            </a:extLst>
          </p:cNvPr>
          <p:cNvSpPr txBox="1"/>
          <p:nvPr/>
        </p:nvSpPr>
        <p:spPr>
          <a:xfrm>
            <a:off x="1028700" y="1005183"/>
            <a:ext cx="10137234" cy="1769715"/>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10000" b="1" i="0" u="none" strike="noStrike" cap="none" dirty="0">
                <a:solidFill>
                  <a:srgbClr val="E5D6A8"/>
                </a:solidFill>
                <a:latin typeface="Libre Baskerville"/>
                <a:ea typeface="Libre Baskerville"/>
                <a:cs typeface="Libre Baskerville"/>
                <a:sym typeface="Libre Baskerville"/>
              </a:rPr>
              <a:t>Task Overview</a:t>
            </a:r>
            <a:endParaRPr dirty="0"/>
          </a:p>
        </p:txBody>
      </p:sp>
      <p:sp>
        <p:nvSpPr>
          <p:cNvPr id="138" name="Google Shape;138;p17">
            <a:extLst>
              <a:ext uri="{FF2B5EF4-FFF2-40B4-BE49-F238E27FC236}">
                <a16:creationId xmlns:a16="http://schemas.microsoft.com/office/drawing/2014/main" id="{19A6A73E-5D32-EF52-35D1-2778C08C0DEC}"/>
              </a:ext>
            </a:extLst>
          </p:cNvPr>
          <p:cNvSpPr txBox="1"/>
          <p:nvPr/>
        </p:nvSpPr>
        <p:spPr>
          <a:xfrm>
            <a:off x="1028700" y="3441081"/>
            <a:ext cx="6969406"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Movie Genre Analysis</a:t>
            </a:r>
            <a:endParaRPr sz="3200" dirty="0">
              <a:latin typeface="Poppins"/>
              <a:ea typeface="Poppins"/>
              <a:cs typeface="Poppins"/>
              <a:sym typeface="Poppins"/>
            </a:endParaRPr>
          </a:p>
        </p:txBody>
      </p:sp>
      <p:sp>
        <p:nvSpPr>
          <p:cNvPr id="139" name="Google Shape;139;p17">
            <a:extLst>
              <a:ext uri="{FF2B5EF4-FFF2-40B4-BE49-F238E27FC236}">
                <a16:creationId xmlns:a16="http://schemas.microsoft.com/office/drawing/2014/main" id="{41CB70AF-2EAE-F45D-B3F2-5BBD70314530}"/>
              </a:ext>
            </a:extLst>
          </p:cNvPr>
          <p:cNvSpPr txBox="1"/>
          <p:nvPr/>
        </p:nvSpPr>
        <p:spPr>
          <a:xfrm>
            <a:off x="1028700" y="4627322"/>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Movie Duration Analysis</a:t>
            </a:r>
            <a:endParaRPr sz="3200" dirty="0">
              <a:latin typeface="Poppins"/>
              <a:ea typeface="Poppins"/>
              <a:cs typeface="Poppins"/>
              <a:sym typeface="Poppins"/>
            </a:endParaRPr>
          </a:p>
        </p:txBody>
      </p:sp>
      <p:sp>
        <p:nvSpPr>
          <p:cNvPr id="140" name="Google Shape;140;p17">
            <a:extLst>
              <a:ext uri="{FF2B5EF4-FFF2-40B4-BE49-F238E27FC236}">
                <a16:creationId xmlns:a16="http://schemas.microsoft.com/office/drawing/2014/main" id="{348E795E-60AD-550F-637E-19460B5AE0C3}"/>
              </a:ext>
            </a:extLst>
          </p:cNvPr>
          <p:cNvSpPr txBox="1"/>
          <p:nvPr/>
        </p:nvSpPr>
        <p:spPr>
          <a:xfrm>
            <a:off x="1028700" y="5789500"/>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Language Analysis</a:t>
            </a:r>
            <a:endParaRPr lang="en-US" sz="3200" dirty="0">
              <a:latin typeface="Poppins"/>
              <a:ea typeface="Poppins"/>
              <a:cs typeface="Poppins"/>
              <a:sym typeface="Poppins"/>
            </a:endParaRPr>
          </a:p>
        </p:txBody>
      </p:sp>
      <p:sp>
        <p:nvSpPr>
          <p:cNvPr id="141" name="Google Shape;141;p17">
            <a:extLst>
              <a:ext uri="{FF2B5EF4-FFF2-40B4-BE49-F238E27FC236}">
                <a16:creationId xmlns:a16="http://schemas.microsoft.com/office/drawing/2014/main" id="{926724D8-CC0C-177D-61BD-34305D0485EF}"/>
              </a:ext>
            </a:extLst>
          </p:cNvPr>
          <p:cNvSpPr txBox="1"/>
          <p:nvPr/>
        </p:nvSpPr>
        <p:spPr>
          <a:xfrm>
            <a:off x="1028700" y="6951678"/>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Director Analysis</a:t>
            </a:r>
            <a:endParaRPr sz="3200" dirty="0">
              <a:latin typeface="Poppins"/>
              <a:ea typeface="Poppins"/>
              <a:cs typeface="Poppins"/>
              <a:sym typeface="Poppins"/>
            </a:endParaRPr>
          </a:p>
        </p:txBody>
      </p:sp>
      <p:cxnSp>
        <p:nvCxnSpPr>
          <p:cNvPr id="142" name="Google Shape;142;p17">
            <a:extLst>
              <a:ext uri="{FF2B5EF4-FFF2-40B4-BE49-F238E27FC236}">
                <a16:creationId xmlns:a16="http://schemas.microsoft.com/office/drawing/2014/main" id="{9E8F333C-9148-F4D1-F198-A014466468FE}"/>
              </a:ext>
            </a:extLst>
          </p:cNvPr>
          <p:cNvCxnSpPr/>
          <p:nvPr/>
        </p:nvCxnSpPr>
        <p:spPr>
          <a:xfrm>
            <a:off x="1028700" y="4390943"/>
            <a:ext cx="6492240" cy="0"/>
          </a:xfrm>
          <a:prstGeom prst="straightConnector1">
            <a:avLst/>
          </a:prstGeom>
          <a:noFill/>
          <a:ln w="19050" cap="flat" cmpd="sng">
            <a:solidFill>
              <a:srgbClr val="FFFDFC"/>
            </a:solidFill>
            <a:prstDash val="solid"/>
            <a:round/>
            <a:headEnd type="none" w="sm" len="sm"/>
            <a:tailEnd type="none" w="sm" len="sm"/>
          </a:ln>
        </p:spPr>
      </p:cxnSp>
      <p:cxnSp>
        <p:nvCxnSpPr>
          <p:cNvPr id="143" name="Google Shape;143;p17">
            <a:extLst>
              <a:ext uri="{FF2B5EF4-FFF2-40B4-BE49-F238E27FC236}">
                <a16:creationId xmlns:a16="http://schemas.microsoft.com/office/drawing/2014/main" id="{9DDA8299-383F-73C8-6481-83A6A2C37868}"/>
              </a:ext>
            </a:extLst>
          </p:cNvPr>
          <p:cNvCxnSpPr/>
          <p:nvPr/>
        </p:nvCxnSpPr>
        <p:spPr>
          <a:xfrm>
            <a:off x="1028700" y="5553121"/>
            <a:ext cx="6492240" cy="0"/>
          </a:xfrm>
          <a:prstGeom prst="straightConnector1">
            <a:avLst/>
          </a:prstGeom>
          <a:noFill/>
          <a:ln w="19050" cap="flat" cmpd="sng">
            <a:solidFill>
              <a:srgbClr val="FFFDFC"/>
            </a:solidFill>
            <a:prstDash val="solid"/>
            <a:round/>
            <a:headEnd type="none" w="sm" len="sm"/>
            <a:tailEnd type="none" w="sm" len="sm"/>
          </a:ln>
        </p:spPr>
      </p:cxnSp>
      <p:cxnSp>
        <p:nvCxnSpPr>
          <p:cNvPr id="144" name="Google Shape;144;p17">
            <a:extLst>
              <a:ext uri="{FF2B5EF4-FFF2-40B4-BE49-F238E27FC236}">
                <a16:creationId xmlns:a16="http://schemas.microsoft.com/office/drawing/2014/main" id="{E3DBC4C0-E165-80EB-FF2E-6C3F9EA6F3DE}"/>
              </a:ext>
            </a:extLst>
          </p:cNvPr>
          <p:cNvCxnSpPr/>
          <p:nvPr/>
        </p:nvCxnSpPr>
        <p:spPr>
          <a:xfrm>
            <a:off x="1028700" y="6715299"/>
            <a:ext cx="6492240" cy="0"/>
          </a:xfrm>
          <a:prstGeom prst="straightConnector1">
            <a:avLst/>
          </a:prstGeom>
          <a:noFill/>
          <a:ln w="19050" cap="flat" cmpd="sng">
            <a:solidFill>
              <a:srgbClr val="FFFDFC"/>
            </a:solidFill>
            <a:prstDash val="solid"/>
            <a:round/>
            <a:headEnd type="none" w="sm" len="sm"/>
            <a:tailEnd type="none" w="sm" len="sm"/>
          </a:ln>
        </p:spPr>
      </p:cxnSp>
      <p:cxnSp>
        <p:nvCxnSpPr>
          <p:cNvPr id="145" name="Google Shape;145;p17">
            <a:extLst>
              <a:ext uri="{FF2B5EF4-FFF2-40B4-BE49-F238E27FC236}">
                <a16:creationId xmlns:a16="http://schemas.microsoft.com/office/drawing/2014/main" id="{AFF83423-9CB0-D899-2DD8-85B16E73D4D5}"/>
              </a:ext>
            </a:extLst>
          </p:cNvPr>
          <p:cNvCxnSpPr/>
          <p:nvPr/>
        </p:nvCxnSpPr>
        <p:spPr>
          <a:xfrm>
            <a:off x="1028700" y="7877477"/>
            <a:ext cx="6492240" cy="0"/>
          </a:xfrm>
          <a:prstGeom prst="straightConnector1">
            <a:avLst/>
          </a:prstGeom>
          <a:noFill/>
          <a:ln w="19050" cap="flat" cmpd="sng">
            <a:solidFill>
              <a:srgbClr val="FFFDFC"/>
            </a:solidFill>
            <a:prstDash val="solid"/>
            <a:round/>
            <a:headEnd type="none" w="sm" len="sm"/>
            <a:tailEnd type="none" w="sm" len="sm"/>
          </a:ln>
        </p:spPr>
      </p:cxnSp>
      <p:sp>
        <p:nvSpPr>
          <p:cNvPr id="2" name="Google Shape;141;p17">
            <a:extLst>
              <a:ext uri="{FF2B5EF4-FFF2-40B4-BE49-F238E27FC236}">
                <a16:creationId xmlns:a16="http://schemas.microsoft.com/office/drawing/2014/main" id="{7B904B31-4B19-49F5-C4DE-7B803963B5F1}"/>
              </a:ext>
            </a:extLst>
          </p:cNvPr>
          <p:cNvSpPr txBox="1"/>
          <p:nvPr/>
        </p:nvSpPr>
        <p:spPr>
          <a:xfrm>
            <a:off x="1028700" y="8113856"/>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Budget Analysis</a:t>
            </a:r>
            <a:endParaRPr lang="en-US" sz="3200" dirty="0">
              <a:latin typeface="Poppins"/>
              <a:ea typeface="Poppins"/>
              <a:cs typeface="Poppins"/>
              <a:sym typeface="Poppins"/>
            </a:endParaRPr>
          </a:p>
        </p:txBody>
      </p:sp>
      <p:cxnSp>
        <p:nvCxnSpPr>
          <p:cNvPr id="3" name="Google Shape;145;p17">
            <a:extLst>
              <a:ext uri="{FF2B5EF4-FFF2-40B4-BE49-F238E27FC236}">
                <a16:creationId xmlns:a16="http://schemas.microsoft.com/office/drawing/2014/main" id="{5AB37CDE-4A85-0202-BEBC-68D33A4401AC}"/>
              </a:ext>
            </a:extLst>
          </p:cNvPr>
          <p:cNvCxnSpPr/>
          <p:nvPr/>
        </p:nvCxnSpPr>
        <p:spPr>
          <a:xfrm>
            <a:off x="1028700" y="9039658"/>
            <a:ext cx="6492240" cy="0"/>
          </a:xfrm>
          <a:prstGeom prst="straightConnector1">
            <a:avLst/>
          </a:prstGeom>
          <a:noFill/>
          <a:ln w="19050" cap="flat" cmpd="sng">
            <a:solidFill>
              <a:srgbClr val="FFFDFC"/>
            </a:solidFill>
            <a:prstDash val="solid"/>
            <a:round/>
            <a:headEnd type="none" w="sm" len="sm"/>
            <a:tailEnd type="none" w="sm" len="sm"/>
          </a:ln>
        </p:spPr>
      </p:cxnSp>
    </p:spTree>
    <p:extLst>
      <p:ext uri="{BB962C8B-B14F-4D97-AF65-F5344CB8AC3E}">
        <p14:creationId xmlns:p14="http://schemas.microsoft.com/office/powerpoint/2010/main" val="32757720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825AFA84-CB20-89C5-1349-23C9073E8AC9}"/>
            </a:ext>
          </a:extLst>
        </p:cNvPr>
        <p:cNvGrpSpPr/>
        <p:nvPr/>
      </p:nvGrpSpPr>
      <p:grpSpPr>
        <a:xfrm>
          <a:off x="0" y="0"/>
          <a:ext cx="0" cy="0"/>
          <a:chOff x="0" y="0"/>
          <a:chExt cx="0" cy="0"/>
        </a:xfrm>
      </p:grpSpPr>
      <p:pic>
        <p:nvPicPr>
          <p:cNvPr id="136" name="Google Shape;136;p17">
            <a:extLst>
              <a:ext uri="{FF2B5EF4-FFF2-40B4-BE49-F238E27FC236}">
                <a16:creationId xmlns:a16="http://schemas.microsoft.com/office/drawing/2014/main" id="{863C183A-EBF3-C9AB-5CDB-A1CA882CBF67}"/>
              </a:ext>
            </a:extLst>
          </p:cNvPr>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137" name="Google Shape;137;p17">
            <a:extLst>
              <a:ext uri="{FF2B5EF4-FFF2-40B4-BE49-F238E27FC236}">
                <a16:creationId xmlns:a16="http://schemas.microsoft.com/office/drawing/2014/main" id="{04854D82-EB7F-9E1F-7C96-C25AFC5B6137}"/>
              </a:ext>
            </a:extLst>
          </p:cNvPr>
          <p:cNvSpPr txBox="1"/>
          <p:nvPr/>
        </p:nvSpPr>
        <p:spPr>
          <a:xfrm>
            <a:off x="1028700" y="1005183"/>
            <a:ext cx="10137234" cy="1769715"/>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10000" b="1" i="0" u="none" strike="noStrike" cap="none" dirty="0">
                <a:solidFill>
                  <a:srgbClr val="E5D6A8"/>
                </a:solidFill>
                <a:latin typeface="Libre Baskerville"/>
                <a:ea typeface="Libre Baskerville"/>
                <a:cs typeface="Libre Baskerville"/>
                <a:sym typeface="Libre Baskerville"/>
              </a:rPr>
              <a:t>Task Overview</a:t>
            </a:r>
            <a:endParaRPr dirty="0"/>
          </a:p>
        </p:txBody>
      </p:sp>
      <p:sp>
        <p:nvSpPr>
          <p:cNvPr id="138" name="Google Shape;138;p17">
            <a:extLst>
              <a:ext uri="{FF2B5EF4-FFF2-40B4-BE49-F238E27FC236}">
                <a16:creationId xmlns:a16="http://schemas.microsoft.com/office/drawing/2014/main" id="{813E4987-B529-C917-2128-DA740FA23712}"/>
              </a:ext>
            </a:extLst>
          </p:cNvPr>
          <p:cNvSpPr txBox="1"/>
          <p:nvPr/>
        </p:nvSpPr>
        <p:spPr>
          <a:xfrm>
            <a:off x="1028700" y="3441081"/>
            <a:ext cx="6969406"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Movie Genre Analysis</a:t>
            </a:r>
            <a:endParaRPr sz="3200" dirty="0">
              <a:latin typeface="Poppins"/>
              <a:ea typeface="Poppins"/>
              <a:cs typeface="Poppins"/>
              <a:sym typeface="Poppins"/>
            </a:endParaRPr>
          </a:p>
        </p:txBody>
      </p:sp>
      <p:sp>
        <p:nvSpPr>
          <p:cNvPr id="139" name="Google Shape;139;p17">
            <a:extLst>
              <a:ext uri="{FF2B5EF4-FFF2-40B4-BE49-F238E27FC236}">
                <a16:creationId xmlns:a16="http://schemas.microsoft.com/office/drawing/2014/main" id="{2F1489D7-F920-836E-7ABB-856DC9B83B50}"/>
              </a:ext>
            </a:extLst>
          </p:cNvPr>
          <p:cNvSpPr txBox="1"/>
          <p:nvPr/>
        </p:nvSpPr>
        <p:spPr>
          <a:xfrm>
            <a:off x="5146350" y="4644376"/>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b="1" i="0" u="none" strike="noStrike" cap="none" dirty="0">
                <a:solidFill>
                  <a:schemeClr val="tx1"/>
                </a:solidFill>
                <a:highlight>
                  <a:srgbClr val="C0C0C0"/>
                </a:highlight>
                <a:latin typeface="Poppins"/>
                <a:ea typeface="Poppins"/>
                <a:cs typeface="Poppins"/>
                <a:sym typeface="Poppins"/>
              </a:rPr>
              <a:t>Movie Duration Analysis</a:t>
            </a:r>
            <a:endParaRPr sz="3200" b="1" dirty="0">
              <a:solidFill>
                <a:schemeClr val="tx1"/>
              </a:solidFill>
              <a:highlight>
                <a:srgbClr val="C0C0C0"/>
              </a:highlight>
              <a:latin typeface="Poppins"/>
              <a:ea typeface="Poppins"/>
              <a:cs typeface="Poppins"/>
              <a:sym typeface="Poppins"/>
            </a:endParaRPr>
          </a:p>
        </p:txBody>
      </p:sp>
      <p:sp>
        <p:nvSpPr>
          <p:cNvPr id="140" name="Google Shape;140;p17">
            <a:extLst>
              <a:ext uri="{FF2B5EF4-FFF2-40B4-BE49-F238E27FC236}">
                <a16:creationId xmlns:a16="http://schemas.microsoft.com/office/drawing/2014/main" id="{77A5C319-C875-3AC1-54D6-22BBC81FB3C1}"/>
              </a:ext>
            </a:extLst>
          </p:cNvPr>
          <p:cNvSpPr txBox="1"/>
          <p:nvPr/>
        </p:nvSpPr>
        <p:spPr>
          <a:xfrm>
            <a:off x="1028700" y="5789500"/>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Language Analysis</a:t>
            </a:r>
            <a:endParaRPr lang="en-US" sz="3200" dirty="0">
              <a:latin typeface="Poppins"/>
              <a:ea typeface="Poppins"/>
              <a:cs typeface="Poppins"/>
              <a:sym typeface="Poppins"/>
            </a:endParaRPr>
          </a:p>
        </p:txBody>
      </p:sp>
      <p:sp>
        <p:nvSpPr>
          <p:cNvPr id="141" name="Google Shape;141;p17">
            <a:extLst>
              <a:ext uri="{FF2B5EF4-FFF2-40B4-BE49-F238E27FC236}">
                <a16:creationId xmlns:a16="http://schemas.microsoft.com/office/drawing/2014/main" id="{FB2512B8-5C9F-DE44-B3CD-3842B7C2F845}"/>
              </a:ext>
            </a:extLst>
          </p:cNvPr>
          <p:cNvSpPr txBox="1"/>
          <p:nvPr/>
        </p:nvSpPr>
        <p:spPr>
          <a:xfrm>
            <a:off x="1028700" y="6951678"/>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Director Analysis</a:t>
            </a:r>
            <a:endParaRPr sz="3200" dirty="0">
              <a:latin typeface="Poppins"/>
              <a:ea typeface="Poppins"/>
              <a:cs typeface="Poppins"/>
              <a:sym typeface="Poppins"/>
            </a:endParaRPr>
          </a:p>
        </p:txBody>
      </p:sp>
      <p:cxnSp>
        <p:nvCxnSpPr>
          <p:cNvPr id="142" name="Google Shape;142;p17">
            <a:extLst>
              <a:ext uri="{FF2B5EF4-FFF2-40B4-BE49-F238E27FC236}">
                <a16:creationId xmlns:a16="http://schemas.microsoft.com/office/drawing/2014/main" id="{D06CD2E8-39C8-0402-2C89-667EA85F38C0}"/>
              </a:ext>
            </a:extLst>
          </p:cNvPr>
          <p:cNvCxnSpPr/>
          <p:nvPr/>
        </p:nvCxnSpPr>
        <p:spPr>
          <a:xfrm>
            <a:off x="1028700" y="4390943"/>
            <a:ext cx="6492240" cy="0"/>
          </a:xfrm>
          <a:prstGeom prst="straightConnector1">
            <a:avLst/>
          </a:prstGeom>
          <a:noFill/>
          <a:ln w="19050" cap="flat" cmpd="sng">
            <a:solidFill>
              <a:srgbClr val="FFFDFC"/>
            </a:solidFill>
            <a:prstDash val="solid"/>
            <a:round/>
            <a:headEnd type="none" w="sm" len="sm"/>
            <a:tailEnd type="none" w="sm" len="sm"/>
          </a:ln>
        </p:spPr>
      </p:cxnSp>
      <p:cxnSp>
        <p:nvCxnSpPr>
          <p:cNvPr id="143" name="Google Shape;143;p17">
            <a:extLst>
              <a:ext uri="{FF2B5EF4-FFF2-40B4-BE49-F238E27FC236}">
                <a16:creationId xmlns:a16="http://schemas.microsoft.com/office/drawing/2014/main" id="{F92DC6EB-F461-F3AD-71B8-811539467142}"/>
              </a:ext>
            </a:extLst>
          </p:cNvPr>
          <p:cNvCxnSpPr/>
          <p:nvPr/>
        </p:nvCxnSpPr>
        <p:spPr>
          <a:xfrm>
            <a:off x="1028700" y="5553121"/>
            <a:ext cx="6492240" cy="0"/>
          </a:xfrm>
          <a:prstGeom prst="straightConnector1">
            <a:avLst/>
          </a:prstGeom>
          <a:noFill/>
          <a:ln w="19050" cap="flat" cmpd="sng">
            <a:solidFill>
              <a:srgbClr val="FFFDFC"/>
            </a:solidFill>
            <a:prstDash val="solid"/>
            <a:round/>
            <a:headEnd type="none" w="sm" len="sm"/>
            <a:tailEnd type="none" w="sm" len="sm"/>
          </a:ln>
        </p:spPr>
      </p:cxnSp>
      <p:cxnSp>
        <p:nvCxnSpPr>
          <p:cNvPr id="144" name="Google Shape;144;p17">
            <a:extLst>
              <a:ext uri="{FF2B5EF4-FFF2-40B4-BE49-F238E27FC236}">
                <a16:creationId xmlns:a16="http://schemas.microsoft.com/office/drawing/2014/main" id="{AB6EEF3A-E6A5-8B16-037D-E90B81D05C2E}"/>
              </a:ext>
            </a:extLst>
          </p:cNvPr>
          <p:cNvCxnSpPr/>
          <p:nvPr/>
        </p:nvCxnSpPr>
        <p:spPr>
          <a:xfrm>
            <a:off x="1028700" y="6715299"/>
            <a:ext cx="6492240" cy="0"/>
          </a:xfrm>
          <a:prstGeom prst="straightConnector1">
            <a:avLst/>
          </a:prstGeom>
          <a:noFill/>
          <a:ln w="19050" cap="flat" cmpd="sng">
            <a:solidFill>
              <a:srgbClr val="FFFDFC"/>
            </a:solidFill>
            <a:prstDash val="solid"/>
            <a:round/>
            <a:headEnd type="none" w="sm" len="sm"/>
            <a:tailEnd type="none" w="sm" len="sm"/>
          </a:ln>
        </p:spPr>
      </p:cxnSp>
      <p:cxnSp>
        <p:nvCxnSpPr>
          <p:cNvPr id="145" name="Google Shape;145;p17">
            <a:extLst>
              <a:ext uri="{FF2B5EF4-FFF2-40B4-BE49-F238E27FC236}">
                <a16:creationId xmlns:a16="http://schemas.microsoft.com/office/drawing/2014/main" id="{2562A2F3-CC90-E84A-C4D0-DBBF25751F52}"/>
              </a:ext>
            </a:extLst>
          </p:cNvPr>
          <p:cNvCxnSpPr/>
          <p:nvPr/>
        </p:nvCxnSpPr>
        <p:spPr>
          <a:xfrm>
            <a:off x="1028700" y="7877477"/>
            <a:ext cx="6492240" cy="0"/>
          </a:xfrm>
          <a:prstGeom prst="straightConnector1">
            <a:avLst/>
          </a:prstGeom>
          <a:noFill/>
          <a:ln w="19050" cap="flat" cmpd="sng">
            <a:solidFill>
              <a:srgbClr val="FFFDFC"/>
            </a:solidFill>
            <a:prstDash val="solid"/>
            <a:round/>
            <a:headEnd type="none" w="sm" len="sm"/>
            <a:tailEnd type="none" w="sm" len="sm"/>
          </a:ln>
        </p:spPr>
      </p:cxnSp>
      <p:sp>
        <p:nvSpPr>
          <p:cNvPr id="2" name="Google Shape;141;p17">
            <a:extLst>
              <a:ext uri="{FF2B5EF4-FFF2-40B4-BE49-F238E27FC236}">
                <a16:creationId xmlns:a16="http://schemas.microsoft.com/office/drawing/2014/main" id="{6CE712FD-2F85-BDC6-EC00-1A096466AD32}"/>
              </a:ext>
            </a:extLst>
          </p:cNvPr>
          <p:cNvSpPr txBox="1"/>
          <p:nvPr/>
        </p:nvSpPr>
        <p:spPr>
          <a:xfrm>
            <a:off x="1028700" y="8113856"/>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Budget Analysis</a:t>
            </a:r>
            <a:endParaRPr lang="en-US" sz="3200" dirty="0">
              <a:latin typeface="Poppins"/>
              <a:ea typeface="Poppins"/>
              <a:cs typeface="Poppins"/>
              <a:sym typeface="Poppins"/>
            </a:endParaRPr>
          </a:p>
        </p:txBody>
      </p:sp>
      <p:cxnSp>
        <p:nvCxnSpPr>
          <p:cNvPr id="3" name="Google Shape;145;p17">
            <a:extLst>
              <a:ext uri="{FF2B5EF4-FFF2-40B4-BE49-F238E27FC236}">
                <a16:creationId xmlns:a16="http://schemas.microsoft.com/office/drawing/2014/main" id="{44199DB7-5A44-93E6-5A86-1BFD74E542A6}"/>
              </a:ext>
            </a:extLst>
          </p:cNvPr>
          <p:cNvCxnSpPr/>
          <p:nvPr/>
        </p:nvCxnSpPr>
        <p:spPr>
          <a:xfrm>
            <a:off x="1028700" y="9039658"/>
            <a:ext cx="6492240" cy="0"/>
          </a:xfrm>
          <a:prstGeom prst="straightConnector1">
            <a:avLst/>
          </a:prstGeom>
          <a:noFill/>
          <a:ln w="19050" cap="flat" cmpd="sng">
            <a:solidFill>
              <a:srgbClr val="FFFDFC"/>
            </a:solidFill>
            <a:prstDash val="solid"/>
            <a:round/>
            <a:headEnd type="none" w="sm" len="sm"/>
            <a:tailEnd type="none" w="sm" len="sm"/>
          </a:ln>
        </p:spPr>
      </p:cxnSp>
    </p:spTree>
    <p:extLst>
      <p:ext uri="{BB962C8B-B14F-4D97-AF65-F5344CB8AC3E}">
        <p14:creationId xmlns:p14="http://schemas.microsoft.com/office/powerpoint/2010/main" val="343747231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6E9E88F7-14D5-6A5B-1D71-D8EDCBBDC447}"/>
            </a:ext>
          </a:extLst>
        </p:cNvPr>
        <p:cNvGrpSpPr/>
        <p:nvPr/>
      </p:nvGrpSpPr>
      <p:grpSpPr>
        <a:xfrm>
          <a:off x="0" y="0"/>
          <a:ext cx="0" cy="0"/>
          <a:chOff x="0" y="0"/>
          <a:chExt cx="0" cy="0"/>
        </a:xfrm>
      </p:grpSpPr>
      <p:grpSp>
        <p:nvGrpSpPr>
          <p:cNvPr id="122" name="Google Shape;122;p16">
            <a:extLst>
              <a:ext uri="{FF2B5EF4-FFF2-40B4-BE49-F238E27FC236}">
                <a16:creationId xmlns:a16="http://schemas.microsoft.com/office/drawing/2014/main" id="{C6A99869-905A-5B47-E78D-7FB97750B4FD}"/>
              </a:ext>
            </a:extLst>
          </p:cNvPr>
          <p:cNvGrpSpPr/>
          <p:nvPr/>
        </p:nvGrpSpPr>
        <p:grpSpPr>
          <a:xfrm>
            <a:off x="0" y="-144660"/>
            <a:ext cx="18288000" cy="2517158"/>
            <a:chOff x="0" y="-38100"/>
            <a:chExt cx="4816593" cy="908088"/>
          </a:xfrm>
        </p:grpSpPr>
        <p:sp>
          <p:nvSpPr>
            <p:cNvPr id="123" name="Google Shape;123;p16">
              <a:extLst>
                <a:ext uri="{FF2B5EF4-FFF2-40B4-BE49-F238E27FC236}">
                  <a16:creationId xmlns:a16="http://schemas.microsoft.com/office/drawing/2014/main" id="{A06AAFB3-5FF6-021A-3943-38BB5303CCFB}"/>
                </a:ext>
              </a:extLst>
            </p:cNvPr>
            <p:cNvSpPr/>
            <p:nvPr/>
          </p:nvSpPr>
          <p:spPr>
            <a:xfrm>
              <a:off x="0" y="0"/>
              <a:ext cx="4816592" cy="869988"/>
            </a:xfrm>
            <a:custGeom>
              <a:avLst/>
              <a:gdLst/>
              <a:ahLst/>
              <a:cxnLst/>
              <a:rect l="l" t="t" r="r" b="b"/>
              <a:pathLst>
                <a:path w="4816592" h="869988" extrusionOk="0">
                  <a:moveTo>
                    <a:pt x="0" y="0"/>
                  </a:moveTo>
                  <a:lnTo>
                    <a:pt x="4816592" y="0"/>
                  </a:lnTo>
                  <a:lnTo>
                    <a:pt x="4816592" y="869988"/>
                  </a:lnTo>
                  <a:lnTo>
                    <a:pt x="0" y="869988"/>
                  </a:lnTo>
                  <a:close/>
                </a:path>
              </a:pathLst>
            </a:custGeom>
            <a:solidFill>
              <a:srgbClr val="000000"/>
            </a:solidFill>
            <a:ln>
              <a:noFill/>
            </a:ln>
          </p:spPr>
          <p:txBody>
            <a:bodyPr/>
            <a:lstStyle/>
            <a:p>
              <a:endParaRPr lang="en-IN" dirty="0"/>
            </a:p>
          </p:txBody>
        </p:sp>
        <p:sp>
          <p:nvSpPr>
            <p:cNvPr id="124" name="Google Shape;124;p16">
              <a:extLst>
                <a:ext uri="{FF2B5EF4-FFF2-40B4-BE49-F238E27FC236}">
                  <a16:creationId xmlns:a16="http://schemas.microsoft.com/office/drawing/2014/main" id="{FE41763A-52AE-FD56-35A6-1908E8DA796D}"/>
                </a:ext>
              </a:extLst>
            </p:cNvPr>
            <p:cNvSpPr txBox="1"/>
            <p:nvPr/>
          </p:nvSpPr>
          <p:spPr>
            <a:xfrm>
              <a:off x="0" y="-38100"/>
              <a:ext cx="4816593" cy="90808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grpSp>
      <p:sp>
        <p:nvSpPr>
          <p:cNvPr id="125" name="Google Shape;125;p16">
            <a:extLst>
              <a:ext uri="{FF2B5EF4-FFF2-40B4-BE49-F238E27FC236}">
                <a16:creationId xmlns:a16="http://schemas.microsoft.com/office/drawing/2014/main" id="{6034F4B7-EF43-7B91-1965-7359944A251E}"/>
              </a:ext>
            </a:extLst>
          </p:cNvPr>
          <p:cNvSpPr txBox="1"/>
          <p:nvPr/>
        </p:nvSpPr>
        <p:spPr>
          <a:xfrm>
            <a:off x="568411" y="514786"/>
            <a:ext cx="16690887" cy="1415772"/>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8000" b="1" i="0" u="none" strike="noStrike" cap="none" dirty="0">
                <a:solidFill>
                  <a:srgbClr val="E5D6A8"/>
                </a:solidFill>
                <a:latin typeface="Libre Baskerville"/>
                <a:ea typeface="Libre Baskerville"/>
                <a:cs typeface="Libre Baskerville"/>
                <a:sym typeface="Libre Baskerville"/>
              </a:rPr>
              <a:t>Movie Duration Analysis</a:t>
            </a:r>
            <a:endParaRPr lang="en-US" dirty="0"/>
          </a:p>
        </p:txBody>
      </p:sp>
      <p:sp>
        <p:nvSpPr>
          <p:cNvPr id="2" name="TextBox 1">
            <a:extLst>
              <a:ext uri="{FF2B5EF4-FFF2-40B4-BE49-F238E27FC236}">
                <a16:creationId xmlns:a16="http://schemas.microsoft.com/office/drawing/2014/main" id="{A39ABB0B-C76F-3FBF-B8AA-3BC545AB9078}"/>
              </a:ext>
            </a:extLst>
          </p:cNvPr>
          <p:cNvSpPr txBox="1"/>
          <p:nvPr/>
        </p:nvSpPr>
        <p:spPr>
          <a:xfrm>
            <a:off x="568411" y="2656703"/>
            <a:ext cx="15416227"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Objective: </a:t>
            </a:r>
            <a:r>
              <a:rPr lang="en-US" sz="3200" dirty="0">
                <a:latin typeface="Times New Roman" panose="02020603050405020304" pitchFamily="18" charset="0"/>
                <a:cs typeface="Times New Roman" panose="02020603050405020304" pitchFamily="18" charset="0"/>
              </a:rPr>
              <a:t>Investigate the relationship between movie duration and IMDB scores.</a:t>
            </a:r>
            <a:endParaRPr lang="en-IN" sz="2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A3CCC82-D64C-E0A5-7D39-FF75D05CF5D9}"/>
              </a:ext>
            </a:extLst>
          </p:cNvPr>
          <p:cNvSpPr txBox="1"/>
          <p:nvPr/>
        </p:nvSpPr>
        <p:spPr>
          <a:xfrm>
            <a:off x="568410" y="8799168"/>
            <a:ext cx="12356757" cy="1077218"/>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Key Insight: </a:t>
            </a:r>
            <a:r>
              <a:rPr lang="en-US" sz="3200" dirty="0">
                <a:latin typeface="Times New Roman" panose="02020603050405020304" pitchFamily="18" charset="0"/>
                <a:cs typeface="Times New Roman" panose="02020603050405020304" pitchFamily="18" charset="0"/>
              </a:rPr>
              <a:t>Movies with durations between </a:t>
            </a:r>
            <a:r>
              <a:rPr lang="en-US" sz="3200" i="1" u="sng" dirty="0">
                <a:latin typeface="Times New Roman" panose="02020603050405020304" pitchFamily="18" charset="0"/>
                <a:cs typeface="Times New Roman" panose="02020603050405020304" pitchFamily="18" charset="0"/>
              </a:rPr>
              <a:t>1 hour 47 min</a:t>
            </a:r>
            <a:r>
              <a:rPr lang="en-US" sz="3200" i="1"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are rated higher on average.</a:t>
            </a:r>
            <a:endParaRPr lang="en-IN" sz="2400" dirty="0">
              <a:latin typeface="Times New Roman" panose="02020603050405020304" pitchFamily="18" charset="0"/>
              <a:cs typeface="Times New Roman" panose="02020603050405020304" pitchFamily="18" charset="0"/>
            </a:endParaRPr>
          </a:p>
        </p:txBody>
      </p:sp>
      <p:grpSp>
        <p:nvGrpSpPr>
          <p:cNvPr id="8" name="Group 7">
            <a:extLst>
              <a:ext uri="{FF2B5EF4-FFF2-40B4-BE49-F238E27FC236}">
                <a16:creationId xmlns:a16="http://schemas.microsoft.com/office/drawing/2014/main" id="{98CBE0B7-C166-52B3-EA6C-0867E604A49E}"/>
              </a:ext>
            </a:extLst>
          </p:cNvPr>
          <p:cNvGrpSpPr/>
          <p:nvPr/>
        </p:nvGrpSpPr>
        <p:grpSpPr>
          <a:xfrm>
            <a:off x="11405363" y="3951004"/>
            <a:ext cx="6627859" cy="4610442"/>
            <a:chOff x="8754760" y="3922195"/>
            <a:chExt cx="6627859" cy="4610442"/>
          </a:xfrm>
        </p:grpSpPr>
        <p:sp>
          <p:nvSpPr>
            <p:cNvPr id="7" name="Rectangle: Diagonal Corners Snipped 6">
              <a:extLst>
                <a:ext uri="{FF2B5EF4-FFF2-40B4-BE49-F238E27FC236}">
                  <a16:creationId xmlns:a16="http://schemas.microsoft.com/office/drawing/2014/main" id="{D9856CF2-68F6-92BF-2DFE-72C7B312DE73}"/>
                </a:ext>
              </a:extLst>
            </p:cNvPr>
            <p:cNvSpPr/>
            <p:nvPr/>
          </p:nvSpPr>
          <p:spPr>
            <a:xfrm>
              <a:off x="8913854" y="4051141"/>
              <a:ext cx="6468765" cy="4481496"/>
            </a:xfrm>
            <a:prstGeom prst="snip2DiagRect">
              <a:avLst>
                <a:gd name="adj1" fmla="val 0"/>
                <a:gd name="adj2" fmla="val 0"/>
              </a:avLst>
            </a:prstGeom>
            <a:gradFill flip="none" rotWithShape="1">
              <a:gsLst>
                <a:gs pos="0">
                  <a:schemeClr val="accent1">
                    <a:lumMod val="40000"/>
                    <a:lumOff val="60000"/>
                  </a:schemeClr>
                </a:gs>
                <a:gs pos="45000">
                  <a:schemeClr val="tx1"/>
                </a:gs>
                <a:gs pos="100000">
                  <a:schemeClr val="accent1">
                    <a:lumMod val="6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id="{D3E155D3-87C5-4D6E-E113-4E25951B4BB2}"/>
                </a:ext>
              </a:extLst>
            </p:cNvPr>
            <p:cNvPicPr>
              <a:picLocks noChangeAspect="1"/>
            </p:cNvPicPr>
            <p:nvPr/>
          </p:nvPicPr>
          <p:blipFill>
            <a:blip r:embed="rId3"/>
            <a:srcRect l="42192" t="23063" r="21247" b="34775"/>
            <a:stretch/>
          </p:blipFill>
          <p:spPr>
            <a:xfrm>
              <a:off x="8754760" y="3922195"/>
              <a:ext cx="6468764" cy="4481496"/>
            </a:xfrm>
            <a:prstGeom prst="rect">
              <a:avLst/>
            </a:prstGeom>
            <a:ln>
              <a:solidFill>
                <a:schemeClr val="accent1">
                  <a:shade val="15000"/>
                </a:schemeClr>
              </a:solidFill>
            </a:ln>
          </p:spPr>
        </p:pic>
      </p:grpSp>
      <p:sp>
        <p:nvSpPr>
          <p:cNvPr id="9" name="TextBox 8">
            <a:extLst>
              <a:ext uri="{FF2B5EF4-FFF2-40B4-BE49-F238E27FC236}">
                <a16:creationId xmlns:a16="http://schemas.microsoft.com/office/drawing/2014/main" id="{EDD9A962-5963-C0A1-273B-E5A9FF2AC0C6}"/>
              </a:ext>
            </a:extLst>
          </p:cNvPr>
          <p:cNvSpPr txBox="1"/>
          <p:nvPr/>
        </p:nvSpPr>
        <p:spPr>
          <a:xfrm>
            <a:off x="568410" y="4496829"/>
            <a:ext cx="9792182" cy="3046988"/>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Methodology:</a:t>
            </a:r>
          </a:p>
          <a:p>
            <a:pPr marL="285750" lvl="8"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Calculate descriptive statistics (mean, median, standard deviation) for duration.</a:t>
            </a:r>
          </a:p>
          <a:p>
            <a:pPr marL="285750" lvl="8"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Convert duration into hours and minutes.</a:t>
            </a:r>
          </a:p>
          <a:p>
            <a:pPr marL="285750" lvl="8"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Create a scatter plot of duration vs. IMDB score with a trendline.</a:t>
            </a:r>
            <a:endParaRPr lang="en-IN" sz="32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BD69F589-4654-DC62-B557-8D954F9D95EB}"/>
              </a:ext>
            </a:extLst>
          </p:cNvPr>
          <p:cNvPicPr>
            <a:picLocks noChangeAspect="1"/>
          </p:cNvPicPr>
          <p:nvPr/>
        </p:nvPicPr>
        <p:blipFill>
          <a:blip r:embed="rId4"/>
          <a:srcRect l="26426" t="29309" r="34272" b="18028"/>
          <a:stretch/>
        </p:blipFill>
        <p:spPr>
          <a:xfrm>
            <a:off x="11405362" y="3842228"/>
            <a:ext cx="6468765" cy="4590272"/>
          </a:xfrm>
          <a:prstGeom prst="rect">
            <a:avLst/>
          </a:prstGeom>
          <a:ln>
            <a:solidFill>
              <a:schemeClr val="tx1"/>
            </a:solidFill>
          </a:ln>
        </p:spPr>
      </p:pic>
    </p:spTree>
    <p:extLst>
      <p:ext uri="{BB962C8B-B14F-4D97-AF65-F5344CB8AC3E}">
        <p14:creationId xmlns:p14="http://schemas.microsoft.com/office/powerpoint/2010/main" val="2748490255"/>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AB5685EA-BEEE-3A02-D701-EB2E6D988BB2}"/>
            </a:ext>
          </a:extLst>
        </p:cNvPr>
        <p:cNvGrpSpPr/>
        <p:nvPr/>
      </p:nvGrpSpPr>
      <p:grpSpPr>
        <a:xfrm>
          <a:off x="0" y="0"/>
          <a:ext cx="0" cy="0"/>
          <a:chOff x="0" y="0"/>
          <a:chExt cx="0" cy="0"/>
        </a:xfrm>
      </p:grpSpPr>
      <p:pic>
        <p:nvPicPr>
          <p:cNvPr id="136" name="Google Shape;136;p17">
            <a:extLst>
              <a:ext uri="{FF2B5EF4-FFF2-40B4-BE49-F238E27FC236}">
                <a16:creationId xmlns:a16="http://schemas.microsoft.com/office/drawing/2014/main" id="{CA08BA89-608A-E08A-DACF-1F63F19DB382}"/>
              </a:ext>
            </a:extLst>
          </p:cNvPr>
          <p:cNvPicPr preferRelativeResize="0"/>
          <p:nvPr/>
        </p:nvPicPr>
        <p:blipFill>
          <a:blip r:embed="rId3">
            <a:alphaModFix/>
          </a:blip>
          <a:stretch>
            <a:fillRect/>
          </a:stretch>
        </p:blipFill>
        <p:spPr>
          <a:xfrm>
            <a:off x="0" y="-12"/>
            <a:ext cx="18288000" cy="10287000"/>
          </a:xfrm>
          <a:prstGeom prst="rect">
            <a:avLst/>
          </a:prstGeom>
          <a:noFill/>
          <a:ln>
            <a:noFill/>
          </a:ln>
        </p:spPr>
      </p:pic>
      <p:sp>
        <p:nvSpPr>
          <p:cNvPr id="137" name="Google Shape;137;p17">
            <a:extLst>
              <a:ext uri="{FF2B5EF4-FFF2-40B4-BE49-F238E27FC236}">
                <a16:creationId xmlns:a16="http://schemas.microsoft.com/office/drawing/2014/main" id="{90F8F60B-5B4F-65A6-F169-EAE2D3902236}"/>
              </a:ext>
            </a:extLst>
          </p:cNvPr>
          <p:cNvSpPr txBox="1"/>
          <p:nvPr/>
        </p:nvSpPr>
        <p:spPr>
          <a:xfrm>
            <a:off x="1028700" y="1005183"/>
            <a:ext cx="10137234" cy="1769715"/>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10000" b="1" i="0" u="none" strike="noStrike" cap="none" dirty="0">
                <a:solidFill>
                  <a:srgbClr val="E5D6A8"/>
                </a:solidFill>
                <a:latin typeface="Libre Baskerville"/>
                <a:ea typeface="Libre Baskerville"/>
                <a:cs typeface="Libre Baskerville"/>
                <a:sym typeface="Libre Baskerville"/>
              </a:rPr>
              <a:t>Task Overview</a:t>
            </a:r>
            <a:endParaRPr dirty="0"/>
          </a:p>
        </p:txBody>
      </p:sp>
      <p:sp>
        <p:nvSpPr>
          <p:cNvPr id="138" name="Google Shape;138;p17">
            <a:extLst>
              <a:ext uri="{FF2B5EF4-FFF2-40B4-BE49-F238E27FC236}">
                <a16:creationId xmlns:a16="http://schemas.microsoft.com/office/drawing/2014/main" id="{ACD9B208-13C2-8DF6-2CE9-06FB4B1A676C}"/>
              </a:ext>
            </a:extLst>
          </p:cNvPr>
          <p:cNvSpPr txBox="1"/>
          <p:nvPr/>
        </p:nvSpPr>
        <p:spPr>
          <a:xfrm>
            <a:off x="1028700" y="3441081"/>
            <a:ext cx="6969406"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Movie Genre Analysis</a:t>
            </a:r>
            <a:endParaRPr sz="3200" dirty="0">
              <a:latin typeface="Poppins"/>
              <a:ea typeface="Poppins"/>
              <a:cs typeface="Poppins"/>
              <a:sym typeface="Poppins"/>
            </a:endParaRPr>
          </a:p>
        </p:txBody>
      </p:sp>
      <p:sp>
        <p:nvSpPr>
          <p:cNvPr id="139" name="Google Shape;139;p17">
            <a:extLst>
              <a:ext uri="{FF2B5EF4-FFF2-40B4-BE49-F238E27FC236}">
                <a16:creationId xmlns:a16="http://schemas.microsoft.com/office/drawing/2014/main" id="{430E73D8-2BA1-85EF-A9F5-74DE41BF6F54}"/>
              </a:ext>
            </a:extLst>
          </p:cNvPr>
          <p:cNvSpPr txBox="1"/>
          <p:nvPr/>
        </p:nvSpPr>
        <p:spPr>
          <a:xfrm>
            <a:off x="1028700" y="4627322"/>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Movie Duration Analysis</a:t>
            </a:r>
            <a:endParaRPr sz="3200" dirty="0">
              <a:latin typeface="Poppins"/>
              <a:ea typeface="Poppins"/>
              <a:cs typeface="Poppins"/>
              <a:sym typeface="Poppins"/>
            </a:endParaRPr>
          </a:p>
        </p:txBody>
      </p:sp>
      <p:sp>
        <p:nvSpPr>
          <p:cNvPr id="140" name="Google Shape;140;p17">
            <a:extLst>
              <a:ext uri="{FF2B5EF4-FFF2-40B4-BE49-F238E27FC236}">
                <a16:creationId xmlns:a16="http://schemas.microsoft.com/office/drawing/2014/main" id="{CA3AB7AB-81B1-A64C-E575-BA0CC839CFCC}"/>
              </a:ext>
            </a:extLst>
          </p:cNvPr>
          <p:cNvSpPr txBox="1"/>
          <p:nvPr/>
        </p:nvSpPr>
        <p:spPr>
          <a:xfrm>
            <a:off x="1028700" y="5789500"/>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Language Analysis</a:t>
            </a:r>
            <a:endParaRPr lang="en-US" sz="3200" dirty="0">
              <a:latin typeface="Poppins"/>
              <a:ea typeface="Poppins"/>
              <a:cs typeface="Poppins"/>
              <a:sym typeface="Poppins"/>
            </a:endParaRPr>
          </a:p>
        </p:txBody>
      </p:sp>
      <p:sp>
        <p:nvSpPr>
          <p:cNvPr id="141" name="Google Shape;141;p17">
            <a:extLst>
              <a:ext uri="{FF2B5EF4-FFF2-40B4-BE49-F238E27FC236}">
                <a16:creationId xmlns:a16="http://schemas.microsoft.com/office/drawing/2014/main" id="{19D3C05A-8342-FF34-43C2-8529C5426CC8}"/>
              </a:ext>
            </a:extLst>
          </p:cNvPr>
          <p:cNvSpPr txBox="1"/>
          <p:nvPr/>
        </p:nvSpPr>
        <p:spPr>
          <a:xfrm>
            <a:off x="1028700" y="6951678"/>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Director Analysis</a:t>
            </a:r>
            <a:endParaRPr sz="3200" dirty="0">
              <a:latin typeface="Poppins"/>
              <a:ea typeface="Poppins"/>
              <a:cs typeface="Poppins"/>
              <a:sym typeface="Poppins"/>
            </a:endParaRPr>
          </a:p>
        </p:txBody>
      </p:sp>
      <p:cxnSp>
        <p:nvCxnSpPr>
          <p:cNvPr id="142" name="Google Shape;142;p17">
            <a:extLst>
              <a:ext uri="{FF2B5EF4-FFF2-40B4-BE49-F238E27FC236}">
                <a16:creationId xmlns:a16="http://schemas.microsoft.com/office/drawing/2014/main" id="{C37707CE-D95B-28B4-9FCF-9AB1B7DFC3D4}"/>
              </a:ext>
            </a:extLst>
          </p:cNvPr>
          <p:cNvCxnSpPr/>
          <p:nvPr/>
        </p:nvCxnSpPr>
        <p:spPr>
          <a:xfrm>
            <a:off x="1028700" y="4390943"/>
            <a:ext cx="6492240" cy="0"/>
          </a:xfrm>
          <a:prstGeom prst="straightConnector1">
            <a:avLst/>
          </a:prstGeom>
          <a:noFill/>
          <a:ln w="19050" cap="flat" cmpd="sng">
            <a:solidFill>
              <a:srgbClr val="FFFDFC"/>
            </a:solidFill>
            <a:prstDash val="solid"/>
            <a:round/>
            <a:headEnd type="none" w="sm" len="sm"/>
            <a:tailEnd type="none" w="sm" len="sm"/>
          </a:ln>
        </p:spPr>
      </p:cxnSp>
      <p:cxnSp>
        <p:nvCxnSpPr>
          <p:cNvPr id="143" name="Google Shape;143;p17">
            <a:extLst>
              <a:ext uri="{FF2B5EF4-FFF2-40B4-BE49-F238E27FC236}">
                <a16:creationId xmlns:a16="http://schemas.microsoft.com/office/drawing/2014/main" id="{B5A93C1B-48A3-729D-E1BC-262DBAD5FD2B}"/>
              </a:ext>
            </a:extLst>
          </p:cNvPr>
          <p:cNvCxnSpPr/>
          <p:nvPr/>
        </p:nvCxnSpPr>
        <p:spPr>
          <a:xfrm>
            <a:off x="1028700" y="5553121"/>
            <a:ext cx="6492240" cy="0"/>
          </a:xfrm>
          <a:prstGeom prst="straightConnector1">
            <a:avLst/>
          </a:prstGeom>
          <a:noFill/>
          <a:ln w="19050" cap="flat" cmpd="sng">
            <a:solidFill>
              <a:srgbClr val="FFFDFC"/>
            </a:solidFill>
            <a:prstDash val="solid"/>
            <a:round/>
            <a:headEnd type="none" w="sm" len="sm"/>
            <a:tailEnd type="none" w="sm" len="sm"/>
          </a:ln>
        </p:spPr>
      </p:cxnSp>
      <p:cxnSp>
        <p:nvCxnSpPr>
          <p:cNvPr id="144" name="Google Shape;144;p17">
            <a:extLst>
              <a:ext uri="{FF2B5EF4-FFF2-40B4-BE49-F238E27FC236}">
                <a16:creationId xmlns:a16="http://schemas.microsoft.com/office/drawing/2014/main" id="{CFF5B84D-97BD-EF77-260F-E82335724A10}"/>
              </a:ext>
            </a:extLst>
          </p:cNvPr>
          <p:cNvCxnSpPr/>
          <p:nvPr/>
        </p:nvCxnSpPr>
        <p:spPr>
          <a:xfrm>
            <a:off x="1028700" y="6715299"/>
            <a:ext cx="6492240" cy="0"/>
          </a:xfrm>
          <a:prstGeom prst="straightConnector1">
            <a:avLst/>
          </a:prstGeom>
          <a:noFill/>
          <a:ln w="19050" cap="flat" cmpd="sng">
            <a:solidFill>
              <a:srgbClr val="FFFDFC"/>
            </a:solidFill>
            <a:prstDash val="solid"/>
            <a:round/>
            <a:headEnd type="none" w="sm" len="sm"/>
            <a:tailEnd type="none" w="sm" len="sm"/>
          </a:ln>
        </p:spPr>
      </p:cxnSp>
      <p:cxnSp>
        <p:nvCxnSpPr>
          <p:cNvPr id="145" name="Google Shape;145;p17">
            <a:extLst>
              <a:ext uri="{FF2B5EF4-FFF2-40B4-BE49-F238E27FC236}">
                <a16:creationId xmlns:a16="http://schemas.microsoft.com/office/drawing/2014/main" id="{DAF390CE-47A8-5413-0B70-ABE760D544B8}"/>
              </a:ext>
            </a:extLst>
          </p:cNvPr>
          <p:cNvCxnSpPr/>
          <p:nvPr/>
        </p:nvCxnSpPr>
        <p:spPr>
          <a:xfrm>
            <a:off x="1028700" y="7877477"/>
            <a:ext cx="6492240" cy="0"/>
          </a:xfrm>
          <a:prstGeom prst="straightConnector1">
            <a:avLst/>
          </a:prstGeom>
          <a:noFill/>
          <a:ln w="19050" cap="flat" cmpd="sng">
            <a:solidFill>
              <a:srgbClr val="FFFDFC"/>
            </a:solidFill>
            <a:prstDash val="solid"/>
            <a:round/>
            <a:headEnd type="none" w="sm" len="sm"/>
            <a:tailEnd type="none" w="sm" len="sm"/>
          </a:ln>
        </p:spPr>
      </p:cxnSp>
      <p:sp>
        <p:nvSpPr>
          <p:cNvPr id="2" name="Google Shape;141;p17">
            <a:extLst>
              <a:ext uri="{FF2B5EF4-FFF2-40B4-BE49-F238E27FC236}">
                <a16:creationId xmlns:a16="http://schemas.microsoft.com/office/drawing/2014/main" id="{CD5BCF36-E00A-43F7-8277-4996600E0D82}"/>
              </a:ext>
            </a:extLst>
          </p:cNvPr>
          <p:cNvSpPr txBox="1"/>
          <p:nvPr/>
        </p:nvSpPr>
        <p:spPr>
          <a:xfrm>
            <a:off x="1028700" y="8113856"/>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Budget Analysis</a:t>
            </a:r>
            <a:endParaRPr lang="en-US" sz="3200" dirty="0">
              <a:latin typeface="Poppins"/>
              <a:ea typeface="Poppins"/>
              <a:cs typeface="Poppins"/>
              <a:sym typeface="Poppins"/>
            </a:endParaRPr>
          </a:p>
        </p:txBody>
      </p:sp>
      <p:cxnSp>
        <p:nvCxnSpPr>
          <p:cNvPr id="3" name="Google Shape;145;p17">
            <a:extLst>
              <a:ext uri="{FF2B5EF4-FFF2-40B4-BE49-F238E27FC236}">
                <a16:creationId xmlns:a16="http://schemas.microsoft.com/office/drawing/2014/main" id="{C4A1A4A7-FFD7-2469-43E4-0827B2AA83BA}"/>
              </a:ext>
            </a:extLst>
          </p:cNvPr>
          <p:cNvCxnSpPr/>
          <p:nvPr/>
        </p:nvCxnSpPr>
        <p:spPr>
          <a:xfrm>
            <a:off x="1028700" y="9039658"/>
            <a:ext cx="6492240" cy="0"/>
          </a:xfrm>
          <a:prstGeom prst="straightConnector1">
            <a:avLst/>
          </a:prstGeom>
          <a:noFill/>
          <a:ln w="19050" cap="flat" cmpd="sng">
            <a:solidFill>
              <a:srgbClr val="FFFDFC"/>
            </a:solidFill>
            <a:prstDash val="solid"/>
            <a:round/>
            <a:headEnd type="none" w="sm" len="sm"/>
            <a:tailEnd type="none" w="sm" len="sm"/>
          </a:ln>
        </p:spPr>
      </p:cxnSp>
    </p:spTree>
    <p:extLst>
      <p:ext uri="{BB962C8B-B14F-4D97-AF65-F5344CB8AC3E}">
        <p14:creationId xmlns:p14="http://schemas.microsoft.com/office/powerpoint/2010/main" val="14446700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14D49D87-92B7-1F67-B4C7-6438B4B187E5}"/>
            </a:ext>
          </a:extLst>
        </p:cNvPr>
        <p:cNvGrpSpPr/>
        <p:nvPr/>
      </p:nvGrpSpPr>
      <p:grpSpPr>
        <a:xfrm>
          <a:off x="0" y="0"/>
          <a:ext cx="0" cy="0"/>
          <a:chOff x="0" y="0"/>
          <a:chExt cx="0" cy="0"/>
        </a:xfrm>
      </p:grpSpPr>
      <p:pic>
        <p:nvPicPr>
          <p:cNvPr id="136" name="Google Shape;136;p17">
            <a:extLst>
              <a:ext uri="{FF2B5EF4-FFF2-40B4-BE49-F238E27FC236}">
                <a16:creationId xmlns:a16="http://schemas.microsoft.com/office/drawing/2014/main" id="{78505361-460E-6AD1-CBF0-2BC5558432F5}"/>
              </a:ext>
            </a:extLst>
          </p:cNvPr>
          <p:cNvPicPr preferRelativeResize="0"/>
          <p:nvPr/>
        </p:nvPicPr>
        <p:blipFill>
          <a:blip r:embed="rId3">
            <a:alphaModFix/>
          </a:blip>
          <a:stretch>
            <a:fillRect/>
          </a:stretch>
        </p:blipFill>
        <p:spPr>
          <a:xfrm>
            <a:off x="0" y="-12"/>
            <a:ext cx="18288000" cy="10287000"/>
          </a:xfrm>
          <a:prstGeom prst="rect">
            <a:avLst/>
          </a:prstGeom>
          <a:noFill/>
          <a:ln>
            <a:noFill/>
          </a:ln>
        </p:spPr>
      </p:pic>
      <p:sp>
        <p:nvSpPr>
          <p:cNvPr id="137" name="Google Shape;137;p17">
            <a:extLst>
              <a:ext uri="{FF2B5EF4-FFF2-40B4-BE49-F238E27FC236}">
                <a16:creationId xmlns:a16="http://schemas.microsoft.com/office/drawing/2014/main" id="{75A6450D-9976-9362-E475-46B31F5297BA}"/>
              </a:ext>
            </a:extLst>
          </p:cNvPr>
          <p:cNvSpPr txBox="1"/>
          <p:nvPr/>
        </p:nvSpPr>
        <p:spPr>
          <a:xfrm>
            <a:off x="1028700" y="1005183"/>
            <a:ext cx="10137234" cy="1769715"/>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10000" b="1" i="0" u="none" strike="noStrike" cap="none" dirty="0">
                <a:solidFill>
                  <a:srgbClr val="E5D6A8"/>
                </a:solidFill>
                <a:latin typeface="Libre Baskerville"/>
                <a:ea typeface="Libre Baskerville"/>
                <a:cs typeface="Libre Baskerville"/>
                <a:sym typeface="Libre Baskerville"/>
              </a:rPr>
              <a:t>Task Overview</a:t>
            </a:r>
            <a:endParaRPr dirty="0"/>
          </a:p>
        </p:txBody>
      </p:sp>
      <p:sp>
        <p:nvSpPr>
          <p:cNvPr id="138" name="Google Shape;138;p17">
            <a:extLst>
              <a:ext uri="{FF2B5EF4-FFF2-40B4-BE49-F238E27FC236}">
                <a16:creationId xmlns:a16="http://schemas.microsoft.com/office/drawing/2014/main" id="{D5B4FE17-EE28-A1F2-30FC-2A3830FDA785}"/>
              </a:ext>
            </a:extLst>
          </p:cNvPr>
          <p:cNvSpPr txBox="1"/>
          <p:nvPr/>
        </p:nvSpPr>
        <p:spPr>
          <a:xfrm>
            <a:off x="1028700" y="3441081"/>
            <a:ext cx="6969406"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Movie Genre Analysis</a:t>
            </a:r>
            <a:endParaRPr sz="3200" dirty="0">
              <a:latin typeface="Poppins"/>
              <a:ea typeface="Poppins"/>
              <a:cs typeface="Poppins"/>
              <a:sym typeface="Poppins"/>
            </a:endParaRPr>
          </a:p>
        </p:txBody>
      </p:sp>
      <p:sp>
        <p:nvSpPr>
          <p:cNvPr id="139" name="Google Shape;139;p17">
            <a:extLst>
              <a:ext uri="{FF2B5EF4-FFF2-40B4-BE49-F238E27FC236}">
                <a16:creationId xmlns:a16="http://schemas.microsoft.com/office/drawing/2014/main" id="{B720CA49-0DBA-FB3B-23D0-1B8BBDB9542F}"/>
              </a:ext>
            </a:extLst>
          </p:cNvPr>
          <p:cNvSpPr txBox="1"/>
          <p:nvPr/>
        </p:nvSpPr>
        <p:spPr>
          <a:xfrm>
            <a:off x="1028700" y="4627322"/>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Movie Duration Analysis</a:t>
            </a:r>
            <a:endParaRPr sz="3200" dirty="0">
              <a:latin typeface="Poppins"/>
              <a:ea typeface="Poppins"/>
              <a:cs typeface="Poppins"/>
              <a:sym typeface="Poppins"/>
            </a:endParaRPr>
          </a:p>
        </p:txBody>
      </p:sp>
      <p:sp>
        <p:nvSpPr>
          <p:cNvPr id="140" name="Google Shape;140;p17">
            <a:extLst>
              <a:ext uri="{FF2B5EF4-FFF2-40B4-BE49-F238E27FC236}">
                <a16:creationId xmlns:a16="http://schemas.microsoft.com/office/drawing/2014/main" id="{4CF73C04-6934-6FB5-0040-D91F280CCDC2}"/>
              </a:ext>
            </a:extLst>
          </p:cNvPr>
          <p:cNvSpPr txBox="1"/>
          <p:nvPr/>
        </p:nvSpPr>
        <p:spPr>
          <a:xfrm>
            <a:off x="5146350" y="5799357"/>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b="1" i="0" u="none" strike="noStrike" cap="none" dirty="0">
                <a:solidFill>
                  <a:schemeClr val="tx1"/>
                </a:solidFill>
                <a:highlight>
                  <a:srgbClr val="C0C0C0"/>
                </a:highlight>
                <a:latin typeface="Poppins"/>
                <a:ea typeface="Poppins"/>
                <a:cs typeface="Poppins"/>
                <a:sym typeface="Poppins"/>
              </a:rPr>
              <a:t>Language Analysis</a:t>
            </a:r>
            <a:endParaRPr lang="en-US" sz="3200" b="1" dirty="0">
              <a:solidFill>
                <a:schemeClr val="tx1"/>
              </a:solidFill>
              <a:highlight>
                <a:srgbClr val="C0C0C0"/>
              </a:highlight>
              <a:latin typeface="Poppins"/>
              <a:ea typeface="Poppins"/>
              <a:cs typeface="Poppins"/>
              <a:sym typeface="Poppins"/>
            </a:endParaRPr>
          </a:p>
        </p:txBody>
      </p:sp>
      <p:sp>
        <p:nvSpPr>
          <p:cNvPr id="141" name="Google Shape;141;p17">
            <a:extLst>
              <a:ext uri="{FF2B5EF4-FFF2-40B4-BE49-F238E27FC236}">
                <a16:creationId xmlns:a16="http://schemas.microsoft.com/office/drawing/2014/main" id="{DB16563C-C095-F64E-2F94-5F8487DA5976}"/>
              </a:ext>
            </a:extLst>
          </p:cNvPr>
          <p:cNvSpPr txBox="1"/>
          <p:nvPr/>
        </p:nvSpPr>
        <p:spPr>
          <a:xfrm>
            <a:off x="1028700" y="6951678"/>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Director Analysis</a:t>
            </a:r>
            <a:endParaRPr sz="3200" dirty="0">
              <a:latin typeface="Poppins"/>
              <a:ea typeface="Poppins"/>
              <a:cs typeface="Poppins"/>
              <a:sym typeface="Poppins"/>
            </a:endParaRPr>
          </a:p>
        </p:txBody>
      </p:sp>
      <p:cxnSp>
        <p:nvCxnSpPr>
          <p:cNvPr id="142" name="Google Shape;142;p17">
            <a:extLst>
              <a:ext uri="{FF2B5EF4-FFF2-40B4-BE49-F238E27FC236}">
                <a16:creationId xmlns:a16="http://schemas.microsoft.com/office/drawing/2014/main" id="{8A02EBDF-AAA5-7976-4752-705039F0470B}"/>
              </a:ext>
            </a:extLst>
          </p:cNvPr>
          <p:cNvCxnSpPr/>
          <p:nvPr/>
        </p:nvCxnSpPr>
        <p:spPr>
          <a:xfrm>
            <a:off x="1028700" y="4390943"/>
            <a:ext cx="6492240" cy="0"/>
          </a:xfrm>
          <a:prstGeom prst="straightConnector1">
            <a:avLst/>
          </a:prstGeom>
          <a:noFill/>
          <a:ln w="19050" cap="flat" cmpd="sng">
            <a:solidFill>
              <a:srgbClr val="FFFDFC"/>
            </a:solidFill>
            <a:prstDash val="solid"/>
            <a:round/>
            <a:headEnd type="none" w="sm" len="sm"/>
            <a:tailEnd type="none" w="sm" len="sm"/>
          </a:ln>
        </p:spPr>
      </p:cxnSp>
      <p:cxnSp>
        <p:nvCxnSpPr>
          <p:cNvPr id="143" name="Google Shape;143;p17">
            <a:extLst>
              <a:ext uri="{FF2B5EF4-FFF2-40B4-BE49-F238E27FC236}">
                <a16:creationId xmlns:a16="http://schemas.microsoft.com/office/drawing/2014/main" id="{63943D95-349C-87FE-8391-C92F46B62238}"/>
              </a:ext>
            </a:extLst>
          </p:cNvPr>
          <p:cNvCxnSpPr/>
          <p:nvPr/>
        </p:nvCxnSpPr>
        <p:spPr>
          <a:xfrm>
            <a:off x="1028700" y="5553121"/>
            <a:ext cx="6492240" cy="0"/>
          </a:xfrm>
          <a:prstGeom prst="straightConnector1">
            <a:avLst/>
          </a:prstGeom>
          <a:noFill/>
          <a:ln w="19050" cap="flat" cmpd="sng">
            <a:solidFill>
              <a:srgbClr val="FFFDFC"/>
            </a:solidFill>
            <a:prstDash val="solid"/>
            <a:round/>
            <a:headEnd type="none" w="sm" len="sm"/>
            <a:tailEnd type="none" w="sm" len="sm"/>
          </a:ln>
        </p:spPr>
      </p:cxnSp>
      <p:cxnSp>
        <p:nvCxnSpPr>
          <p:cNvPr id="144" name="Google Shape;144;p17">
            <a:extLst>
              <a:ext uri="{FF2B5EF4-FFF2-40B4-BE49-F238E27FC236}">
                <a16:creationId xmlns:a16="http://schemas.microsoft.com/office/drawing/2014/main" id="{BC4549A3-89AB-0C6A-D3DE-3CD207952C50}"/>
              </a:ext>
            </a:extLst>
          </p:cNvPr>
          <p:cNvCxnSpPr/>
          <p:nvPr/>
        </p:nvCxnSpPr>
        <p:spPr>
          <a:xfrm>
            <a:off x="1028700" y="6715299"/>
            <a:ext cx="6492240" cy="0"/>
          </a:xfrm>
          <a:prstGeom prst="straightConnector1">
            <a:avLst/>
          </a:prstGeom>
          <a:noFill/>
          <a:ln w="19050" cap="flat" cmpd="sng">
            <a:solidFill>
              <a:srgbClr val="FFFDFC"/>
            </a:solidFill>
            <a:prstDash val="solid"/>
            <a:round/>
            <a:headEnd type="none" w="sm" len="sm"/>
            <a:tailEnd type="none" w="sm" len="sm"/>
          </a:ln>
        </p:spPr>
      </p:cxnSp>
      <p:cxnSp>
        <p:nvCxnSpPr>
          <p:cNvPr id="145" name="Google Shape;145;p17">
            <a:extLst>
              <a:ext uri="{FF2B5EF4-FFF2-40B4-BE49-F238E27FC236}">
                <a16:creationId xmlns:a16="http://schemas.microsoft.com/office/drawing/2014/main" id="{8F6147BB-2468-8790-988D-5BB6638FC46E}"/>
              </a:ext>
            </a:extLst>
          </p:cNvPr>
          <p:cNvCxnSpPr/>
          <p:nvPr/>
        </p:nvCxnSpPr>
        <p:spPr>
          <a:xfrm>
            <a:off x="1028700" y="7877477"/>
            <a:ext cx="6492240" cy="0"/>
          </a:xfrm>
          <a:prstGeom prst="straightConnector1">
            <a:avLst/>
          </a:prstGeom>
          <a:noFill/>
          <a:ln w="19050" cap="flat" cmpd="sng">
            <a:solidFill>
              <a:srgbClr val="FFFDFC"/>
            </a:solidFill>
            <a:prstDash val="solid"/>
            <a:round/>
            <a:headEnd type="none" w="sm" len="sm"/>
            <a:tailEnd type="none" w="sm" len="sm"/>
          </a:ln>
        </p:spPr>
      </p:cxnSp>
      <p:sp>
        <p:nvSpPr>
          <p:cNvPr id="2" name="Google Shape;141;p17">
            <a:extLst>
              <a:ext uri="{FF2B5EF4-FFF2-40B4-BE49-F238E27FC236}">
                <a16:creationId xmlns:a16="http://schemas.microsoft.com/office/drawing/2014/main" id="{61078BE8-BD9B-E3BF-9AE9-90512B48E55F}"/>
              </a:ext>
            </a:extLst>
          </p:cNvPr>
          <p:cNvSpPr txBox="1"/>
          <p:nvPr/>
        </p:nvSpPr>
        <p:spPr>
          <a:xfrm>
            <a:off x="1028700" y="8113856"/>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Budget Analysis</a:t>
            </a:r>
            <a:endParaRPr lang="en-US" sz="3200" dirty="0">
              <a:latin typeface="Poppins"/>
              <a:ea typeface="Poppins"/>
              <a:cs typeface="Poppins"/>
              <a:sym typeface="Poppins"/>
            </a:endParaRPr>
          </a:p>
        </p:txBody>
      </p:sp>
      <p:cxnSp>
        <p:nvCxnSpPr>
          <p:cNvPr id="3" name="Google Shape;145;p17">
            <a:extLst>
              <a:ext uri="{FF2B5EF4-FFF2-40B4-BE49-F238E27FC236}">
                <a16:creationId xmlns:a16="http://schemas.microsoft.com/office/drawing/2014/main" id="{B81CCC26-5634-0012-5580-D05D211B4085}"/>
              </a:ext>
            </a:extLst>
          </p:cNvPr>
          <p:cNvCxnSpPr/>
          <p:nvPr/>
        </p:nvCxnSpPr>
        <p:spPr>
          <a:xfrm>
            <a:off x="1028700" y="9039658"/>
            <a:ext cx="6492240" cy="0"/>
          </a:xfrm>
          <a:prstGeom prst="straightConnector1">
            <a:avLst/>
          </a:prstGeom>
          <a:noFill/>
          <a:ln w="19050" cap="flat" cmpd="sng">
            <a:solidFill>
              <a:srgbClr val="FFFDFC"/>
            </a:solidFill>
            <a:prstDash val="solid"/>
            <a:round/>
            <a:headEnd type="none" w="sm" len="sm"/>
            <a:tailEnd type="none" w="sm" len="sm"/>
          </a:ln>
        </p:spPr>
      </p:cxnSp>
    </p:spTree>
    <p:extLst>
      <p:ext uri="{BB962C8B-B14F-4D97-AF65-F5344CB8AC3E}">
        <p14:creationId xmlns:p14="http://schemas.microsoft.com/office/powerpoint/2010/main" val="30108798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F1D44A1F-8602-2014-D518-E3DFFDF6F7DC}"/>
            </a:ext>
          </a:extLst>
        </p:cNvPr>
        <p:cNvGrpSpPr/>
        <p:nvPr/>
      </p:nvGrpSpPr>
      <p:grpSpPr>
        <a:xfrm>
          <a:off x="0" y="0"/>
          <a:ext cx="0" cy="0"/>
          <a:chOff x="0" y="0"/>
          <a:chExt cx="0" cy="0"/>
        </a:xfrm>
      </p:grpSpPr>
      <p:grpSp>
        <p:nvGrpSpPr>
          <p:cNvPr id="122" name="Google Shape;122;p16">
            <a:extLst>
              <a:ext uri="{FF2B5EF4-FFF2-40B4-BE49-F238E27FC236}">
                <a16:creationId xmlns:a16="http://schemas.microsoft.com/office/drawing/2014/main" id="{557AB378-8048-B274-0554-D55F87FE58A1}"/>
              </a:ext>
            </a:extLst>
          </p:cNvPr>
          <p:cNvGrpSpPr/>
          <p:nvPr/>
        </p:nvGrpSpPr>
        <p:grpSpPr>
          <a:xfrm>
            <a:off x="0" y="-144660"/>
            <a:ext cx="18288000" cy="2517158"/>
            <a:chOff x="0" y="-38100"/>
            <a:chExt cx="4816593" cy="908088"/>
          </a:xfrm>
        </p:grpSpPr>
        <p:sp>
          <p:nvSpPr>
            <p:cNvPr id="123" name="Google Shape;123;p16">
              <a:extLst>
                <a:ext uri="{FF2B5EF4-FFF2-40B4-BE49-F238E27FC236}">
                  <a16:creationId xmlns:a16="http://schemas.microsoft.com/office/drawing/2014/main" id="{1A64AD59-AA53-D3F0-FF13-6EAC3263E5A2}"/>
                </a:ext>
              </a:extLst>
            </p:cNvPr>
            <p:cNvSpPr/>
            <p:nvPr/>
          </p:nvSpPr>
          <p:spPr>
            <a:xfrm>
              <a:off x="0" y="0"/>
              <a:ext cx="4816592" cy="869988"/>
            </a:xfrm>
            <a:custGeom>
              <a:avLst/>
              <a:gdLst/>
              <a:ahLst/>
              <a:cxnLst/>
              <a:rect l="l" t="t" r="r" b="b"/>
              <a:pathLst>
                <a:path w="4816592" h="869988" extrusionOk="0">
                  <a:moveTo>
                    <a:pt x="0" y="0"/>
                  </a:moveTo>
                  <a:lnTo>
                    <a:pt x="4816592" y="0"/>
                  </a:lnTo>
                  <a:lnTo>
                    <a:pt x="4816592" y="869988"/>
                  </a:lnTo>
                  <a:lnTo>
                    <a:pt x="0" y="869988"/>
                  </a:lnTo>
                  <a:close/>
                </a:path>
              </a:pathLst>
            </a:custGeom>
            <a:solidFill>
              <a:srgbClr val="000000"/>
            </a:solidFill>
            <a:ln>
              <a:noFill/>
            </a:ln>
          </p:spPr>
          <p:txBody>
            <a:bodyPr/>
            <a:lstStyle/>
            <a:p>
              <a:endParaRPr lang="en-IN" dirty="0"/>
            </a:p>
          </p:txBody>
        </p:sp>
        <p:sp>
          <p:nvSpPr>
            <p:cNvPr id="124" name="Google Shape;124;p16">
              <a:extLst>
                <a:ext uri="{FF2B5EF4-FFF2-40B4-BE49-F238E27FC236}">
                  <a16:creationId xmlns:a16="http://schemas.microsoft.com/office/drawing/2014/main" id="{014DA7DC-BB51-9D49-A070-634643249A4F}"/>
                </a:ext>
              </a:extLst>
            </p:cNvPr>
            <p:cNvSpPr txBox="1"/>
            <p:nvPr/>
          </p:nvSpPr>
          <p:spPr>
            <a:xfrm>
              <a:off x="0" y="-38100"/>
              <a:ext cx="4816593" cy="90808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grpSp>
      <p:sp>
        <p:nvSpPr>
          <p:cNvPr id="125" name="Google Shape;125;p16">
            <a:extLst>
              <a:ext uri="{FF2B5EF4-FFF2-40B4-BE49-F238E27FC236}">
                <a16:creationId xmlns:a16="http://schemas.microsoft.com/office/drawing/2014/main" id="{510A9C93-0021-CD80-47A4-FD5973405FF7}"/>
              </a:ext>
            </a:extLst>
          </p:cNvPr>
          <p:cNvSpPr txBox="1"/>
          <p:nvPr/>
        </p:nvSpPr>
        <p:spPr>
          <a:xfrm>
            <a:off x="568411" y="514786"/>
            <a:ext cx="16690887" cy="1415772"/>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8000" b="1" i="0" u="none" strike="noStrike" cap="none" dirty="0">
                <a:solidFill>
                  <a:srgbClr val="E5D6A8"/>
                </a:solidFill>
                <a:latin typeface="Libre Baskerville"/>
                <a:ea typeface="Libre Baskerville"/>
                <a:cs typeface="Libre Baskerville"/>
                <a:sym typeface="Libre Baskerville"/>
              </a:rPr>
              <a:t>Language Analysis</a:t>
            </a:r>
            <a:endParaRPr lang="en-US" dirty="0"/>
          </a:p>
        </p:txBody>
      </p:sp>
      <p:sp>
        <p:nvSpPr>
          <p:cNvPr id="2" name="TextBox 1">
            <a:extLst>
              <a:ext uri="{FF2B5EF4-FFF2-40B4-BE49-F238E27FC236}">
                <a16:creationId xmlns:a16="http://schemas.microsoft.com/office/drawing/2014/main" id="{AFCA22C8-343C-CBB7-AF13-8D8E98CA1ABD}"/>
              </a:ext>
            </a:extLst>
          </p:cNvPr>
          <p:cNvSpPr txBox="1"/>
          <p:nvPr/>
        </p:nvSpPr>
        <p:spPr>
          <a:xfrm>
            <a:off x="568411" y="2656703"/>
            <a:ext cx="15416227"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Objective: </a:t>
            </a:r>
            <a:r>
              <a:rPr lang="en-US" sz="3200" dirty="0">
                <a:latin typeface="Times New Roman" panose="02020603050405020304" pitchFamily="18" charset="0"/>
                <a:cs typeface="Times New Roman" panose="02020603050405020304" pitchFamily="18" charset="0"/>
              </a:rPr>
              <a:t>Investigate the relationship between </a:t>
            </a:r>
            <a:r>
              <a:rPr lang="en-US" sz="3200">
                <a:latin typeface="Times New Roman" panose="02020603050405020304" pitchFamily="18" charset="0"/>
                <a:cs typeface="Times New Roman" panose="02020603050405020304" pitchFamily="18" charset="0"/>
              </a:rPr>
              <a:t>movie language and </a:t>
            </a:r>
            <a:r>
              <a:rPr lang="en-US" sz="3200" dirty="0">
                <a:latin typeface="Times New Roman" panose="02020603050405020304" pitchFamily="18" charset="0"/>
                <a:cs typeface="Times New Roman" panose="02020603050405020304" pitchFamily="18" charset="0"/>
              </a:rPr>
              <a:t>IMDB scores.</a:t>
            </a:r>
            <a:endParaRPr lang="en-IN" sz="2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38AD295-8E5F-D93A-9AF3-2C8AEF141004}"/>
              </a:ext>
            </a:extLst>
          </p:cNvPr>
          <p:cNvSpPr txBox="1"/>
          <p:nvPr/>
        </p:nvSpPr>
        <p:spPr>
          <a:xfrm>
            <a:off x="568410" y="8799168"/>
            <a:ext cx="12356757" cy="1077218"/>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Key Insight: </a:t>
            </a:r>
            <a:r>
              <a:rPr lang="en-US" sz="3200" i="1" u="sng" dirty="0">
                <a:latin typeface="Times New Roman" panose="02020603050405020304" pitchFamily="18" charset="0"/>
                <a:cs typeface="Times New Roman" panose="02020603050405020304" pitchFamily="18" charset="0"/>
              </a:rPr>
              <a:t>English</a:t>
            </a:r>
            <a:r>
              <a:rPr lang="en-US" sz="3200" dirty="0">
                <a:latin typeface="Times New Roman" panose="02020603050405020304" pitchFamily="18" charset="0"/>
                <a:cs typeface="Times New Roman" panose="02020603050405020304" pitchFamily="18" charset="0"/>
              </a:rPr>
              <a:t> is the most frequent, while </a:t>
            </a:r>
            <a:r>
              <a:rPr lang="en-US" sz="3200" i="1" u="sng" dirty="0">
                <a:latin typeface="Times New Roman" panose="02020603050405020304" pitchFamily="18" charset="0"/>
                <a:cs typeface="Times New Roman" panose="02020603050405020304" pitchFamily="18" charset="0"/>
              </a:rPr>
              <a:t>Telugu</a:t>
            </a:r>
            <a:r>
              <a:rPr lang="en-US" sz="3200" dirty="0">
                <a:latin typeface="Times New Roman" panose="02020603050405020304" pitchFamily="18" charset="0"/>
                <a:cs typeface="Times New Roman" panose="02020603050405020304" pitchFamily="18" charset="0"/>
              </a:rPr>
              <a:t> has the highest average score.</a:t>
            </a:r>
            <a:endParaRPr lang="en-IN" sz="2400" dirty="0">
              <a:latin typeface="Times New Roman" panose="02020603050405020304" pitchFamily="18" charset="0"/>
              <a:cs typeface="Times New Roman" panose="02020603050405020304" pitchFamily="18" charset="0"/>
            </a:endParaRPr>
          </a:p>
        </p:txBody>
      </p:sp>
      <p:grpSp>
        <p:nvGrpSpPr>
          <p:cNvPr id="8" name="Group 7">
            <a:extLst>
              <a:ext uri="{FF2B5EF4-FFF2-40B4-BE49-F238E27FC236}">
                <a16:creationId xmlns:a16="http://schemas.microsoft.com/office/drawing/2014/main" id="{9A066BE3-7CA0-2ED7-26C6-648AAFE9BE2D}"/>
              </a:ext>
            </a:extLst>
          </p:cNvPr>
          <p:cNvGrpSpPr/>
          <p:nvPr/>
        </p:nvGrpSpPr>
        <p:grpSpPr>
          <a:xfrm>
            <a:off x="11405363" y="3951004"/>
            <a:ext cx="6627859" cy="4610442"/>
            <a:chOff x="8754760" y="3922195"/>
            <a:chExt cx="6627859" cy="4610442"/>
          </a:xfrm>
        </p:grpSpPr>
        <p:sp>
          <p:nvSpPr>
            <p:cNvPr id="7" name="Rectangle: Diagonal Corners Snipped 6">
              <a:extLst>
                <a:ext uri="{FF2B5EF4-FFF2-40B4-BE49-F238E27FC236}">
                  <a16:creationId xmlns:a16="http://schemas.microsoft.com/office/drawing/2014/main" id="{A146A745-0598-9190-CB3E-6BA3FFF64D6B}"/>
                </a:ext>
              </a:extLst>
            </p:cNvPr>
            <p:cNvSpPr/>
            <p:nvPr/>
          </p:nvSpPr>
          <p:spPr>
            <a:xfrm>
              <a:off x="8913854" y="4051141"/>
              <a:ext cx="6468765" cy="4481496"/>
            </a:xfrm>
            <a:prstGeom prst="snip2DiagRect">
              <a:avLst>
                <a:gd name="adj1" fmla="val 0"/>
                <a:gd name="adj2" fmla="val 0"/>
              </a:avLst>
            </a:prstGeom>
            <a:gradFill flip="none" rotWithShape="1">
              <a:gsLst>
                <a:gs pos="0">
                  <a:schemeClr val="accent1">
                    <a:lumMod val="40000"/>
                    <a:lumOff val="60000"/>
                  </a:schemeClr>
                </a:gs>
                <a:gs pos="45000">
                  <a:schemeClr val="tx1"/>
                </a:gs>
                <a:gs pos="100000">
                  <a:schemeClr val="accent1">
                    <a:lumMod val="6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id="{C4E70912-9E75-B624-FD5C-F9A29F60A6BB}"/>
                </a:ext>
              </a:extLst>
            </p:cNvPr>
            <p:cNvPicPr>
              <a:picLocks noChangeAspect="1"/>
            </p:cNvPicPr>
            <p:nvPr/>
          </p:nvPicPr>
          <p:blipFill>
            <a:blip r:embed="rId3"/>
            <a:srcRect l="42192" t="23063" r="21247" b="34775"/>
            <a:stretch/>
          </p:blipFill>
          <p:spPr>
            <a:xfrm>
              <a:off x="8754760" y="3922195"/>
              <a:ext cx="6468764" cy="4481496"/>
            </a:xfrm>
            <a:prstGeom prst="rect">
              <a:avLst/>
            </a:prstGeom>
            <a:ln>
              <a:solidFill>
                <a:schemeClr val="accent1">
                  <a:shade val="15000"/>
                </a:schemeClr>
              </a:solidFill>
            </a:ln>
          </p:spPr>
        </p:pic>
      </p:grpSp>
      <p:sp>
        <p:nvSpPr>
          <p:cNvPr id="9" name="TextBox 8">
            <a:extLst>
              <a:ext uri="{FF2B5EF4-FFF2-40B4-BE49-F238E27FC236}">
                <a16:creationId xmlns:a16="http://schemas.microsoft.com/office/drawing/2014/main" id="{82C98EB3-3613-E733-612A-3B6A9F90723E}"/>
              </a:ext>
            </a:extLst>
          </p:cNvPr>
          <p:cNvSpPr txBox="1"/>
          <p:nvPr/>
        </p:nvSpPr>
        <p:spPr>
          <a:xfrm>
            <a:off x="568410" y="4496829"/>
            <a:ext cx="9792182" cy="255454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Methodology:</a:t>
            </a:r>
          </a:p>
          <a:p>
            <a:pPr marL="285750" lvl="8"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Identify unique languages in the dataset.</a:t>
            </a:r>
          </a:p>
          <a:p>
            <a:pPr marL="285750" lvl="8"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Use COUNTIF to find the frequency of each language.</a:t>
            </a:r>
          </a:p>
          <a:p>
            <a:pPr marL="285750" lvl="8"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Compute the mean IMDB score for movies in each language.</a:t>
            </a:r>
            <a:endParaRPr lang="en-IN" sz="32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D9D06753-33C9-F82C-6EFC-FC463F5B1D2A}"/>
              </a:ext>
            </a:extLst>
          </p:cNvPr>
          <p:cNvPicPr>
            <a:picLocks noChangeAspect="1"/>
          </p:cNvPicPr>
          <p:nvPr/>
        </p:nvPicPr>
        <p:blipFill>
          <a:blip r:embed="rId4"/>
          <a:srcRect l="26426" t="29309" r="34272" b="18028"/>
          <a:stretch/>
        </p:blipFill>
        <p:spPr>
          <a:xfrm>
            <a:off x="11405362" y="3842228"/>
            <a:ext cx="6468765" cy="4590272"/>
          </a:xfrm>
          <a:prstGeom prst="rect">
            <a:avLst/>
          </a:prstGeom>
          <a:ln>
            <a:solidFill>
              <a:schemeClr val="tx1"/>
            </a:solidFill>
          </a:ln>
        </p:spPr>
      </p:pic>
      <p:pic>
        <p:nvPicPr>
          <p:cNvPr id="11" name="Picture 10">
            <a:extLst>
              <a:ext uri="{FF2B5EF4-FFF2-40B4-BE49-F238E27FC236}">
                <a16:creationId xmlns:a16="http://schemas.microsoft.com/office/drawing/2014/main" id="{B085032B-CB3C-68F4-128E-5EA40724E780}"/>
              </a:ext>
            </a:extLst>
          </p:cNvPr>
          <p:cNvPicPr>
            <a:picLocks noChangeAspect="1"/>
          </p:cNvPicPr>
          <p:nvPr/>
        </p:nvPicPr>
        <p:blipFill>
          <a:blip r:embed="rId5"/>
          <a:srcRect l="22134" t="29488" r="36261" b="10406"/>
          <a:stretch/>
        </p:blipFill>
        <p:spPr>
          <a:xfrm>
            <a:off x="11405362" y="3842229"/>
            <a:ext cx="6468766" cy="4590272"/>
          </a:xfrm>
          <a:prstGeom prst="rect">
            <a:avLst/>
          </a:prstGeom>
          <a:ln>
            <a:solidFill>
              <a:schemeClr val="tx1"/>
            </a:solidFill>
          </a:ln>
        </p:spPr>
      </p:pic>
    </p:spTree>
    <p:extLst>
      <p:ext uri="{BB962C8B-B14F-4D97-AF65-F5344CB8AC3E}">
        <p14:creationId xmlns:p14="http://schemas.microsoft.com/office/powerpoint/2010/main" val="2269007606"/>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76D72819-BECE-2F99-17F6-F9588CC8C70A}"/>
            </a:ext>
          </a:extLst>
        </p:cNvPr>
        <p:cNvGrpSpPr/>
        <p:nvPr/>
      </p:nvGrpSpPr>
      <p:grpSpPr>
        <a:xfrm>
          <a:off x="0" y="0"/>
          <a:ext cx="0" cy="0"/>
          <a:chOff x="0" y="0"/>
          <a:chExt cx="0" cy="0"/>
        </a:xfrm>
      </p:grpSpPr>
      <p:pic>
        <p:nvPicPr>
          <p:cNvPr id="136" name="Google Shape;136;p17">
            <a:extLst>
              <a:ext uri="{FF2B5EF4-FFF2-40B4-BE49-F238E27FC236}">
                <a16:creationId xmlns:a16="http://schemas.microsoft.com/office/drawing/2014/main" id="{88DEE6F8-37BF-8279-8994-8B7989D31F86}"/>
              </a:ext>
            </a:extLst>
          </p:cNvPr>
          <p:cNvPicPr preferRelativeResize="0"/>
          <p:nvPr/>
        </p:nvPicPr>
        <p:blipFill>
          <a:blip r:embed="rId3">
            <a:alphaModFix/>
          </a:blip>
          <a:stretch>
            <a:fillRect/>
          </a:stretch>
        </p:blipFill>
        <p:spPr>
          <a:xfrm>
            <a:off x="0" y="-12"/>
            <a:ext cx="18288000" cy="10287000"/>
          </a:xfrm>
          <a:prstGeom prst="rect">
            <a:avLst/>
          </a:prstGeom>
          <a:noFill/>
          <a:ln>
            <a:noFill/>
          </a:ln>
        </p:spPr>
      </p:pic>
      <p:sp>
        <p:nvSpPr>
          <p:cNvPr id="137" name="Google Shape;137;p17">
            <a:extLst>
              <a:ext uri="{FF2B5EF4-FFF2-40B4-BE49-F238E27FC236}">
                <a16:creationId xmlns:a16="http://schemas.microsoft.com/office/drawing/2014/main" id="{F1BD1368-AC57-8FE9-33DD-E0CBE4B98EAD}"/>
              </a:ext>
            </a:extLst>
          </p:cNvPr>
          <p:cNvSpPr txBox="1"/>
          <p:nvPr/>
        </p:nvSpPr>
        <p:spPr>
          <a:xfrm>
            <a:off x="1028700" y="1005183"/>
            <a:ext cx="10137234" cy="1769715"/>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10000" b="1" i="0" u="none" strike="noStrike" cap="none" dirty="0">
                <a:solidFill>
                  <a:srgbClr val="E5D6A8"/>
                </a:solidFill>
                <a:latin typeface="Libre Baskerville"/>
                <a:ea typeface="Libre Baskerville"/>
                <a:cs typeface="Libre Baskerville"/>
                <a:sym typeface="Libre Baskerville"/>
              </a:rPr>
              <a:t>Task Overview</a:t>
            </a:r>
            <a:endParaRPr dirty="0"/>
          </a:p>
        </p:txBody>
      </p:sp>
      <p:sp>
        <p:nvSpPr>
          <p:cNvPr id="138" name="Google Shape;138;p17">
            <a:extLst>
              <a:ext uri="{FF2B5EF4-FFF2-40B4-BE49-F238E27FC236}">
                <a16:creationId xmlns:a16="http://schemas.microsoft.com/office/drawing/2014/main" id="{17D56D6C-4BAD-EB09-68BB-81D8B7B82642}"/>
              </a:ext>
            </a:extLst>
          </p:cNvPr>
          <p:cNvSpPr txBox="1"/>
          <p:nvPr/>
        </p:nvSpPr>
        <p:spPr>
          <a:xfrm>
            <a:off x="1028700" y="3441081"/>
            <a:ext cx="6969406"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Movie Genre Analysis</a:t>
            </a:r>
            <a:endParaRPr sz="3200" dirty="0">
              <a:latin typeface="Poppins"/>
              <a:ea typeface="Poppins"/>
              <a:cs typeface="Poppins"/>
              <a:sym typeface="Poppins"/>
            </a:endParaRPr>
          </a:p>
        </p:txBody>
      </p:sp>
      <p:sp>
        <p:nvSpPr>
          <p:cNvPr id="139" name="Google Shape;139;p17">
            <a:extLst>
              <a:ext uri="{FF2B5EF4-FFF2-40B4-BE49-F238E27FC236}">
                <a16:creationId xmlns:a16="http://schemas.microsoft.com/office/drawing/2014/main" id="{50DDA852-4A54-3463-250E-2CDBAC5119A7}"/>
              </a:ext>
            </a:extLst>
          </p:cNvPr>
          <p:cNvSpPr txBox="1"/>
          <p:nvPr/>
        </p:nvSpPr>
        <p:spPr>
          <a:xfrm>
            <a:off x="1028700" y="4627322"/>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Movie Duration Analysis</a:t>
            </a:r>
            <a:endParaRPr sz="3200" dirty="0">
              <a:latin typeface="Poppins"/>
              <a:ea typeface="Poppins"/>
              <a:cs typeface="Poppins"/>
              <a:sym typeface="Poppins"/>
            </a:endParaRPr>
          </a:p>
        </p:txBody>
      </p:sp>
      <p:sp>
        <p:nvSpPr>
          <p:cNvPr id="140" name="Google Shape;140;p17">
            <a:extLst>
              <a:ext uri="{FF2B5EF4-FFF2-40B4-BE49-F238E27FC236}">
                <a16:creationId xmlns:a16="http://schemas.microsoft.com/office/drawing/2014/main" id="{EAD446E4-53B3-9A28-AF0B-D7C5A7041F06}"/>
              </a:ext>
            </a:extLst>
          </p:cNvPr>
          <p:cNvSpPr txBox="1"/>
          <p:nvPr/>
        </p:nvSpPr>
        <p:spPr>
          <a:xfrm>
            <a:off x="1028700" y="5789500"/>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Language Analysis</a:t>
            </a:r>
            <a:endParaRPr lang="en-US" sz="3200" dirty="0">
              <a:latin typeface="Poppins"/>
              <a:ea typeface="Poppins"/>
              <a:cs typeface="Poppins"/>
              <a:sym typeface="Poppins"/>
            </a:endParaRPr>
          </a:p>
        </p:txBody>
      </p:sp>
      <p:sp>
        <p:nvSpPr>
          <p:cNvPr id="141" name="Google Shape;141;p17">
            <a:extLst>
              <a:ext uri="{FF2B5EF4-FFF2-40B4-BE49-F238E27FC236}">
                <a16:creationId xmlns:a16="http://schemas.microsoft.com/office/drawing/2014/main" id="{B405C49A-1EC0-48A2-4762-1D8135FC7501}"/>
              </a:ext>
            </a:extLst>
          </p:cNvPr>
          <p:cNvSpPr txBox="1"/>
          <p:nvPr/>
        </p:nvSpPr>
        <p:spPr>
          <a:xfrm>
            <a:off x="1028700" y="6951678"/>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Director Analysis</a:t>
            </a:r>
            <a:endParaRPr sz="3200" dirty="0">
              <a:latin typeface="Poppins"/>
              <a:ea typeface="Poppins"/>
              <a:cs typeface="Poppins"/>
              <a:sym typeface="Poppins"/>
            </a:endParaRPr>
          </a:p>
        </p:txBody>
      </p:sp>
      <p:cxnSp>
        <p:nvCxnSpPr>
          <p:cNvPr id="142" name="Google Shape;142;p17">
            <a:extLst>
              <a:ext uri="{FF2B5EF4-FFF2-40B4-BE49-F238E27FC236}">
                <a16:creationId xmlns:a16="http://schemas.microsoft.com/office/drawing/2014/main" id="{F0C6AB36-5BE2-063B-3A94-53F97F13DFE9}"/>
              </a:ext>
            </a:extLst>
          </p:cNvPr>
          <p:cNvCxnSpPr/>
          <p:nvPr/>
        </p:nvCxnSpPr>
        <p:spPr>
          <a:xfrm>
            <a:off x="1028700" y="4390943"/>
            <a:ext cx="6492240" cy="0"/>
          </a:xfrm>
          <a:prstGeom prst="straightConnector1">
            <a:avLst/>
          </a:prstGeom>
          <a:noFill/>
          <a:ln w="19050" cap="flat" cmpd="sng">
            <a:solidFill>
              <a:srgbClr val="FFFDFC"/>
            </a:solidFill>
            <a:prstDash val="solid"/>
            <a:round/>
            <a:headEnd type="none" w="sm" len="sm"/>
            <a:tailEnd type="none" w="sm" len="sm"/>
          </a:ln>
        </p:spPr>
      </p:cxnSp>
      <p:cxnSp>
        <p:nvCxnSpPr>
          <p:cNvPr id="143" name="Google Shape;143;p17">
            <a:extLst>
              <a:ext uri="{FF2B5EF4-FFF2-40B4-BE49-F238E27FC236}">
                <a16:creationId xmlns:a16="http://schemas.microsoft.com/office/drawing/2014/main" id="{0991C803-6900-8486-800B-5769786A7DE9}"/>
              </a:ext>
            </a:extLst>
          </p:cNvPr>
          <p:cNvCxnSpPr/>
          <p:nvPr/>
        </p:nvCxnSpPr>
        <p:spPr>
          <a:xfrm>
            <a:off x="1028700" y="5553121"/>
            <a:ext cx="6492240" cy="0"/>
          </a:xfrm>
          <a:prstGeom prst="straightConnector1">
            <a:avLst/>
          </a:prstGeom>
          <a:noFill/>
          <a:ln w="19050" cap="flat" cmpd="sng">
            <a:solidFill>
              <a:srgbClr val="FFFDFC"/>
            </a:solidFill>
            <a:prstDash val="solid"/>
            <a:round/>
            <a:headEnd type="none" w="sm" len="sm"/>
            <a:tailEnd type="none" w="sm" len="sm"/>
          </a:ln>
        </p:spPr>
      </p:cxnSp>
      <p:cxnSp>
        <p:nvCxnSpPr>
          <p:cNvPr id="144" name="Google Shape;144;p17">
            <a:extLst>
              <a:ext uri="{FF2B5EF4-FFF2-40B4-BE49-F238E27FC236}">
                <a16:creationId xmlns:a16="http://schemas.microsoft.com/office/drawing/2014/main" id="{1B62E780-F8FF-83D2-879A-D6E00E6E2506}"/>
              </a:ext>
            </a:extLst>
          </p:cNvPr>
          <p:cNvCxnSpPr/>
          <p:nvPr/>
        </p:nvCxnSpPr>
        <p:spPr>
          <a:xfrm>
            <a:off x="1028700" y="6715299"/>
            <a:ext cx="6492240" cy="0"/>
          </a:xfrm>
          <a:prstGeom prst="straightConnector1">
            <a:avLst/>
          </a:prstGeom>
          <a:noFill/>
          <a:ln w="19050" cap="flat" cmpd="sng">
            <a:solidFill>
              <a:srgbClr val="FFFDFC"/>
            </a:solidFill>
            <a:prstDash val="solid"/>
            <a:round/>
            <a:headEnd type="none" w="sm" len="sm"/>
            <a:tailEnd type="none" w="sm" len="sm"/>
          </a:ln>
        </p:spPr>
      </p:cxnSp>
      <p:cxnSp>
        <p:nvCxnSpPr>
          <p:cNvPr id="145" name="Google Shape;145;p17">
            <a:extLst>
              <a:ext uri="{FF2B5EF4-FFF2-40B4-BE49-F238E27FC236}">
                <a16:creationId xmlns:a16="http://schemas.microsoft.com/office/drawing/2014/main" id="{3E9AF1A5-735C-5B60-9855-6EFE8765D741}"/>
              </a:ext>
            </a:extLst>
          </p:cNvPr>
          <p:cNvCxnSpPr/>
          <p:nvPr/>
        </p:nvCxnSpPr>
        <p:spPr>
          <a:xfrm>
            <a:off x="1028700" y="7877477"/>
            <a:ext cx="6492240" cy="0"/>
          </a:xfrm>
          <a:prstGeom prst="straightConnector1">
            <a:avLst/>
          </a:prstGeom>
          <a:noFill/>
          <a:ln w="19050" cap="flat" cmpd="sng">
            <a:solidFill>
              <a:srgbClr val="FFFDFC"/>
            </a:solidFill>
            <a:prstDash val="solid"/>
            <a:round/>
            <a:headEnd type="none" w="sm" len="sm"/>
            <a:tailEnd type="none" w="sm" len="sm"/>
          </a:ln>
        </p:spPr>
      </p:cxnSp>
      <p:sp>
        <p:nvSpPr>
          <p:cNvPr id="2" name="Google Shape;141;p17">
            <a:extLst>
              <a:ext uri="{FF2B5EF4-FFF2-40B4-BE49-F238E27FC236}">
                <a16:creationId xmlns:a16="http://schemas.microsoft.com/office/drawing/2014/main" id="{5DB3C664-3AC5-FBAC-887E-6C401980DFAE}"/>
              </a:ext>
            </a:extLst>
          </p:cNvPr>
          <p:cNvSpPr txBox="1"/>
          <p:nvPr/>
        </p:nvSpPr>
        <p:spPr>
          <a:xfrm>
            <a:off x="1028700" y="8113856"/>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Budget Analysis</a:t>
            </a:r>
            <a:endParaRPr lang="en-US" sz="3200" dirty="0">
              <a:latin typeface="Poppins"/>
              <a:ea typeface="Poppins"/>
              <a:cs typeface="Poppins"/>
              <a:sym typeface="Poppins"/>
            </a:endParaRPr>
          </a:p>
        </p:txBody>
      </p:sp>
      <p:cxnSp>
        <p:nvCxnSpPr>
          <p:cNvPr id="3" name="Google Shape;145;p17">
            <a:extLst>
              <a:ext uri="{FF2B5EF4-FFF2-40B4-BE49-F238E27FC236}">
                <a16:creationId xmlns:a16="http://schemas.microsoft.com/office/drawing/2014/main" id="{3874E2A4-EB6D-1D1A-51A0-66EBDFDC6635}"/>
              </a:ext>
            </a:extLst>
          </p:cNvPr>
          <p:cNvCxnSpPr/>
          <p:nvPr/>
        </p:nvCxnSpPr>
        <p:spPr>
          <a:xfrm>
            <a:off x="1028700" y="9039658"/>
            <a:ext cx="6492240" cy="0"/>
          </a:xfrm>
          <a:prstGeom prst="straightConnector1">
            <a:avLst/>
          </a:prstGeom>
          <a:noFill/>
          <a:ln w="19050" cap="flat" cmpd="sng">
            <a:solidFill>
              <a:srgbClr val="FFFDFC"/>
            </a:solidFill>
            <a:prstDash val="solid"/>
            <a:round/>
            <a:headEnd type="none" w="sm" len="sm"/>
            <a:tailEnd type="none" w="sm" len="sm"/>
          </a:ln>
        </p:spPr>
      </p:cxnSp>
    </p:spTree>
    <p:extLst>
      <p:ext uri="{BB962C8B-B14F-4D97-AF65-F5344CB8AC3E}">
        <p14:creationId xmlns:p14="http://schemas.microsoft.com/office/powerpoint/2010/main" val="17039053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0F7E436D-F234-76E1-0BC3-B5C2E3A171DA}"/>
            </a:ext>
          </a:extLst>
        </p:cNvPr>
        <p:cNvGrpSpPr/>
        <p:nvPr/>
      </p:nvGrpSpPr>
      <p:grpSpPr>
        <a:xfrm>
          <a:off x="0" y="0"/>
          <a:ext cx="0" cy="0"/>
          <a:chOff x="0" y="0"/>
          <a:chExt cx="0" cy="0"/>
        </a:xfrm>
      </p:grpSpPr>
      <p:pic>
        <p:nvPicPr>
          <p:cNvPr id="136" name="Google Shape;136;p17">
            <a:extLst>
              <a:ext uri="{FF2B5EF4-FFF2-40B4-BE49-F238E27FC236}">
                <a16:creationId xmlns:a16="http://schemas.microsoft.com/office/drawing/2014/main" id="{DA6E1DD0-C303-784B-11EB-D36C3435396B}"/>
              </a:ext>
            </a:extLst>
          </p:cNvPr>
          <p:cNvPicPr preferRelativeResize="0"/>
          <p:nvPr/>
        </p:nvPicPr>
        <p:blipFill>
          <a:blip r:embed="rId3">
            <a:alphaModFix/>
          </a:blip>
          <a:stretch>
            <a:fillRect/>
          </a:stretch>
        </p:blipFill>
        <p:spPr>
          <a:xfrm>
            <a:off x="0" y="-12"/>
            <a:ext cx="18288000" cy="10287000"/>
          </a:xfrm>
          <a:prstGeom prst="rect">
            <a:avLst/>
          </a:prstGeom>
          <a:noFill/>
          <a:ln>
            <a:noFill/>
          </a:ln>
        </p:spPr>
      </p:pic>
      <p:sp>
        <p:nvSpPr>
          <p:cNvPr id="137" name="Google Shape;137;p17">
            <a:extLst>
              <a:ext uri="{FF2B5EF4-FFF2-40B4-BE49-F238E27FC236}">
                <a16:creationId xmlns:a16="http://schemas.microsoft.com/office/drawing/2014/main" id="{9378934E-B8C5-AE37-F44B-3EA46215CD13}"/>
              </a:ext>
            </a:extLst>
          </p:cNvPr>
          <p:cNvSpPr txBox="1"/>
          <p:nvPr/>
        </p:nvSpPr>
        <p:spPr>
          <a:xfrm>
            <a:off x="1028700" y="1005183"/>
            <a:ext cx="10137234" cy="1769715"/>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10000" b="1" i="0" u="none" strike="noStrike" cap="none" dirty="0">
                <a:solidFill>
                  <a:srgbClr val="E5D6A8"/>
                </a:solidFill>
                <a:latin typeface="Libre Baskerville"/>
                <a:ea typeface="Libre Baskerville"/>
                <a:cs typeface="Libre Baskerville"/>
                <a:sym typeface="Libre Baskerville"/>
              </a:rPr>
              <a:t>Task Overview</a:t>
            </a:r>
            <a:endParaRPr dirty="0"/>
          </a:p>
        </p:txBody>
      </p:sp>
      <p:sp>
        <p:nvSpPr>
          <p:cNvPr id="138" name="Google Shape;138;p17">
            <a:extLst>
              <a:ext uri="{FF2B5EF4-FFF2-40B4-BE49-F238E27FC236}">
                <a16:creationId xmlns:a16="http://schemas.microsoft.com/office/drawing/2014/main" id="{85DBF816-714A-F9EE-3025-0ABDB7EF8592}"/>
              </a:ext>
            </a:extLst>
          </p:cNvPr>
          <p:cNvSpPr txBox="1"/>
          <p:nvPr/>
        </p:nvSpPr>
        <p:spPr>
          <a:xfrm>
            <a:off x="1028700" y="3441081"/>
            <a:ext cx="6969406"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Movie Genre Analysis</a:t>
            </a:r>
            <a:endParaRPr sz="3200" dirty="0">
              <a:latin typeface="Poppins"/>
              <a:ea typeface="Poppins"/>
              <a:cs typeface="Poppins"/>
              <a:sym typeface="Poppins"/>
            </a:endParaRPr>
          </a:p>
        </p:txBody>
      </p:sp>
      <p:sp>
        <p:nvSpPr>
          <p:cNvPr id="139" name="Google Shape;139;p17">
            <a:extLst>
              <a:ext uri="{FF2B5EF4-FFF2-40B4-BE49-F238E27FC236}">
                <a16:creationId xmlns:a16="http://schemas.microsoft.com/office/drawing/2014/main" id="{35FBC788-A423-6FE3-596D-DAC26532EB4B}"/>
              </a:ext>
            </a:extLst>
          </p:cNvPr>
          <p:cNvSpPr txBox="1"/>
          <p:nvPr/>
        </p:nvSpPr>
        <p:spPr>
          <a:xfrm>
            <a:off x="1028700" y="4627322"/>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Movie Duration Analysis</a:t>
            </a:r>
            <a:endParaRPr sz="3200" dirty="0">
              <a:latin typeface="Poppins"/>
              <a:ea typeface="Poppins"/>
              <a:cs typeface="Poppins"/>
              <a:sym typeface="Poppins"/>
            </a:endParaRPr>
          </a:p>
        </p:txBody>
      </p:sp>
      <p:sp>
        <p:nvSpPr>
          <p:cNvPr id="140" name="Google Shape;140;p17">
            <a:extLst>
              <a:ext uri="{FF2B5EF4-FFF2-40B4-BE49-F238E27FC236}">
                <a16:creationId xmlns:a16="http://schemas.microsoft.com/office/drawing/2014/main" id="{ED7FCDC5-B77F-0328-4239-1CA4D18CA6BE}"/>
              </a:ext>
            </a:extLst>
          </p:cNvPr>
          <p:cNvSpPr txBox="1"/>
          <p:nvPr/>
        </p:nvSpPr>
        <p:spPr>
          <a:xfrm>
            <a:off x="1028700" y="5789500"/>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Language Analysis</a:t>
            </a:r>
            <a:endParaRPr lang="en-US" sz="3200" dirty="0">
              <a:latin typeface="Poppins"/>
              <a:ea typeface="Poppins"/>
              <a:cs typeface="Poppins"/>
              <a:sym typeface="Poppins"/>
            </a:endParaRPr>
          </a:p>
        </p:txBody>
      </p:sp>
      <p:sp>
        <p:nvSpPr>
          <p:cNvPr id="141" name="Google Shape;141;p17">
            <a:extLst>
              <a:ext uri="{FF2B5EF4-FFF2-40B4-BE49-F238E27FC236}">
                <a16:creationId xmlns:a16="http://schemas.microsoft.com/office/drawing/2014/main" id="{1EF8F5FB-3775-DF98-D705-B0145DD17FB5}"/>
              </a:ext>
            </a:extLst>
          </p:cNvPr>
          <p:cNvSpPr txBox="1"/>
          <p:nvPr/>
        </p:nvSpPr>
        <p:spPr>
          <a:xfrm>
            <a:off x="5146350" y="6951675"/>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b="1" i="0" u="none" strike="noStrike" cap="none" dirty="0">
                <a:solidFill>
                  <a:schemeClr val="tx1"/>
                </a:solidFill>
                <a:highlight>
                  <a:srgbClr val="C0C0C0"/>
                </a:highlight>
                <a:latin typeface="Poppins"/>
                <a:ea typeface="Poppins"/>
                <a:cs typeface="Poppins"/>
                <a:sym typeface="Poppins"/>
              </a:rPr>
              <a:t>Director Analysis</a:t>
            </a:r>
            <a:endParaRPr sz="3200" b="1" dirty="0">
              <a:solidFill>
                <a:schemeClr val="tx1"/>
              </a:solidFill>
              <a:highlight>
                <a:srgbClr val="C0C0C0"/>
              </a:highlight>
              <a:latin typeface="Poppins"/>
              <a:ea typeface="Poppins"/>
              <a:cs typeface="Poppins"/>
              <a:sym typeface="Poppins"/>
            </a:endParaRPr>
          </a:p>
        </p:txBody>
      </p:sp>
      <p:cxnSp>
        <p:nvCxnSpPr>
          <p:cNvPr id="142" name="Google Shape;142;p17">
            <a:extLst>
              <a:ext uri="{FF2B5EF4-FFF2-40B4-BE49-F238E27FC236}">
                <a16:creationId xmlns:a16="http://schemas.microsoft.com/office/drawing/2014/main" id="{6B061D77-14F5-90DE-5D60-01EA8EEEB26D}"/>
              </a:ext>
            </a:extLst>
          </p:cNvPr>
          <p:cNvCxnSpPr/>
          <p:nvPr/>
        </p:nvCxnSpPr>
        <p:spPr>
          <a:xfrm>
            <a:off x="1028700" y="4390943"/>
            <a:ext cx="6492240" cy="0"/>
          </a:xfrm>
          <a:prstGeom prst="straightConnector1">
            <a:avLst/>
          </a:prstGeom>
          <a:noFill/>
          <a:ln w="19050" cap="flat" cmpd="sng">
            <a:solidFill>
              <a:srgbClr val="FFFDFC"/>
            </a:solidFill>
            <a:prstDash val="solid"/>
            <a:round/>
            <a:headEnd type="none" w="sm" len="sm"/>
            <a:tailEnd type="none" w="sm" len="sm"/>
          </a:ln>
        </p:spPr>
      </p:cxnSp>
      <p:cxnSp>
        <p:nvCxnSpPr>
          <p:cNvPr id="143" name="Google Shape;143;p17">
            <a:extLst>
              <a:ext uri="{FF2B5EF4-FFF2-40B4-BE49-F238E27FC236}">
                <a16:creationId xmlns:a16="http://schemas.microsoft.com/office/drawing/2014/main" id="{24A0C366-A32E-E90D-8F00-21F60437C098}"/>
              </a:ext>
            </a:extLst>
          </p:cNvPr>
          <p:cNvCxnSpPr/>
          <p:nvPr/>
        </p:nvCxnSpPr>
        <p:spPr>
          <a:xfrm>
            <a:off x="1028700" y="5553121"/>
            <a:ext cx="6492240" cy="0"/>
          </a:xfrm>
          <a:prstGeom prst="straightConnector1">
            <a:avLst/>
          </a:prstGeom>
          <a:noFill/>
          <a:ln w="19050" cap="flat" cmpd="sng">
            <a:solidFill>
              <a:srgbClr val="FFFDFC"/>
            </a:solidFill>
            <a:prstDash val="solid"/>
            <a:round/>
            <a:headEnd type="none" w="sm" len="sm"/>
            <a:tailEnd type="none" w="sm" len="sm"/>
          </a:ln>
        </p:spPr>
      </p:cxnSp>
      <p:cxnSp>
        <p:nvCxnSpPr>
          <p:cNvPr id="144" name="Google Shape;144;p17">
            <a:extLst>
              <a:ext uri="{FF2B5EF4-FFF2-40B4-BE49-F238E27FC236}">
                <a16:creationId xmlns:a16="http://schemas.microsoft.com/office/drawing/2014/main" id="{B9E43A94-CFA0-D05A-56AF-446B2663A00A}"/>
              </a:ext>
            </a:extLst>
          </p:cNvPr>
          <p:cNvCxnSpPr/>
          <p:nvPr/>
        </p:nvCxnSpPr>
        <p:spPr>
          <a:xfrm>
            <a:off x="1028700" y="6715299"/>
            <a:ext cx="6492240" cy="0"/>
          </a:xfrm>
          <a:prstGeom prst="straightConnector1">
            <a:avLst/>
          </a:prstGeom>
          <a:noFill/>
          <a:ln w="19050" cap="flat" cmpd="sng">
            <a:solidFill>
              <a:srgbClr val="FFFDFC"/>
            </a:solidFill>
            <a:prstDash val="solid"/>
            <a:round/>
            <a:headEnd type="none" w="sm" len="sm"/>
            <a:tailEnd type="none" w="sm" len="sm"/>
          </a:ln>
        </p:spPr>
      </p:cxnSp>
      <p:cxnSp>
        <p:nvCxnSpPr>
          <p:cNvPr id="145" name="Google Shape;145;p17">
            <a:extLst>
              <a:ext uri="{FF2B5EF4-FFF2-40B4-BE49-F238E27FC236}">
                <a16:creationId xmlns:a16="http://schemas.microsoft.com/office/drawing/2014/main" id="{4623D525-9D5B-4F04-B4CE-C971EC001642}"/>
              </a:ext>
            </a:extLst>
          </p:cNvPr>
          <p:cNvCxnSpPr/>
          <p:nvPr/>
        </p:nvCxnSpPr>
        <p:spPr>
          <a:xfrm>
            <a:off x="1028700" y="7877477"/>
            <a:ext cx="6492240" cy="0"/>
          </a:xfrm>
          <a:prstGeom prst="straightConnector1">
            <a:avLst/>
          </a:prstGeom>
          <a:noFill/>
          <a:ln w="19050" cap="flat" cmpd="sng">
            <a:solidFill>
              <a:srgbClr val="FFFDFC"/>
            </a:solidFill>
            <a:prstDash val="solid"/>
            <a:round/>
            <a:headEnd type="none" w="sm" len="sm"/>
            <a:tailEnd type="none" w="sm" len="sm"/>
          </a:ln>
        </p:spPr>
      </p:cxnSp>
      <p:sp>
        <p:nvSpPr>
          <p:cNvPr id="2" name="Google Shape;141;p17">
            <a:extLst>
              <a:ext uri="{FF2B5EF4-FFF2-40B4-BE49-F238E27FC236}">
                <a16:creationId xmlns:a16="http://schemas.microsoft.com/office/drawing/2014/main" id="{02356BDE-2C88-5665-5DFB-73B54B61FB3D}"/>
              </a:ext>
            </a:extLst>
          </p:cNvPr>
          <p:cNvSpPr txBox="1"/>
          <p:nvPr/>
        </p:nvSpPr>
        <p:spPr>
          <a:xfrm>
            <a:off x="1028700" y="8113856"/>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Budget Analysis</a:t>
            </a:r>
            <a:endParaRPr lang="en-US" sz="3200" dirty="0">
              <a:latin typeface="Poppins"/>
              <a:ea typeface="Poppins"/>
              <a:cs typeface="Poppins"/>
              <a:sym typeface="Poppins"/>
            </a:endParaRPr>
          </a:p>
        </p:txBody>
      </p:sp>
      <p:cxnSp>
        <p:nvCxnSpPr>
          <p:cNvPr id="3" name="Google Shape;145;p17">
            <a:extLst>
              <a:ext uri="{FF2B5EF4-FFF2-40B4-BE49-F238E27FC236}">
                <a16:creationId xmlns:a16="http://schemas.microsoft.com/office/drawing/2014/main" id="{B184A120-BF6B-5178-DD1E-214CB673351B}"/>
              </a:ext>
            </a:extLst>
          </p:cNvPr>
          <p:cNvCxnSpPr/>
          <p:nvPr/>
        </p:nvCxnSpPr>
        <p:spPr>
          <a:xfrm>
            <a:off x="1028700" y="9039658"/>
            <a:ext cx="6492240" cy="0"/>
          </a:xfrm>
          <a:prstGeom prst="straightConnector1">
            <a:avLst/>
          </a:prstGeom>
          <a:noFill/>
          <a:ln w="19050" cap="flat" cmpd="sng">
            <a:solidFill>
              <a:srgbClr val="FFFDFC"/>
            </a:solidFill>
            <a:prstDash val="solid"/>
            <a:round/>
            <a:headEnd type="none" w="sm" len="sm"/>
            <a:tailEnd type="none" w="sm" len="sm"/>
          </a:ln>
        </p:spPr>
      </p:cxnSp>
    </p:spTree>
    <p:extLst>
      <p:ext uri="{BB962C8B-B14F-4D97-AF65-F5344CB8AC3E}">
        <p14:creationId xmlns:p14="http://schemas.microsoft.com/office/powerpoint/2010/main" val="424123199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0C547DE3-5D4F-16E9-F3F9-29284B0712ED}"/>
            </a:ext>
          </a:extLst>
        </p:cNvPr>
        <p:cNvGrpSpPr/>
        <p:nvPr/>
      </p:nvGrpSpPr>
      <p:grpSpPr>
        <a:xfrm>
          <a:off x="0" y="0"/>
          <a:ext cx="0" cy="0"/>
          <a:chOff x="0" y="0"/>
          <a:chExt cx="0" cy="0"/>
        </a:xfrm>
      </p:grpSpPr>
      <p:grpSp>
        <p:nvGrpSpPr>
          <p:cNvPr id="122" name="Google Shape;122;p16">
            <a:extLst>
              <a:ext uri="{FF2B5EF4-FFF2-40B4-BE49-F238E27FC236}">
                <a16:creationId xmlns:a16="http://schemas.microsoft.com/office/drawing/2014/main" id="{CD81ED5C-1DA4-B40B-CF38-E458716F72FB}"/>
              </a:ext>
            </a:extLst>
          </p:cNvPr>
          <p:cNvGrpSpPr/>
          <p:nvPr/>
        </p:nvGrpSpPr>
        <p:grpSpPr>
          <a:xfrm>
            <a:off x="0" y="-144660"/>
            <a:ext cx="18288000" cy="2517158"/>
            <a:chOff x="0" y="-38100"/>
            <a:chExt cx="4816593" cy="908088"/>
          </a:xfrm>
        </p:grpSpPr>
        <p:sp>
          <p:nvSpPr>
            <p:cNvPr id="123" name="Google Shape;123;p16">
              <a:extLst>
                <a:ext uri="{FF2B5EF4-FFF2-40B4-BE49-F238E27FC236}">
                  <a16:creationId xmlns:a16="http://schemas.microsoft.com/office/drawing/2014/main" id="{69C9C5A6-4C9F-E92F-665A-6F4D3D5AE377}"/>
                </a:ext>
              </a:extLst>
            </p:cNvPr>
            <p:cNvSpPr/>
            <p:nvPr/>
          </p:nvSpPr>
          <p:spPr>
            <a:xfrm>
              <a:off x="0" y="0"/>
              <a:ext cx="4816592" cy="869988"/>
            </a:xfrm>
            <a:custGeom>
              <a:avLst/>
              <a:gdLst/>
              <a:ahLst/>
              <a:cxnLst/>
              <a:rect l="l" t="t" r="r" b="b"/>
              <a:pathLst>
                <a:path w="4816592" h="869988" extrusionOk="0">
                  <a:moveTo>
                    <a:pt x="0" y="0"/>
                  </a:moveTo>
                  <a:lnTo>
                    <a:pt x="4816592" y="0"/>
                  </a:lnTo>
                  <a:lnTo>
                    <a:pt x="4816592" y="869988"/>
                  </a:lnTo>
                  <a:lnTo>
                    <a:pt x="0" y="869988"/>
                  </a:lnTo>
                  <a:close/>
                </a:path>
              </a:pathLst>
            </a:custGeom>
            <a:solidFill>
              <a:srgbClr val="000000"/>
            </a:solidFill>
            <a:ln>
              <a:noFill/>
            </a:ln>
          </p:spPr>
          <p:txBody>
            <a:bodyPr/>
            <a:lstStyle/>
            <a:p>
              <a:endParaRPr lang="en-IN" dirty="0"/>
            </a:p>
          </p:txBody>
        </p:sp>
        <p:sp>
          <p:nvSpPr>
            <p:cNvPr id="124" name="Google Shape;124;p16">
              <a:extLst>
                <a:ext uri="{FF2B5EF4-FFF2-40B4-BE49-F238E27FC236}">
                  <a16:creationId xmlns:a16="http://schemas.microsoft.com/office/drawing/2014/main" id="{8F1638D3-030B-F851-7630-46E113745C3E}"/>
                </a:ext>
              </a:extLst>
            </p:cNvPr>
            <p:cNvSpPr txBox="1"/>
            <p:nvPr/>
          </p:nvSpPr>
          <p:spPr>
            <a:xfrm>
              <a:off x="0" y="-38100"/>
              <a:ext cx="4816593" cy="90808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grpSp>
      <p:sp>
        <p:nvSpPr>
          <p:cNvPr id="125" name="Google Shape;125;p16">
            <a:extLst>
              <a:ext uri="{FF2B5EF4-FFF2-40B4-BE49-F238E27FC236}">
                <a16:creationId xmlns:a16="http://schemas.microsoft.com/office/drawing/2014/main" id="{19DB9D67-E5E9-77D8-6958-11971EA99AA7}"/>
              </a:ext>
            </a:extLst>
          </p:cNvPr>
          <p:cNvSpPr txBox="1"/>
          <p:nvPr/>
        </p:nvSpPr>
        <p:spPr>
          <a:xfrm>
            <a:off x="568411" y="514786"/>
            <a:ext cx="16690887" cy="1415772"/>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8000" b="1" i="0" u="none" strike="noStrike" cap="none" dirty="0">
                <a:solidFill>
                  <a:srgbClr val="E5D6A8"/>
                </a:solidFill>
                <a:latin typeface="Libre Baskerville"/>
                <a:ea typeface="Libre Baskerville"/>
                <a:cs typeface="Libre Baskerville"/>
                <a:sym typeface="Libre Baskerville"/>
              </a:rPr>
              <a:t>Director Analysis</a:t>
            </a:r>
            <a:endParaRPr lang="en-US" dirty="0"/>
          </a:p>
        </p:txBody>
      </p:sp>
      <p:sp>
        <p:nvSpPr>
          <p:cNvPr id="2" name="TextBox 1">
            <a:extLst>
              <a:ext uri="{FF2B5EF4-FFF2-40B4-BE49-F238E27FC236}">
                <a16:creationId xmlns:a16="http://schemas.microsoft.com/office/drawing/2014/main" id="{DCF68622-536C-EC13-EE8D-2410407DD7D4}"/>
              </a:ext>
            </a:extLst>
          </p:cNvPr>
          <p:cNvSpPr txBox="1"/>
          <p:nvPr/>
        </p:nvSpPr>
        <p:spPr>
          <a:xfrm>
            <a:off x="568411" y="2656703"/>
            <a:ext cx="15416227"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Objective: </a:t>
            </a:r>
            <a:r>
              <a:rPr lang="en-US" sz="3200" dirty="0">
                <a:latin typeface="Times New Roman" panose="02020603050405020304" pitchFamily="18" charset="0"/>
                <a:cs typeface="Times New Roman" panose="02020603050405020304" pitchFamily="18" charset="0"/>
              </a:rPr>
              <a:t>Understand the influence of directors on movie success.	</a:t>
            </a:r>
            <a:endParaRPr lang="en-IN" sz="2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BFF4A6A-2952-CE64-848C-F8BEFB2D83D5}"/>
              </a:ext>
            </a:extLst>
          </p:cNvPr>
          <p:cNvSpPr txBox="1"/>
          <p:nvPr/>
        </p:nvSpPr>
        <p:spPr>
          <a:xfrm>
            <a:off x="568410" y="8799168"/>
            <a:ext cx="12356757" cy="1077218"/>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Key Insight: </a:t>
            </a:r>
            <a:r>
              <a:rPr lang="en-US" sz="3200" dirty="0">
                <a:latin typeface="Times New Roman" panose="02020603050405020304" pitchFamily="18" charset="0"/>
                <a:cs typeface="Times New Roman" panose="02020603050405020304" pitchFamily="18" charset="0"/>
              </a:rPr>
              <a:t>Directors like </a:t>
            </a:r>
            <a:r>
              <a:rPr lang="en-US" sz="3200" i="1" u="sng" dirty="0">
                <a:latin typeface="Times New Roman" panose="02020603050405020304" pitchFamily="18" charset="0"/>
                <a:cs typeface="Times New Roman" panose="02020603050405020304" pitchFamily="18" charset="0"/>
              </a:rPr>
              <a:t>John Blanchard</a:t>
            </a:r>
            <a:r>
              <a:rPr lang="en-US" sz="3200" i="1"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consistently produce highly rated movies.</a:t>
            </a:r>
            <a:endParaRPr lang="en-IN" sz="2400" dirty="0">
              <a:latin typeface="Times New Roman" panose="02020603050405020304" pitchFamily="18" charset="0"/>
              <a:cs typeface="Times New Roman" panose="02020603050405020304" pitchFamily="18" charset="0"/>
            </a:endParaRPr>
          </a:p>
        </p:txBody>
      </p:sp>
      <p:grpSp>
        <p:nvGrpSpPr>
          <p:cNvPr id="8" name="Group 7">
            <a:extLst>
              <a:ext uri="{FF2B5EF4-FFF2-40B4-BE49-F238E27FC236}">
                <a16:creationId xmlns:a16="http://schemas.microsoft.com/office/drawing/2014/main" id="{14BBB240-025B-00F5-1580-F6B4CB8B348C}"/>
              </a:ext>
            </a:extLst>
          </p:cNvPr>
          <p:cNvGrpSpPr/>
          <p:nvPr/>
        </p:nvGrpSpPr>
        <p:grpSpPr>
          <a:xfrm>
            <a:off x="11405363" y="3951004"/>
            <a:ext cx="6627859" cy="4610442"/>
            <a:chOff x="8754760" y="3922195"/>
            <a:chExt cx="6627859" cy="4610442"/>
          </a:xfrm>
        </p:grpSpPr>
        <p:sp>
          <p:nvSpPr>
            <p:cNvPr id="7" name="Rectangle: Diagonal Corners Snipped 6">
              <a:extLst>
                <a:ext uri="{FF2B5EF4-FFF2-40B4-BE49-F238E27FC236}">
                  <a16:creationId xmlns:a16="http://schemas.microsoft.com/office/drawing/2014/main" id="{F52FBDFE-DC22-8102-35BB-6F90053E38AC}"/>
                </a:ext>
              </a:extLst>
            </p:cNvPr>
            <p:cNvSpPr/>
            <p:nvPr/>
          </p:nvSpPr>
          <p:spPr>
            <a:xfrm>
              <a:off x="8913854" y="4051141"/>
              <a:ext cx="6468765" cy="4481496"/>
            </a:xfrm>
            <a:prstGeom prst="snip2DiagRect">
              <a:avLst>
                <a:gd name="adj1" fmla="val 0"/>
                <a:gd name="adj2" fmla="val 0"/>
              </a:avLst>
            </a:prstGeom>
            <a:gradFill flip="none" rotWithShape="1">
              <a:gsLst>
                <a:gs pos="0">
                  <a:schemeClr val="accent1">
                    <a:lumMod val="40000"/>
                    <a:lumOff val="60000"/>
                  </a:schemeClr>
                </a:gs>
                <a:gs pos="45000">
                  <a:schemeClr val="tx1"/>
                </a:gs>
                <a:gs pos="100000">
                  <a:schemeClr val="accent1">
                    <a:lumMod val="6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id="{9E1D5D9A-99B4-525E-B3CD-02424ADC184A}"/>
                </a:ext>
              </a:extLst>
            </p:cNvPr>
            <p:cNvPicPr>
              <a:picLocks noChangeAspect="1"/>
            </p:cNvPicPr>
            <p:nvPr/>
          </p:nvPicPr>
          <p:blipFill>
            <a:blip r:embed="rId3"/>
            <a:srcRect l="42192" t="23063" r="21247" b="34775"/>
            <a:stretch/>
          </p:blipFill>
          <p:spPr>
            <a:xfrm>
              <a:off x="8754760" y="3922195"/>
              <a:ext cx="6468764" cy="4481496"/>
            </a:xfrm>
            <a:prstGeom prst="rect">
              <a:avLst/>
            </a:prstGeom>
            <a:ln>
              <a:solidFill>
                <a:schemeClr val="accent1">
                  <a:shade val="15000"/>
                </a:schemeClr>
              </a:solidFill>
            </a:ln>
          </p:spPr>
        </p:pic>
      </p:grpSp>
      <p:sp>
        <p:nvSpPr>
          <p:cNvPr id="9" name="TextBox 8">
            <a:extLst>
              <a:ext uri="{FF2B5EF4-FFF2-40B4-BE49-F238E27FC236}">
                <a16:creationId xmlns:a16="http://schemas.microsoft.com/office/drawing/2014/main" id="{B6573FDA-3C16-2972-F824-A482EED5FE9E}"/>
              </a:ext>
            </a:extLst>
          </p:cNvPr>
          <p:cNvSpPr txBox="1"/>
          <p:nvPr/>
        </p:nvSpPr>
        <p:spPr>
          <a:xfrm>
            <a:off x="568410" y="4496829"/>
            <a:ext cx="9792182" cy="3046988"/>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Methodology:</a:t>
            </a:r>
          </a:p>
          <a:p>
            <a:pPr marL="285750" lvl="8"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Calculate the average IMDB score for each director.</a:t>
            </a:r>
          </a:p>
          <a:p>
            <a:pPr marL="285750" lvl="8"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Identify top-performing directors using percentile calculations.</a:t>
            </a:r>
          </a:p>
          <a:p>
            <a:pPr marL="285750" lvl="8"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Compare top director’s scores with the overall distribution.</a:t>
            </a:r>
            <a:endParaRPr lang="en-IN" sz="32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43BF54A3-5F33-35F5-74F3-316EE950F053}"/>
              </a:ext>
            </a:extLst>
          </p:cNvPr>
          <p:cNvPicPr>
            <a:picLocks noChangeAspect="1"/>
          </p:cNvPicPr>
          <p:nvPr/>
        </p:nvPicPr>
        <p:blipFill>
          <a:blip r:embed="rId4"/>
          <a:srcRect l="26426" t="29309" r="34272" b="18028"/>
          <a:stretch/>
        </p:blipFill>
        <p:spPr>
          <a:xfrm>
            <a:off x="11405362" y="3842228"/>
            <a:ext cx="6468765" cy="4590272"/>
          </a:xfrm>
          <a:prstGeom prst="rect">
            <a:avLst/>
          </a:prstGeom>
          <a:ln>
            <a:solidFill>
              <a:schemeClr val="tx1"/>
            </a:solidFill>
          </a:ln>
        </p:spPr>
      </p:pic>
      <p:pic>
        <p:nvPicPr>
          <p:cNvPr id="11" name="Picture 10">
            <a:extLst>
              <a:ext uri="{FF2B5EF4-FFF2-40B4-BE49-F238E27FC236}">
                <a16:creationId xmlns:a16="http://schemas.microsoft.com/office/drawing/2014/main" id="{41EDEE76-6E8C-3947-1B2B-B7DE58E8D2DD}"/>
              </a:ext>
            </a:extLst>
          </p:cNvPr>
          <p:cNvPicPr>
            <a:picLocks noChangeAspect="1"/>
          </p:cNvPicPr>
          <p:nvPr/>
        </p:nvPicPr>
        <p:blipFill>
          <a:blip r:embed="rId5"/>
          <a:srcRect l="22134" t="29488" r="36261" b="10406"/>
          <a:stretch/>
        </p:blipFill>
        <p:spPr>
          <a:xfrm>
            <a:off x="11405362" y="3842229"/>
            <a:ext cx="6468766" cy="4590272"/>
          </a:xfrm>
          <a:prstGeom prst="rect">
            <a:avLst/>
          </a:prstGeom>
          <a:ln>
            <a:solidFill>
              <a:schemeClr val="tx1"/>
            </a:solidFill>
          </a:ln>
        </p:spPr>
      </p:pic>
      <p:pic>
        <p:nvPicPr>
          <p:cNvPr id="5" name="Picture 4">
            <a:extLst>
              <a:ext uri="{FF2B5EF4-FFF2-40B4-BE49-F238E27FC236}">
                <a16:creationId xmlns:a16="http://schemas.microsoft.com/office/drawing/2014/main" id="{5CE7F518-22CD-482B-EF4F-FD81184578D0}"/>
              </a:ext>
            </a:extLst>
          </p:cNvPr>
          <p:cNvPicPr>
            <a:picLocks noChangeAspect="1"/>
          </p:cNvPicPr>
          <p:nvPr/>
        </p:nvPicPr>
        <p:blipFill>
          <a:blip r:embed="rId6"/>
          <a:srcRect l="35294" t="29488" r="18695" b="10406"/>
          <a:stretch/>
        </p:blipFill>
        <p:spPr>
          <a:xfrm>
            <a:off x="11405361" y="3842227"/>
            <a:ext cx="6468765" cy="4590273"/>
          </a:xfrm>
          <a:prstGeom prst="rect">
            <a:avLst/>
          </a:prstGeom>
        </p:spPr>
      </p:pic>
    </p:spTree>
    <p:extLst>
      <p:ext uri="{BB962C8B-B14F-4D97-AF65-F5344CB8AC3E}">
        <p14:creationId xmlns:p14="http://schemas.microsoft.com/office/powerpoint/2010/main" val="2316829634"/>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0E838947-9391-95FE-46D0-6E5023E21B62}"/>
            </a:ext>
          </a:extLst>
        </p:cNvPr>
        <p:cNvGrpSpPr/>
        <p:nvPr/>
      </p:nvGrpSpPr>
      <p:grpSpPr>
        <a:xfrm>
          <a:off x="0" y="0"/>
          <a:ext cx="0" cy="0"/>
          <a:chOff x="0" y="0"/>
          <a:chExt cx="0" cy="0"/>
        </a:xfrm>
      </p:grpSpPr>
      <p:pic>
        <p:nvPicPr>
          <p:cNvPr id="136" name="Google Shape;136;p17">
            <a:extLst>
              <a:ext uri="{FF2B5EF4-FFF2-40B4-BE49-F238E27FC236}">
                <a16:creationId xmlns:a16="http://schemas.microsoft.com/office/drawing/2014/main" id="{F7C0FF90-9D11-7A94-690F-5CCF7E5BA8DB}"/>
              </a:ext>
            </a:extLst>
          </p:cNvPr>
          <p:cNvPicPr preferRelativeResize="0"/>
          <p:nvPr/>
        </p:nvPicPr>
        <p:blipFill>
          <a:blip r:embed="rId3">
            <a:alphaModFix/>
          </a:blip>
          <a:stretch>
            <a:fillRect/>
          </a:stretch>
        </p:blipFill>
        <p:spPr>
          <a:xfrm>
            <a:off x="0" y="-12"/>
            <a:ext cx="18288000" cy="10287000"/>
          </a:xfrm>
          <a:prstGeom prst="rect">
            <a:avLst/>
          </a:prstGeom>
          <a:noFill/>
          <a:ln>
            <a:noFill/>
          </a:ln>
        </p:spPr>
      </p:pic>
      <p:sp>
        <p:nvSpPr>
          <p:cNvPr id="137" name="Google Shape;137;p17">
            <a:extLst>
              <a:ext uri="{FF2B5EF4-FFF2-40B4-BE49-F238E27FC236}">
                <a16:creationId xmlns:a16="http://schemas.microsoft.com/office/drawing/2014/main" id="{CE736C5A-7E56-4A86-C991-3CDE269B0568}"/>
              </a:ext>
            </a:extLst>
          </p:cNvPr>
          <p:cNvSpPr txBox="1"/>
          <p:nvPr/>
        </p:nvSpPr>
        <p:spPr>
          <a:xfrm>
            <a:off x="1028700" y="1005183"/>
            <a:ext cx="10137234" cy="1769715"/>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10000" b="1" i="0" u="none" strike="noStrike" cap="none" dirty="0">
                <a:solidFill>
                  <a:srgbClr val="E5D6A8"/>
                </a:solidFill>
                <a:latin typeface="Libre Baskerville"/>
                <a:ea typeface="Libre Baskerville"/>
                <a:cs typeface="Libre Baskerville"/>
                <a:sym typeface="Libre Baskerville"/>
              </a:rPr>
              <a:t>Task Overview</a:t>
            </a:r>
            <a:endParaRPr dirty="0"/>
          </a:p>
        </p:txBody>
      </p:sp>
      <p:sp>
        <p:nvSpPr>
          <p:cNvPr id="138" name="Google Shape;138;p17">
            <a:extLst>
              <a:ext uri="{FF2B5EF4-FFF2-40B4-BE49-F238E27FC236}">
                <a16:creationId xmlns:a16="http://schemas.microsoft.com/office/drawing/2014/main" id="{E3F6AA9E-131A-BE60-3793-D9D283B5DE5E}"/>
              </a:ext>
            </a:extLst>
          </p:cNvPr>
          <p:cNvSpPr txBox="1"/>
          <p:nvPr/>
        </p:nvSpPr>
        <p:spPr>
          <a:xfrm>
            <a:off x="1028700" y="3441081"/>
            <a:ext cx="6969406"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Movie Genre Analysis</a:t>
            </a:r>
            <a:endParaRPr sz="3200" dirty="0">
              <a:latin typeface="Poppins"/>
              <a:ea typeface="Poppins"/>
              <a:cs typeface="Poppins"/>
              <a:sym typeface="Poppins"/>
            </a:endParaRPr>
          </a:p>
        </p:txBody>
      </p:sp>
      <p:sp>
        <p:nvSpPr>
          <p:cNvPr id="139" name="Google Shape;139;p17">
            <a:extLst>
              <a:ext uri="{FF2B5EF4-FFF2-40B4-BE49-F238E27FC236}">
                <a16:creationId xmlns:a16="http://schemas.microsoft.com/office/drawing/2014/main" id="{A7D649C5-029E-B5BB-F358-75E7D3B73338}"/>
              </a:ext>
            </a:extLst>
          </p:cNvPr>
          <p:cNvSpPr txBox="1"/>
          <p:nvPr/>
        </p:nvSpPr>
        <p:spPr>
          <a:xfrm>
            <a:off x="1028700" y="4627322"/>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Movie Duration Analysis</a:t>
            </a:r>
            <a:endParaRPr sz="3200" dirty="0">
              <a:latin typeface="Poppins"/>
              <a:ea typeface="Poppins"/>
              <a:cs typeface="Poppins"/>
              <a:sym typeface="Poppins"/>
            </a:endParaRPr>
          </a:p>
        </p:txBody>
      </p:sp>
      <p:sp>
        <p:nvSpPr>
          <p:cNvPr id="140" name="Google Shape;140;p17">
            <a:extLst>
              <a:ext uri="{FF2B5EF4-FFF2-40B4-BE49-F238E27FC236}">
                <a16:creationId xmlns:a16="http://schemas.microsoft.com/office/drawing/2014/main" id="{F2EC10EB-1EA3-E410-7AE7-7F2BCD16CF06}"/>
              </a:ext>
            </a:extLst>
          </p:cNvPr>
          <p:cNvSpPr txBox="1"/>
          <p:nvPr/>
        </p:nvSpPr>
        <p:spPr>
          <a:xfrm>
            <a:off x="1028700" y="5789500"/>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Language Analysis</a:t>
            </a:r>
            <a:endParaRPr lang="en-US" sz="3200" dirty="0">
              <a:latin typeface="Poppins"/>
              <a:ea typeface="Poppins"/>
              <a:cs typeface="Poppins"/>
              <a:sym typeface="Poppins"/>
            </a:endParaRPr>
          </a:p>
        </p:txBody>
      </p:sp>
      <p:sp>
        <p:nvSpPr>
          <p:cNvPr id="141" name="Google Shape;141;p17">
            <a:extLst>
              <a:ext uri="{FF2B5EF4-FFF2-40B4-BE49-F238E27FC236}">
                <a16:creationId xmlns:a16="http://schemas.microsoft.com/office/drawing/2014/main" id="{256F000A-B1E4-F22F-877B-59AAD28FD7D9}"/>
              </a:ext>
            </a:extLst>
          </p:cNvPr>
          <p:cNvSpPr txBox="1"/>
          <p:nvPr/>
        </p:nvSpPr>
        <p:spPr>
          <a:xfrm>
            <a:off x="1028700" y="6951678"/>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Director Analysis</a:t>
            </a:r>
            <a:endParaRPr sz="3200" dirty="0">
              <a:latin typeface="Poppins"/>
              <a:ea typeface="Poppins"/>
              <a:cs typeface="Poppins"/>
              <a:sym typeface="Poppins"/>
            </a:endParaRPr>
          </a:p>
        </p:txBody>
      </p:sp>
      <p:cxnSp>
        <p:nvCxnSpPr>
          <p:cNvPr id="142" name="Google Shape;142;p17">
            <a:extLst>
              <a:ext uri="{FF2B5EF4-FFF2-40B4-BE49-F238E27FC236}">
                <a16:creationId xmlns:a16="http://schemas.microsoft.com/office/drawing/2014/main" id="{9E54222E-1C40-29E0-3FD1-6DE50927E86F}"/>
              </a:ext>
            </a:extLst>
          </p:cNvPr>
          <p:cNvCxnSpPr/>
          <p:nvPr/>
        </p:nvCxnSpPr>
        <p:spPr>
          <a:xfrm>
            <a:off x="1028700" y="4390943"/>
            <a:ext cx="6492240" cy="0"/>
          </a:xfrm>
          <a:prstGeom prst="straightConnector1">
            <a:avLst/>
          </a:prstGeom>
          <a:noFill/>
          <a:ln w="19050" cap="flat" cmpd="sng">
            <a:solidFill>
              <a:srgbClr val="FFFDFC"/>
            </a:solidFill>
            <a:prstDash val="solid"/>
            <a:round/>
            <a:headEnd type="none" w="sm" len="sm"/>
            <a:tailEnd type="none" w="sm" len="sm"/>
          </a:ln>
        </p:spPr>
      </p:cxnSp>
      <p:cxnSp>
        <p:nvCxnSpPr>
          <p:cNvPr id="143" name="Google Shape;143;p17">
            <a:extLst>
              <a:ext uri="{FF2B5EF4-FFF2-40B4-BE49-F238E27FC236}">
                <a16:creationId xmlns:a16="http://schemas.microsoft.com/office/drawing/2014/main" id="{DD9E9D2C-D6CE-AD4A-3E6E-B60003594B1A}"/>
              </a:ext>
            </a:extLst>
          </p:cNvPr>
          <p:cNvCxnSpPr/>
          <p:nvPr/>
        </p:nvCxnSpPr>
        <p:spPr>
          <a:xfrm>
            <a:off x="1028700" y="5553121"/>
            <a:ext cx="6492240" cy="0"/>
          </a:xfrm>
          <a:prstGeom prst="straightConnector1">
            <a:avLst/>
          </a:prstGeom>
          <a:noFill/>
          <a:ln w="19050" cap="flat" cmpd="sng">
            <a:solidFill>
              <a:srgbClr val="FFFDFC"/>
            </a:solidFill>
            <a:prstDash val="solid"/>
            <a:round/>
            <a:headEnd type="none" w="sm" len="sm"/>
            <a:tailEnd type="none" w="sm" len="sm"/>
          </a:ln>
        </p:spPr>
      </p:cxnSp>
      <p:cxnSp>
        <p:nvCxnSpPr>
          <p:cNvPr id="144" name="Google Shape;144;p17">
            <a:extLst>
              <a:ext uri="{FF2B5EF4-FFF2-40B4-BE49-F238E27FC236}">
                <a16:creationId xmlns:a16="http://schemas.microsoft.com/office/drawing/2014/main" id="{DF31D8C5-B311-CFF4-4129-13AD1855A08F}"/>
              </a:ext>
            </a:extLst>
          </p:cNvPr>
          <p:cNvCxnSpPr/>
          <p:nvPr/>
        </p:nvCxnSpPr>
        <p:spPr>
          <a:xfrm>
            <a:off x="1028700" y="6715299"/>
            <a:ext cx="6492240" cy="0"/>
          </a:xfrm>
          <a:prstGeom prst="straightConnector1">
            <a:avLst/>
          </a:prstGeom>
          <a:noFill/>
          <a:ln w="19050" cap="flat" cmpd="sng">
            <a:solidFill>
              <a:srgbClr val="FFFDFC"/>
            </a:solidFill>
            <a:prstDash val="solid"/>
            <a:round/>
            <a:headEnd type="none" w="sm" len="sm"/>
            <a:tailEnd type="none" w="sm" len="sm"/>
          </a:ln>
        </p:spPr>
      </p:cxnSp>
      <p:cxnSp>
        <p:nvCxnSpPr>
          <p:cNvPr id="145" name="Google Shape;145;p17">
            <a:extLst>
              <a:ext uri="{FF2B5EF4-FFF2-40B4-BE49-F238E27FC236}">
                <a16:creationId xmlns:a16="http://schemas.microsoft.com/office/drawing/2014/main" id="{87E5A8C5-71F2-23C8-23C9-C3FB51D9755B}"/>
              </a:ext>
            </a:extLst>
          </p:cNvPr>
          <p:cNvCxnSpPr/>
          <p:nvPr/>
        </p:nvCxnSpPr>
        <p:spPr>
          <a:xfrm>
            <a:off x="1028700" y="7877477"/>
            <a:ext cx="6492240" cy="0"/>
          </a:xfrm>
          <a:prstGeom prst="straightConnector1">
            <a:avLst/>
          </a:prstGeom>
          <a:noFill/>
          <a:ln w="19050" cap="flat" cmpd="sng">
            <a:solidFill>
              <a:srgbClr val="FFFDFC"/>
            </a:solidFill>
            <a:prstDash val="solid"/>
            <a:round/>
            <a:headEnd type="none" w="sm" len="sm"/>
            <a:tailEnd type="none" w="sm" len="sm"/>
          </a:ln>
        </p:spPr>
      </p:cxnSp>
      <p:sp>
        <p:nvSpPr>
          <p:cNvPr id="2" name="Google Shape;141;p17">
            <a:extLst>
              <a:ext uri="{FF2B5EF4-FFF2-40B4-BE49-F238E27FC236}">
                <a16:creationId xmlns:a16="http://schemas.microsoft.com/office/drawing/2014/main" id="{2504DA4E-1202-1A1D-B65D-1F6E0E98B1F2}"/>
              </a:ext>
            </a:extLst>
          </p:cNvPr>
          <p:cNvSpPr txBox="1"/>
          <p:nvPr/>
        </p:nvSpPr>
        <p:spPr>
          <a:xfrm>
            <a:off x="1028700" y="8113856"/>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Budget Analysis</a:t>
            </a:r>
            <a:endParaRPr lang="en-US" sz="3200" dirty="0">
              <a:latin typeface="Poppins"/>
              <a:ea typeface="Poppins"/>
              <a:cs typeface="Poppins"/>
              <a:sym typeface="Poppins"/>
            </a:endParaRPr>
          </a:p>
        </p:txBody>
      </p:sp>
      <p:cxnSp>
        <p:nvCxnSpPr>
          <p:cNvPr id="3" name="Google Shape;145;p17">
            <a:extLst>
              <a:ext uri="{FF2B5EF4-FFF2-40B4-BE49-F238E27FC236}">
                <a16:creationId xmlns:a16="http://schemas.microsoft.com/office/drawing/2014/main" id="{1544B2A9-4199-066A-E6B8-B47CB7C2870F}"/>
              </a:ext>
            </a:extLst>
          </p:cNvPr>
          <p:cNvCxnSpPr/>
          <p:nvPr/>
        </p:nvCxnSpPr>
        <p:spPr>
          <a:xfrm>
            <a:off x="1028700" y="9039658"/>
            <a:ext cx="6492240" cy="0"/>
          </a:xfrm>
          <a:prstGeom prst="straightConnector1">
            <a:avLst/>
          </a:prstGeom>
          <a:noFill/>
          <a:ln w="19050" cap="flat" cmpd="sng">
            <a:solidFill>
              <a:srgbClr val="FFFDFC"/>
            </a:solidFill>
            <a:prstDash val="solid"/>
            <a:round/>
            <a:headEnd type="none" w="sm" len="sm"/>
            <a:tailEnd type="none" w="sm" len="sm"/>
          </a:ln>
        </p:spPr>
      </p:cxnSp>
    </p:spTree>
    <p:extLst>
      <p:ext uri="{BB962C8B-B14F-4D97-AF65-F5344CB8AC3E}">
        <p14:creationId xmlns:p14="http://schemas.microsoft.com/office/powerpoint/2010/main" val="19832549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AD767F05-8284-2D43-5538-5A4A6C3DA398}"/>
            </a:ext>
          </a:extLst>
        </p:cNvPr>
        <p:cNvGrpSpPr/>
        <p:nvPr/>
      </p:nvGrpSpPr>
      <p:grpSpPr>
        <a:xfrm>
          <a:off x="0" y="0"/>
          <a:ext cx="0" cy="0"/>
          <a:chOff x="0" y="0"/>
          <a:chExt cx="0" cy="0"/>
        </a:xfrm>
      </p:grpSpPr>
      <p:pic>
        <p:nvPicPr>
          <p:cNvPr id="136" name="Google Shape;136;p17">
            <a:extLst>
              <a:ext uri="{FF2B5EF4-FFF2-40B4-BE49-F238E27FC236}">
                <a16:creationId xmlns:a16="http://schemas.microsoft.com/office/drawing/2014/main" id="{6208433D-6339-8901-E6F9-975535D97AD2}"/>
              </a:ext>
            </a:extLst>
          </p:cNvPr>
          <p:cNvPicPr preferRelativeResize="0"/>
          <p:nvPr/>
        </p:nvPicPr>
        <p:blipFill>
          <a:blip r:embed="rId3">
            <a:alphaModFix/>
          </a:blip>
          <a:stretch>
            <a:fillRect/>
          </a:stretch>
        </p:blipFill>
        <p:spPr>
          <a:xfrm>
            <a:off x="0" y="-12"/>
            <a:ext cx="18288000" cy="10287000"/>
          </a:xfrm>
          <a:prstGeom prst="rect">
            <a:avLst/>
          </a:prstGeom>
          <a:noFill/>
          <a:ln>
            <a:noFill/>
          </a:ln>
        </p:spPr>
      </p:pic>
      <p:sp>
        <p:nvSpPr>
          <p:cNvPr id="137" name="Google Shape;137;p17">
            <a:extLst>
              <a:ext uri="{FF2B5EF4-FFF2-40B4-BE49-F238E27FC236}">
                <a16:creationId xmlns:a16="http://schemas.microsoft.com/office/drawing/2014/main" id="{2CE94857-F993-2B14-DF1C-F2EFE6A98214}"/>
              </a:ext>
            </a:extLst>
          </p:cNvPr>
          <p:cNvSpPr txBox="1"/>
          <p:nvPr/>
        </p:nvSpPr>
        <p:spPr>
          <a:xfrm>
            <a:off x="1028700" y="1005183"/>
            <a:ext cx="10137234" cy="1769715"/>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10000" b="1" i="0" u="none" strike="noStrike" cap="none" dirty="0">
                <a:solidFill>
                  <a:srgbClr val="E5D6A8"/>
                </a:solidFill>
                <a:latin typeface="Libre Baskerville"/>
                <a:ea typeface="Libre Baskerville"/>
                <a:cs typeface="Libre Baskerville"/>
                <a:sym typeface="Libre Baskerville"/>
              </a:rPr>
              <a:t>Task Overview</a:t>
            </a:r>
            <a:endParaRPr dirty="0"/>
          </a:p>
        </p:txBody>
      </p:sp>
      <p:sp>
        <p:nvSpPr>
          <p:cNvPr id="138" name="Google Shape;138;p17">
            <a:extLst>
              <a:ext uri="{FF2B5EF4-FFF2-40B4-BE49-F238E27FC236}">
                <a16:creationId xmlns:a16="http://schemas.microsoft.com/office/drawing/2014/main" id="{0498B93F-EAA4-654E-E691-1A010D35AD6F}"/>
              </a:ext>
            </a:extLst>
          </p:cNvPr>
          <p:cNvSpPr txBox="1"/>
          <p:nvPr/>
        </p:nvSpPr>
        <p:spPr>
          <a:xfrm>
            <a:off x="1028700" y="3441081"/>
            <a:ext cx="6969406"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Movie Genre Analysis</a:t>
            </a:r>
            <a:endParaRPr sz="3200" dirty="0">
              <a:latin typeface="Poppins"/>
              <a:ea typeface="Poppins"/>
              <a:cs typeface="Poppins"/>
              <a:sym typeface="Poppins"/>
            </a:endParaRPr>
          </a:p>
        </p:txBody>
      </p:sp>
      <p:sp>
        <p:nvSpPr>
          <p:cNvPr id="139" name="Google Shape;139;p17">
            <a:extLst>
              <a:ext uri="{FF2B5EF4-FFF2-40B4-BE49-F238E27FC236}">
                <a16:creationId xmlns:a16="http://schemas.microsoft.com/office/drawing/2014/main" id="{35DD6884-C5B5-6197-A5D4-5C84B40BA17A}"/>
              </a:ext>
            </a:extLst>
          </p:cNvPr>
          <p:cNvSpPr txBox="1"/>
          <p:nvPr/>
        </p:nvSpPr>
        <p:spPr>
          <a:xfrm>
            <a:off x="1028700" y="4627322"/>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Movie Duration Analysis</a:t>
            </a:r>
            <a:endParaRPr sz="3200" dirty="0">
              <a:latin typeface="Poppins"/>
              <a:ea typeface="Poppins"/>
              <a:cs typeface="Poppins"/>
              <a:sym typeface="Poppins"/>
            </a:endParaRPr>
          </a:p>
        </p:txBody>
      </p:sp>
      <p:sp>
        <p:nvSpPr>
          <p:cNvPr id="140" name="Google Shape;140;p17">
            <a:extLst>
              <a:ext uri="{FF2B5EF4-FFF2-40B4-BE49-F238E27FC236}">
                <a16:creationId xmlns:a16="http://schemas.microsoft.com/office/drawing/2014/main" id="{E9928CAE-62D4-7A63-6203-9B8AEC92D04C}"/>
              </a:ext>
            </a:extLst>
          </p:cNvPr>
          <p:cNvSpPr txBox="1"/>
          <p:nvPr/>
        </p:nvSpPr>
        <p:spPr>
          <a:xfrm>
            <a:off x="1028700" y="5789500"/>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Language Analysis</a:t>
            </a:r>
            <a:endParaRPr lang="en-US" sz="3200" dirty="0">
              <a:latin typeface="Poppins"/>
              <a:ea typeface="Poppins"/>
              <a:cs typeface="Poppins"/>
              <a:sym typeface="Poppins"/>
            </a:endParaRPr>
          </a:p>
        </p:txBody>
      </p:sp>
      <p:sp>
        <p:nvSpPr>
          <p:cNvPr id="141" name="Google Shape;141;p17">
            <a:extLst>
              <a:ext uri="{FF2B5EF4-FFF2-40B4-BE49-F238E27FC236}">
                <a16:creationId xmlns:a16="http://schemas.microsoft.com/office/drawing/2014/main" id="{43DBBD2D-8AD6-A232-33E0-1752C193E1C1}"/>
              </a:ext>
            </a:extLst>
          </p:cNvPr>
          <p:cNvSpPr txBox="1"/>
          <p:nvPr/>
        </p:nvSpPr>
        <p:spPr>
          <a:xfrm>
            <a:off x="1028700" y="6951678"/>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i="0" u="none" strike="noStrike" cap="none" dirty="0">
                <a:solidFill>
                  <a:srgbClr val="FFFDFC"/>
                </a:solidFill>
                <a:latin typeface="Poppins"/>
                <a:ea typeface="Poppins"/>
                <a:cs typeface="Poppins"/>
                <a:sym typeface="Poppins"/>
              </a:rPr>
              <a:t>Director Analysis</a:t>
            </a:r>
            <a:endParaRPr sz="3200" dirty="0">
              <a:latin typeface="Poppins"/>
              <a:ea typeface="Poppins"/>
              <a:cs typeface="Poppins"/>
              <a:sym typeface="Poppins"/>
            </a:endParaRPr>
          </a:p>
        </p:txBody>
      </p:sp>
      <p:cxnSp>
        <p:nvCxnSpPr>
          <p:cNvPr id="142" name="Google Shape;142;p17">
            <a:extLst>
              <a:ext uri="{FF2B5EF4-FFF2-40B4-BE49-F238E27FC236}">
                <a16:creationId xmlns:a16="http://schemas.microsoft.com/office/drawing/2014/main" id="{0C3114F2-5741-B7CF-5397-262E61456AE6}"/>
              </a:ext>
            </a:extLst>
          </p:cNvPr>
          <p:cNvCxnSpPr/>
          <p:nvPr/>
        </p:nvCxnSpPr>
        <p:spPr>
          <a:xfrm>
            <a:off x="1028700" y="4390943"/>
            <a:ext cx="6492240" cy="0"/>
          </a:xfrm>
          <a:prstGeom prst="straightConnector1">
            <a:avLst/>
          </a:prstGeom>
          <a:noFill/>
          <a:ln w="19050" cap="flat" cmpd="sng">
            <a:solidFill>
              <a:srgbClr val="FFFDFC"/>
            </a:solidFill>
            <a:prstDash val="solid"/>
            <a:round/>
            <a:headEnd type="none" w="sm" len="sm"/>
            <a:tailEnd type="none" w="sm" len="sm"/>
          </a:ln>
        </p:spPr>
      </p:cxnSp>
      <p:cxnSp>
        <p:nvCxnSpPr>
          <p:cNvPr id="143" name="Google Shape;143;p17">
            <a:extLst>
              <a:ext uri="{FF2B5EF4-FFF2-40B4-BE49-F238E27FC236}">
                <a16:creationId xmlns:a16="http://schemas.microsoft.com/office/drawing/2014/main" id="{AEEF89C4-83CD-6A8C-3D97-583AD8B98514}"/>
              </a:ext>
            </a:extLst>
          </p:cNvPr>
          <p:cNvCxnSpPr/>
          <p:nvPr/>
        </p:nvCxnSpPr>
        <p:spPr>
          <a:xfrm>
            <a:off x="1028700" y="5553121"/>
            <a:ext cx="6492240" cy="0"/>
          </a:xfrm>
          <a:prstGeom prst="straightConnector1">
            <a:avLst/>
          </a:prstGeom>
          <a:noFill/>
          <a:ln w="19050" cap="flat" cmpd="sng">
            <a:solidFill>
              <a:srgbClr val="FFFDFC"/>
            </a:solidFill>
            <a:prstDash val="solid"/>
            <a:round/>
            <a:headEnd type="none" w="sm" len="sm"/>
            <a:tailEnd type="none" w="sm" len="sm"/>
          </a:ln>
        </p:spPr>
      </p:cxnSp>
      <p:cxnSp>
        <p:nvCxnSpPr>
          <p:cNvPr id="144" name="Google Shape;144;p17">
            <a:extLst>
              <a:ext uri="{FF2B5EF4-FFF2-40B4-BE49-F238E27FC236}">
                <a16:creationId xmlns:a16="http://schemas.microsoft.com/office/drawing/2014/main" id="{F91B8860-0FE0-B617-DDB3-091971CA5CC2}"/>
              </a:ext>
            </a:extLst>
          </p:cNvPr>
          <p:cNvCxnSpPr/>
          <p:nvPr/>
        </p:nvCxnSpPr>
        <p:spPr>
          <a:xfrm>
            <a:off x="1028700" y="6715299"/>
            <a:ext cx="6492240" cy="0"/>
          </a:xfrm>
          <a:prstGeom prst="straightConnector1">
            <a:avLst/>
          </a:prstGeom>
          <a:noFill/>
          <a:ln w="19050" cap="flat" cmpd="sng">
            <a:solidFill>
              <a:srgbClr val="FFFDFC"/>
            </a:solidFill>
            <a:prstDash val="solid"/>
            <a:round/>
            <a:headEnd type="none" w="sm" len="sm"/>
            <a:tailEnd type="none" w="sm" len="sm"/>
          </a:ln>
        </p:spPr>
      </p:cxnSp>
      <p:cxnSp>
        <p:nvCxnSpPr>
          <p:cNvPr id="145" name="Google Shape;145;p17">
            <a:extLst>
              <a:ext uri="{FF2B5EF4-FFF2-40B4-BE49-F238E27FC236}">
                <a16:creationId xmlns:a16="http://schemas.microsoft.com/office/drawing/2014/main" id="{BF4887DB-2ADF-DB36-DDFA-F4BB2CDCFBA1}"/>
              </a:ext>
            </a:extLst>
          </p:cNvPr>
          <p:cNvCxnSpPr/>
          <p:nvPr/>
        </p:nvCxnSpPr>
        <p:spPr>
          <a:xfrm>
            <a:off x="1028700" y="7877477"/>
            <a:ext cx="6492240" cy="0"/>
          </a:xfrm>
          <a:prstGeom prst="straightConnector1">
            <a:avLst/>
          </a:prstGeom>
          <a:noFill/>
          <a:ln w="19050" cap="flat" cmpd="sng">
            <a:solidFill>
              <a:srgbClr val="FFFDFC"/>
            </a:solidFill>
            <a:prstDash val="solid"/>
            <a:round/>
            <a:headEnd type="none" w="sm" len="sm"/>
            <a:tailEnd type="none" w="sm" len="sm"/>
          </a:ln>
        </p:spPr>
      </p:cxnSp>
      <p:sp>
        <p:nvSpPr>
          <p:cNvPr id="2" name="Google Shape;141;p17">
            <a:extLst>
              <a:ext uri="{FF2B5EF4-FFF2-40B4-BE49-F238E27FC236}">
                <a16:creationId xmlns:a16="http://schemas.microsoft.com/office/drawing/2014/main" id="{B447284D-6846-CB7D-C9A0-045F2FEA0239}"/>
              </a:ext>
            </a:extLst>
          </p:cNvPr>
          <p:cNvSpPr txBox="1"/>
          <p:nvPr/>
        </p:nvSpPr>
        <p:spPr>
          <a:xfrm>
            <a:off x="5146350" y="8156432"/>
            <a:ext cx="7995300" cy="689420"/>
          </a:xfrm>
          <a:prstGeom prst="rect">
            <a:avLst/>
          </a:prstGeom>
          <a:noFill/>
          <a:ln>
            <a:noFill/>
          </a:ln>
        </p:spPr>
        <p:txBody>
          <a:bodyPr spcFirstLastPara="1" wrap="square" lIns="0" tIns="0" rIns="0" bIns="0" anchor="t" anchorCtr="0">
            <a:spAutoFit/>
          </a:bodyPr>
          <a:lstStyle/>
          <a:p>
            <a:pPr marL="0" marR="0" lvl="0" indent="0" algn="just" rtl="0">
              <a:lnSpc>
                <a:spcPct val="139977"/>
              </a:lnSpc>
              <a:spcBef>
                <a:spcPts val="0"/>
              </a:spcBef>
              <a:spcAft>
                <a:spcPts val="0"/>
              </a:spcAft>
              <a:buNone/>
            </a:pPr>
            <a:r>
              <a:rPr lang="en-US" sz="3200" b="1" i="0" u="none" strike="noStrike" cap="none" dirty="0">
                <a:solidFill>
                  <a:schemeClr val="tx1"/>
                </a:solidFill>
                <a:highlight>
                  <a:srgbClr val="C0C0C0"/>
                </a:highlight>
                <a:latin typeface="Poppins"/>
                <a:ea typeface="Poppins"/>
                <a:cs typeface="Poppins"/>
                <a:sym typeface="Poppins"/>
              </a:rPr>
              <a:t>Budget Analysis</a:t>
            </a:r>
            <a:endParaRPr lang="en-US" sz="3200" b="1" dirty="0">
              <a:solidFill>
                <a:schemeClr val="tx1"/>
              </a:solidFill>
              <a:highlight>
                <a:srgbClr val="C0C0C0"/>
              </a:highlight>
              <a:latin typeface="Poppins"/>
              <a:ea typeface="Poppins"/>
              <a:cs typeface="Poppins"/>
              <a:sym typeface="Poppins"/>
            </a:endParaRPr>
          </a:p>
        </p:txBody>
      </p:sp>
      <p:cxnSp>
        <p:nvCxnSpPr>
          <p:cNvPr id="3" name="Google Shape;145;p17">
            <a:extLst>
              <a:ext uri="{FF2B5EF4-FFF2-40B4-BE49-F238E27FC236}">
                <a16:creationId xmlns:a16="http://schemas.microsoft.com/office/drawing/2014/main" id="{4623E079-CF5A-1520-BD77-C78E35F56066}"/>
              </a:ext>
            </a:extLst>
          </p:cNvPr>
          <p:cNvCxnSpPr/>
          <p:nvPr/>
        </p:nvCxnSpPr>
        <p:spPr>
          <a:xfrm>
            <a:off x="1028700" y="9039658"/>
            <a:ext cx="6492240" cy="0"/>
          </a:xfrm>
          <a:prstGeom prst="straightConnector1">
            <a:avLst/>
          </a:prstGeom>
          <a:noFill/>
          <a:ln w="19050" cap="flat" cmpd="sng">
            <a:solidFill>
              <a:srgbClr val="FFFDFC"/>
            </a:solidFill>
            <a:prstDash val="solid"/>
            <a:round/>
            <a:headEnd type="none" w="sm" len="sm"/>
            <a:tailEnd type="none" w="sm" len="sm"/>
          </a:ln>
        </p:spPr>
      </p:cxnSp>
    </p:spTree>
    <p:extLst>
      <p:ext uri="{BB962C8B-B14F-4D97-AF65-F5344CB8AC3E}">
        <p14:creationId xmlns:p14="http://schemas.microsoft.com/office/powerpoint/2010/main" val="13881357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2516A0B0-FA1F-9525-14B6-807480ACBDAE}"/>
            </a:ext>
          </a:extLst>
        </p:cNvPr>
        <p:cNvGrpSpPr/>
        <p:nvPr/>
      </p:nvGrpSpPr>
      <p:grpSpPr>
        <a:xfrm>
          <a:off x="0" y="0"/>
          <a:ext cx="0" cy="0"/>
          <a:chOff x="0" y="0"/>
          <a:chExt cx="0" cy="0"/>
        </a:xfrm>
      </p:grpSpPr>
      <p:grpSp>
        <p:nvGrpSpPr>
          <p:cNvPr id="122" name="Google Shape;122;p16">
            <a:extLst>
              <a:ext uri="{FF2B5EF4-FFF2-40B4-BE49-F238E27FC236}">
                <a16:creationId xmlns:a16="http://schemas.microsoft.com/office/drawing/2014/main" id="{06A85210-5E2C-CF8C-9C74-0F60CCB57AE6}"/>
              </a:ext>
            </a:extLst>
          </p:cNvPr>
          <p:cNvGrpSpPr/>
          <p:nvPr/>
        </p:nvGrpSpPr>
        <p:grpSpPr>
          <a:xfrm>
            <a:off x="0" y="-144660"/>
            <a:ext cx="18288000" cy="2517158"/>
            <a:chOff x="0" y="-38100"/>
            <a:chExt cx="4816593" cy="908088"/>
          </a:xfrm>
        </p:grpSpPr>
        <p:sp>
          <p:nvSpPr>
            <p:cNvPr id="123" name="Google Shape;123;p16">
              <a:extLst>
                <a:ext uri="{FF2B5EF4-FFF2-40B4-BE49-F238E27FC236}">
                  <a16:creationId xmlns:a16="http://schemas.microsoft.com/office/drawing/2014/main" id="{6632AD56-AE7B-5274-F201-693142FF3477}"/>
                </a:ext>
              </a:extLst>
            </p:cNvPr>
            <p:cNvSpPr/>
            <p:nvPr/>
          </p:nvSpPr>
          <p:spPr>
            <a:xfrm>
              <a:off x="0" y="0"/>
              <a:ext cx="4816592" cy="869988"/>
            </a:xfrm>
            <a:custGeom>
              <a:avLst/>
              <a:gdLst/>
              <a:ahLst/>
              <a:cxnLst/>
              <a:rect l="l" t="t" r="r" b="b"/>
              <a:pathLst>
                <a:path w="4816592" h="869988" extrusionOk="0">
                  <a:moveTo>
                    <a:pt x="0" y="0"/>
                  </a:moveTo>
                  <a:lnTo>
                    <a:pt x="4816592" y="0"/>
                  </a:lnTo>
                  <a:lnTo>
                    <a:pt x="4816592" y="869988"/>
                  </a:lnTo>
                  <a:lnTo>
                    <a:pt x="0" y="869988"/>
                  </a:lnTo>
                  <a:close/>
                </a:path>
              </a:pathLst>
            </a:custGeom>
            <a:solidFill>
              <a:srgbClr val="000000"/>
            </a:solidFill>
            <a:ln>
              <a:noFill/>
            </a:ln>
          </p:spPr>
          <p:txBody>
            <a:bodyPr/>
            <a:lstStyle/>
            <a:p>
              <a:endParaRPr lang="en-IN" dirty="0"/>
            </a:p>
          </p:txBody>
        </p:sp>
        <p:sp>
          <p:nvSpPr>
            <p:cNvPr id="124" name="Google Shape;124;p16">
              <a:extLst>
                <a:ext uri="{FF2B5EF4-FFF2-40B4-BE49-F238E27FC236}">
                  <a16:creationId xmlns:a16="http://schemas.microsoft.com/office/drawing/2014/main" id="{AEF5D30A-6352-7403-00FA-9224A33FD078}"/>
                </a:ext>
              </a:extLst>
            </p:cNvPr>
            <p:cNvSpPr txBox="1"/>
            <p:nvPr/>
          </p:nvSpPr>
          <p:spPr>
            <a:xfrm>
              <a:off x="0" y="-38100"/>
              <a:ext cx="4816593" cy="90808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grpSp>
      <p:sp>
        <p:nvSpPr>
          <p:cNvPr id="125" name="Google Shape;125;p16">
            <a:extLst>
              <a:ext uri="{FF2B5EF4-FFF2-40B4-BE49-F238E27FC236}">
                <a16:creationId xmlns:a16="http://schemas.microsoft.com/office/drawing/2014/main" id="{A8BF88F6-E232-4C69-065F-9C3BF9688636}"/>
              </a:ext>
            </a:extLst>
          </p:cNvPr>
          <p:cNvSpPr txBox="1"/>
          <p:nvPr/>
        </p:nvSpPr>
        <p:spPr>
          <a:xfrm>
            <a:off x="568411" y="514786"/>
            <a:ext cx="16690887" cy="1415772"/>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8000" b="1" i="0" u="none" strike="noStrike" cap="none" dirty="0">
                <a:solidFill>
                  <a:srgbClr val="E5D6A8"/>
                </a:solidFill>
                <a:latin typeface="Libre Baskerville"/>
                <a:ea typeface="Libre Baskerville"/>
                <a:cs typeface="Libre Baskerville"/>
                <a:sym typeface="Libre Baskerville"/>
              </a:rPr>
              <a:t>Budget Analysis</a:t>
            </a:r>
            <a:endParaRPr lang="en-US" dirty="0"/>
          </a:p>
        </p:txBody>
      </p:sp>
      <p:sp>
        <p:nvSpPr>
          <p:cNvPr id="2" name="TextBox 1">
            <a:extLst>
              <a:ext uri="{FF2B5EF4-FFF2-40B4-BE49-F238E27FC236}">
                <a16:creationId xmlns:a16="http://schemas.microsoft.com/office/drawing/2014/main" id="{CF3CDE87-994D-D316-B412-54FC6F590385}"/>
              </a:ext>
            </a:extLst>
          </p:cNvPr>
          <p:cNvSpPr txBox="1"/>
          <p:nvPr/>
        </p:nvSpPr>
        <p:spPr>
          <a:xfrm>
            <a:off x="568411" y="2656703"/>
            <a:ext cx="15416227"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Objective: </a:t>
            </a:r>
            <a:r>
              <a:rPr lang="en-US" sz="3200" dirty="0">
                <a:latin typeface="Times New Roman" panose="02020603050405020304" pitchFamily="18" charset="0"/>
                <a:cs typeface="Times New Roman" panose="02020603050405020304" pitchFamily="18" charset="0"/>
              </a:rPr>
              <a:t>Explore the relationship between budgets, gross earnings, and profit margins.	</a:t>
            </a:r>
            <a:endParaRPr lang="en-IN" sz="2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CD4FCF7-BD3D-D159-700B-B59F7749F9E0}"/>
              </a:ext>
            </a:extLst>
          </p:cNvPr>
          <p:cNvSpPr txBox="1"/>
          <p:nvPr/>
        </p:nvSpPr>
        <p:spPr>
          <a:xfrm>
            <a:off x="568410" y="8799168"/>
            <a:ext cx="12356757" cy="1077218"/>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Key Insight: </a:t>
            </a:r>
            <a:r>
              <a:rPr lang="en-US" sz="3200" dirty="0">
                <a:latin typeface="Times New Roman" panose="02020603050405020304" pitchFamily="18" charset="0"/>
                <a:cs typeface="Times New Roman" panose="02020603050405020304" pitchFamily="18" charset="0"/>
              </a:rPr>
              <a:t>Movies with budgets </a:t>
            </a:r>
            <a:r>
              <a:rPr lang="en-US" sz="3200" i="1" u="sng" dirty="0">
                <a:latin typeface="Times New Roman" panose="02020603050405020304" pitchFamily="18" charset="0"/>
                <a:cs typeface="Times New Roman" panose="02020603050405020304" pitchFamily="18" charset="0"/>
              </a:rPr>
              <a:t>50M</a:t>
            </a:r>
            <a:r>
              <a:rPr lang="en-US" sz="3200" dirty="0">
                <a:latin typeface="Times New Roman" panose="02020603050405020304" pitchFamily="18" charset="0"/>
                <a:cs typeface="Times New Roman" panose="02020603050405020304" pitchFamily="18" charset="0"/>
              </a:rPr>
              <a:t> show the highest return on investment.</a:t>
            </a:r>
            <a:endParaRPr lang="en-IN" sz="2400" dirty="0">
              <a:latin typeface="Times New Roman" panose="02020603050405020304" pitchFamily="18" charset="0"/>
              <a:cs typeface="Times New Roman" panose="02020603050405020304" pitchFamily="18" charset="0"/>
            </a:endParaRPr>
          </a:p>
        </p:txBody>
      </p:sp>
      <p:grpSp>
        <p:nvGrpSpPr>
          <p:cNvPr id="8" name="Group 7">
            <a:extLst>
              <a:ext uri="{FF2B5EF4-FFF2-40B4-BE49-F238E27FC236}">
                <a16:creationId xmlns:a16="http://schemas.microsoft.com/office/drawing/2014/main" id="{8B63D2CE-305F-BD92-EC88-BFC87A4B365D}"/>
              </a:ext>
            </a:extLst>
          </p:cNvPr>
          <p:cNvGrpSpPr/>
          <p:nvPr/>
        </p:nvGrpSpPr>
        <p:grpSpPr>
          <a:xfrm>
            <a:off x="11405363" y="3951004"/>
            <a:ext cx="6627859" cy="4610442"/>
            <a:chOff x="8754760" y="3922195"/>
            <a:chExt cx="6627859" cy="4610442"/>
          </a:xfrm>
        </p:grpSpPr>
        <p:sp>
          <p:nvSpPr>
            <p:cNvPr id="7" name="Rectangle: Diagonal Corners Snipped 6">
              <a:extLst>
                <a:ext uri="{FF2B5EF4-FFF2-40B4-BE49-F238E27FC236}">
                  <a16:creationId xmlns:a16="http://schemas.microsoft.com/office/drawing/2014/main" id="{84C3E221-5808-83CA-192E-7A9FA363D4C9}"/>
                </a:ext>
              </a:extLst>
            </p:cNvPr>
            <p:cNvSpPr/>
            <p:nvPr/>
          </p:nvSpPr>
          <p:spPr>
            <a:xfrm>
              <a:off x="8913854" y="4051141"/>
              <a:ext cx="6468765" cy="4481496"/>
            </a:xfrm>
            <a:prstGeom prst="snip2DiagRect">
              <a:avLst>
                <a:gd name="adj1" fmla="val 0"/>
                <a:gd name="adj2" fmla="val 0"/>
              </a:avLst>
            </a:prstGeom>
            <a:gradFill flip="none" rotWithShape="1">
              <a:gsLst>
                <a:gs pos="0">
                  <a:schemeClr val="accent1">
                    <a:lumMod val="40000"/>
                    <a:lumOff val="60000"/>
                  </a:schemeClr>
                </a:gs>
                <a:gs pos="45000">
                  <a:schemeClr val="tx1"/>
                </a:gs>
                <a:gs pos="100000">
                  <a:schemeClr val="accent1">
                    <a:lumMod val="6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id="{EBE0B3A7-BDDD-88CA-2B6A-EF33BBE73CA3}"/>
                </a:ext>
              </a:extLst>
            </p:cNvPr>
            <p:cNvPicPr>
              <a:picLocks noChangeAspect="1"/>
            </p:cNvPicPr>
            <p:nvPr/>
          </p:nvPicPr>
          <p:blipFill>
            <a:blip r:embed="rId3"/>
            <a:srcRect l="42192" t="23063" r="21247" b="34775"/>
            <a:stretch/>
          </p:blipFill>
          <p:spPr>
            <a:xfrm>
              <a:off x="8754760" y="3922195"/>
              <a:ext cx="6468764" cy="4481496"/>
            </a:xfrm>
            <a:prstGeom prst="rect">
              <a:avLst/>
            </a:prstGeom>
            <a:ln>
              <a:solidFill>
                <a:schemeClr val="accent1">
                  <a:shade val="15000"/>
                </a:schemeClr>
              </a:solidFill>
            </a:ln>
          </p:spPr>
        </p:pic>
      </p:grpSp>
      <p:sp>
        <p:nvSpPr>
          <p:cNvPr id="9" name="TextBox 8">
            <a:extLst>
              <a:ext uri="{FF2B5EF4-FFF2-40B4-BE49-F238E27FC236}">
                <a16:creationId xmlns:a16="http://schemas.microsoft.com/office/drawing/2014/main" id="{AFB18276-B8E1-CABB-5A82-077BEFA93D5C}"/>
              </a:ext>
            </a:extLst>
          </p:cNvPr>
          <p:cNvSpPr txBox="1"/>
          <p:nvPr/>
        </p:nvSpPr>
        <p:spPr>
          <a:xfrm>
            <a:off x="568410" y="4496829"/>
            <a:ext cx="9792182" cy="3046988"/>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Methodology:</a:t>
            </a:r>
          </a:p>
          <a:p>
            <a:pPr marL="285750" lvl="8"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Calculate profit margin as gross - budget.</a:t>
            </a:r>
          </a:p>
          <a:p>
            <a:pPr marL="285750" lvl="8"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Compute the correlation coefficient between budget and gross earnings.</a:t>
            </a:r>
          </a:p>
          <a:p>
            <a:pPr marL="285750" lvl="8"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Identify movies with the highest profit margins.</a:t>
            </a:r>
          </a:p>
          <a:p>
            <a:pPr marL="285750" lvl="8"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Create a scatter plot of budget vs. IMDB score.</a:t>
            </a:r>
            <a:endParaRPr lang="en-IN" sz="32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B5F521AD-2957-A174-723C-979F1B5E3A5F}"/>
              </a:ext>
            </a:extLst>
          </p:cNvPr>
          <p:cNvPicPr>
            <a:picLocks noChangeAspect="1"/>
          </p:cNvPicPr>
          <p:nvPr/>
        </p:nvPicPr>
        <p:blipFill>
          <a:blip r:embed="rId4"/>
          <a:srcRect l="26426" t="29309" r="34272" b="18028"/>
          <a:stretch/>
        </p:blipFill>
        <p:spPr>
          <a:xfrm>
            <a:off x="11405362" y="3842228"/>
            <a:ext cx="6468765" cy="4590272"/>
          </a:xfrm>
          <a:prstGeom prst="rect">
            <a:avLst/>
          </a:prstGeom>
          <a:ln>
            <a:solidFill>
              <a:schemeClr val="tx1"/>
            </a:solidFill>
          </a:ln>
        </p:spPr>
      </p:pic>
      <p:pic>
        <p:nvPicPr>
          <p:cNvPr id="11" name="Picture 10">
            <a:extLst>
              <a:ext uri="{FF2B5EF4-FFF2-40B4-BE49-F238E27FC236}">
                <a16:creationId xmlns:a16="http://schemas.microsoft.com/office/drawing/2014/main" id="{AD8B77BA-4EAF-484A-90C5-C2244D8823E7}"/>
              </a:ext>
            </a:extLst>
          </p:cNvPr>
          <p:cNvPicPr>
            <a:picLocks noChangeAspect="1"/>
          </p:cNvPicPr>
          <p:nvPr/>
        </p:nvPicPr>
        <p:blipFill>
          <a:blip r:embed="rId5"/>
          <a:srcRect l="22134" t="29488" r="36261" b="10406"/>
          <a:stretch/>
        </p:blipFill>
        <p:spPr>
          <a:xfrm>
            <a:off x="11405362" y="3842229"/>
            <a:ext cx="6468766" cy="4590272"/>
          </a:xfrm>
          <a:prstGeom prst="rect">
            <a:avLst/>
          </a:prstGeom>
          <a:ln>
            <a:solidFill>
              <a:schemeClr val="tx1"/>
            </a:solidFill>
          </a:ln>
        </p:spPr>
      </p:pic>
      <p:pic>
        <p:nvPicPr>
          <p:cNvPr id="5" name="Picture 4">
            <a:extLst>
              <a:ext uri="{FF2B5EF4-FFF2-40B4-BE49-F238E27FC236}">
                <a16:creationId xmlns:a16="http://schemas.microsoft.com/office/drawing/2014/main" id="{E07644B5-5EEB-DE71-DAED-106E32B870BA}"/>
              </a:ext>
            </a:extLst>
          </p:cNvPr>
          <p:cNvPicPr>
            <a:picLocks noChangeAspect="1"/>
          </p:cNvPicPr>
          <p:nvPr/>
        </p:nvPicPr>
        <p:blipFill>
          <a:blip r:embed="rId6"/>
          <a:srcRect l="35294" t="29488" r="18695" b="10406"/>
          <a:stretch/>
        </p:blipFill>
        <p:spPr>
          <a:xfrm>
            <a:off x="11405361" y="3842227"/>
            <a:ext cx="6468765" cy="4590273"/>
          </a:xfrm>
          <a:prstGeom prst="rect">
            <a:avLst/>
          </a:prstGeom>
        </p:spPr>
      </p:pic>
      <p:pic>
        <p:nvPicPr>
          <p:cNvPr id="12" name="Picture 11">
            <a:extLst>
              <a:ext uri="{FF2B5EF4-FFF2-40B4-BE49-F238E27FC236}">
                <a16:creationId xmlns:a16="http://schemas.microsoft.com/office/drawing/2014/main" id="{04F5184D-2E43-A409-E951-B99EABDB1077}"/>
              </a:ext>
            </a:extLst>
          </p:cNvPr>
          <p:cNvPicPr>
            <a:picLocks noChangeAspect="1"/>
          </p:cNvPicPr>
          <p:nvPr/>
        </p:nvPicPr>
        <p:blipFill>
          <a:blip r:embed="rId7"/>
          <a:srcRect l="24108" t="28778" r="8228" b="31434"/>
          <a:stretch/>
        </p:blipFill>
        <p:spPr>
          <a:xfrm>
            <a:off x="11402726" y="3822059"/>
            <a:ext cx="6468767" cy="4590272"/>
          </a:xfrm>
          <a:prstGeom prst="rect">
            <a:avLst/>
          </a:prstGeom>
          <a:ln>
            <a:solidFill>
              <a:schemeClr val="tx1"/>
            </a:solidFill>
          </a:ln>
        </p:spPr>
      </p:pic>
    </p:spTree>
    <p:extLst>
      <p:ext uri="{BB962C8B-B14F-4D97-AF65-F5344CB8AC3E}">
        <p14:creationId xmlns:p14="http://schemas.microsoft.com/office/powerpoint/2010/main" val="1762931488"/>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ight Triangle 3">
            <a:extLst>
              <a:ext uri="{FF2B5EF4-FFF2-40B4-BE49-F238E27FC236}">
                <a16:creationId xmlns:a16="http://schemas.microsoft.com/office/drawing/2014/main" id="{BE6CA607-7DF5-8E12-67CE-9D1846BEAFE9}"/>
              </a:ext>
            </a:extLst>
          </p:cNvPr>
          <p:cNvSpPr/>
          <p:nvPr/>
        </p:nvSpPr>
        <p:spPr>
          <a:xfrm>
            <a:off x="6763657" y="377371"/>
            <a:ext cx="4325257" cy="1117600"/>
          </a:xfrm>
          <a:prstGeom prst="rtTriangl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7911FCC9-A690-CA80-1AFF-8118097D99BA}"/>
              </a:ext>
            </a:extLst>
          </p:cNvPr>
          <p:cNvSpPr>
            <a:spLocks noGrp="1"/>
          </p:cNvSpPr>
          <p:nvPr>
            <p:ph type="ctrTitle"/>
          </p:nvPr>
        </p:nvSpPr>
        <p:spPr>
          <a:xfrm>
            <a:off x="5257800" y="258082"/>
            <a:ext cx="7282543" cy="1396547"/>
          </a:xfrm>
        </p:spPr>
        <p:txBody>
          <a:bodyPr>
            <a:normAutofit/>
          </a:bodyPr>
          <a:lstStyle/>
          <a:p>
            <a:r>
              <a:rPr lang="en-IN" sz="6000" b="1" dirty="0">
                <a:latin typeface="Times New Roman" panose="02020603050405020304" pitchFamily="18" charset="0"/>
                <a:cs typeface="Times New Roman" panose="02020603050405020304" pitchFamily="18" charset="0"/>
              </a:rPr>
              <a:t>Key Insights</a:t>
            </a:r>
          </a:p>
        </p:txBody>
      </p:sp>
      <p:sp>
        <p:nvSpPr>
          <p:cNvPr id="3" name="Subtitle 2">
            <a:extLst>
              <a:ext uri="{FF2B5EF4-FFF2-40B4-BE49-F238E27FC236}">
                <a16:creationId xmlns:a16="http://schemas.microsoft.com/office/drawing/2014/main" id="{E97044A7-1A51-E7EC-1D79-B40E3E2D4C97}"/>
              </a:ext>
            </a:extLst>
          </p:cNvPr>
          <p:cNvSpPr>
            <a:spLocks noGrp="1"/>
          </p:cNvSpPr>
          <p:nvPr>
            <p:ph type="subTitle" idx="1"/>
          </p:nvPr>
        </p:nvSpPr>
        <p:spPr>
          <a:xfrm>
            <a:off x="870856" y="1986641"/>
            <a:ext cx="16822058" cy="7810502"/>
          </a:xfrm>
        </p:spPr>
        <p:txBody>
          <a:bodyPr>
            <a:noAutofit/>
          </a:bodyPr>
          <a:lstStyle/>
          <a:p>
            <a:pPr marL="482600" indent="-457200" algn="l">
              <a:buFont typeface="Arial" panose="020B0604020202020204" pitchFamily="34" charset="0"/>
              <a:buChar char="•"/>
            </a:pPr>
            <a:r>
              <a:rPr lang="en-US" sz="4000" b="1" dirty="0">
                <a:solidFill>
                  <a:schemeClr val="tx1"/>
                </a:solidFill>
                <a:latin typeface="Times New Roman" panose="02020603050405020304" pitchFamily="18" charset="0"/>
                <a:cs typeface="Times New Roman" panose="02020603050405020304" pitchFamily="18" charset="0"/>
              </a:rPr>
              <a:t>Genre Preference</a:t>
            </a:r>
            <a:r>
              <a:rPr lang="en-US" sz="4000" dirty="0">
                <a:solidFill>
                  <a:schemeClr val="tx1"/>
                </a:solidFill>
                <a:latin typeface="Times New Roman" panose="02020603050405020304" pitchFamily="18" charset="0"/>
                <a:cs typeface="Times New Roman" panose="02020603050405020304" pitchFamily="18" charset="0"/>
              </a:rPr>
              <a:t>: </a:t>
            </a:r>
            <a:r>
              <a:rPr lang="en-US" sz="4000" i="1" u="sng" dirty="0">
                <a:solidFill>
                  <a:schemeClr val="tx1"/>
                </a:solidFill>
                <a:latin typeface="Times New Roman" panose="02020603050405020304" pitchFamily="18" charset="0"/>
                <a:cs typeface="Times New Roman" panose="02020603050405020304" pitchFamily="18" charset="0"/>
              </a:rPr>
              <a:t>Film-Noir</a:t>
            </a:r>
            <a:r>
              <a:rPr lang="en-US" sz="4000" dirty="0">
                <a:solidFill>
                  <a:schemeClr val="tx1"/>
                </a:solidFill>
                <a:latin typeface="Times New Roman" panose="02020603050405020304" pitchFamily="18" charset="0"/>
                <a:cs typeface="Times New Roman" panose="02020603050405020304" pitchFamily="18" charset="0"/>
              </a:rPr>
              <a:t> has the highest average IMDB score.</a:t>
            </a:r>
          </a:p>
          <a:p>
            <a:pPr marL="482600" indent="-457200" algn="l">
              <a:buFont typeface="Arial" panose="020B0604020202020204" pitchFamily="34" charset="0"/>
              <a:buChar char="•"/>
            </a:pPr>
            <a:endParaRPr lang="en-US" sz="4000" dirty="0">
              <a:solidFill>
                <a:schemeClr val="tx1"/>
              </a:solidFill>
              <a:latin typeface="Times New Roman" panose="02020603050405020304" pitchFamily="18" charset="0"/>
              <a:cs typeface="Times New Roman" panose="02020603050405020304" pitchFamily="18" charset="0"/>
            </a:endParaRPr>
          </a:p>
          <a:p>
            <a:pPr marL="482600" indent="-457200" algn="l">
              <a:buFont typeface="Arial" panose="020B0604020202020204" pitchFamily="34" charset="0"/>
              <a:buChar char="•"/>
            </a:pPr>
            <a:r>
              <a:rPr lang="en-US" sz="4000" b="1" dirty="0">
                <a:solidFill>
                  <a:schemeClr val="tx1"/>
                </a:solidFill>
                <a:latin typeface="Times New Roman" panose="02020603050405020304" pitchFamily="18" charset="0"/>
                <a:cs typeface="Times New Roman" panose="02020603050405020304" pitchFamily="18" charset="0"/>
              </a:rPr>
              <a:t>Optimal Duration</a:t>
            </a:r>
            <a:r>
              <a:rPr lang="en-US" sz="4000" dirty="0">
                <a:solidFill>
                  <a:schemeClr val="tx1"/>
                </a:solidFill>
                <a:latin typeface="Times New Roman" panose="02020603050405020304" pitchFamily="18" charset="0"/>
                <a:cs typeface="Times New Roman" panose="02020603050405020304" pitchFamily="18" charset="0"/>
              </a:rPr>
              <a:t>: Movies within </a:t>
            </a:r>
            <a:r>
              <a:rPr lang="en-US" sz="4000" i="1" u="sng" dirty="0">
                <a:solidFill>
                  <a:schemeClr val="tx1"/>
                </a:solidFill>
                <a:latin typeface="Times New Roman" panose="02020603050405020304" pitchFamily="18" charset="0"/>
                <a:cs typeface="Times New Roman" panose="02020603050405020304" pitchFamily="18" charset="0"/>
              </a:rPr>
              <a:t>1 hour 47 min </a:t>
            </a:r>
            <a:r>
              <a:rPr lang="en-US" sz="4000" dirty="0">
                <a:solidFill>
                  <a:schemeClr val="tx1"/>
                </a:solidFill>
                <a:latin typeface="Times New Roman" panose="02020603050405020304" pitchFamily="18" charset="0"/>
                <a:cs typeface="Times New Roman" panose="02020603050405020304" pitchFamily="18" charset="0"/>
              </a:rPr>
              <a:t>duration tend to perform better.</a:t>
            </a:r>
          </a:p>
          <a:p>
            <a:pPr marL="482600" indent="-457200" algn="l">
              <a:buFont typeface="Arial" panose="020B0604020202020204" pitchFamily="34" charset="0"/>
              <a:buChar char="•"/>
            </a:pPr>
            <a:endParaRPr lang="en-US" sz="4000" dirty="0">
              <a:solidFill>
                <a:schemeClr val="tx1"/>
              </a:solidFill>
              <a:latin typeface="Times New Roman" panose="02020603050405020304" pitchFamily="18" charset="0"/>
              <a:cs typeface="Times New Roman" panose="02020603050405020304" pitchFamily="18" charset="0"/>
            </a:endParaRPr>
          </a:p>
          <a:p>
            <a:pPr marL="482600" indent="-457200" algn="l">
              <a:buFont typeface="Arial" panose="020B0604020202020204" pitchFamily="34" charset="0"/>
              <a:buChar char="•"/>
            </a:pPr>
            <a:r>
              <a:rPr lang="en-US" sz="4000" b="1" dirty="0">
                <a:solidFill>
                  <a:schemeClr val="tx1"/>
                </a:solidFill>
                <a:latin typeface="Times New Roman" panose="02020603050405020304" pitchFamily="18" charset="0"/>
                <a:cs typeface="Times New Roman" panose="02020603050405020304" pitchFamily="18" charset="0"/>
              </a:rPr>
              <a:t>Language Impact</a:t>
            </a:r>
            <a:r>
              <a:rPr lang="en-US" sz="4000" dirty="0">
                <a:solidFill>
                  <a:schemeClr val="tx1"/>
                </a:solidFill>
                <a:latin typeface="Times New Roman" panose="02020603050405020304" pitchFamily="18" charset="0"/>
                <a:cs typeface="Times New Roman" panose="02020603050405020304" pitchFamily="18" charset="0"/>
              </a:rPr>
              <a:t>: </a:t>
            </a:r>
            <a:r>
              <a:rPr lang="en-US" sz="4000" i="1" u="sng" dirty="0">
                <a:solidFill>
                  <a:schemeClr val="tx1"/>
                </a:solidFill>
                <a:latin typeface="Times New Roman" panose="02020603050405020304" pitchFamily="18" charset="0"/>
                <a:cs typeface="Times New Roman" panose="02020603050405020304" pitchFamily="18" charset="0"/>
              </a:rPr>
              <a:t>Telugu</a:t>
            </a:r>
            <a:r>
              <a:rPr lang="en-US" sz="4000" dirty="0">
                <a:solidFill>
                  <a:schemeClr val="tx1"/>
                </a:solidFill>
                <a:latin typeface="Times New Roman" panose="02020603050405020304" pitchFamily="18" charset="0"/>
                <a:cs typeface="Times New Roman" panose="02020603050405020304" pitchFamily="18" charset="0"/>
              </a:rPr>
              <a:t> is both popular and highly rated.</a:t>
            </a:r>
          </a:p>
          <a:p>
            <a:pPr marL="482600" indent="-457200" algn="l">
              <a:buFont typeface="Arial" panose="020B0604020202020204" pitchFamily="34" charset="0"/>
              <a:buChar char="•"/>
            </a:pPr>
            <a:endParaRPr lang="en-US" sz="4000" dirty="0">
              <a:solidFill>
                <a:schemeClr val="tx1"/>
              </a:solidFill>
              <a:latin typeface="Times New Roman" panose="02020603050405020304" pitchFamily="18" charset="0"/>
              <a:cs typeface="Times New Roman" panose="02020603050405020304" pitchFamily="18" charset="0"/>
            </a:endParaRPr>
          </a:p>
          <a:p>
            <a:pPr marL="482600" indent="-457200" algn="l">
              <a:buFont typeface="Arial" panose="020B0604020202020204" pitchFamily="34" charset="0"/>
              <a:buChar char="•"/>
            </a:pPr>
            <a:r>
              <a:rPr lang="en-US" sz="4000" b="1" dirty="0">
                <a:solidFill>
                  <a:schemeClr val="tx1"/>
                </a:solidFill>
                <a:latin typeface="Times New Roman" panose="02020603050405020304" pitchFamily="18" charset="0"/>
                <a:cs typeface="Times New Roman" panose="02020603050405020304" pitchFamily="18" charset="0"/>
              </a:rPr>
              <a:t>Director Influence</a:t>
            </a:r>
            <a:r>
              <a:rPr lang="en-US" sz="4000" dirty="0">
                <a:solidFill>
                  <a:schemeClr val="tx1"/>
                </a:solidFill>
                <a:latin typeface="Times New Roman" panose="02020603050405020304" pitchFamily="18" charset="0"/>
                <a:cs typeface="Times New Roman" panose="02020603050405020304" pitchFamily="18" charset="0"/>
              </a:rPr>
              <a:t>: Top directors significantly affect movie success.</a:t>
            </a:r>
          </a:p>
          <a:p>
            <a:pPr marL="482600" indent="-457200" algn="l">
              <a:buFont typeface="Arial" panose="020B0604020202020204" pitchFamily="34" charset="0"/>
              <a:buChar char="•"/>
            </a:pPr>
            <a:endParaRPr lang="en-US" sz="4000" dirty="0">
              <a:solidFill>
                <a:schemeClr val="tx1"/>
              </a:solidFill>
              <a:latin typeface="Times New Roman" panose="02020603050405020304" pitchFamily="18" charset="0"/>
              <a:cs typeface="Times New Roman" panose="02020603050405020304" pitchFamily="18" charset="0"/>
            </a:endParaRPr>
          </a:p>
          <a:p>
            <a:pPr marL="482600" indent="-457200" algn="l">
              <a:buFont typeface="Arial" panose="020B0604020202020204" pitchFamily="34" charset="0"/>
              <a:buChar char="•"/>
            </a:pPr>
            <a:r>
              <a:rPr lang="en-US" sz="4000" b="1" dirty="0">
                <a:solidFill>
                  <a:schemeClr val="tx1"/>
                </a:solidFill>
                <a:latin typeface="Times New Roman" panose="02020603050405020304" pitchFamily="18" charset="0"/>
                <a:cs typeface="Times New Roman" panose="02020603050405020304" pitchFamily="18" charset="0"/>
              </a:rPr>
              <a:t>Budget Efficiency</a:t>
            </a:r>
            <a:r>
              <a:rPr lang="en-US" sz="4000" dirty="0">
                <a:solidFill>
                  <a:schemeClr val="tx1"/>
                </a:solidFill>
                <a:latin typeface="Times New Roman" panose="02020603050405020304" pitchFamily="18" charset="0"/>
                <a:cs typeface="Times New Roman" panose="02020603050405020304" pitchFamily="18" charset="0"/>
              </a:rPr>
              <a:t>: Higher budgets correlate positively with gross earnings but not always with IMDB scores.</a:t>
            </a:r>
            <a:endParaRPr lang="en-IN" sz="4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278005"/>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505"/>
        <p:cNvGrpSpPr/>
        <p:nvPr/>
      </p:nvGrpSpPr>
      <p:grpSpPr>
        <a:xfrm>
          <a:off x="0" y="0"/>
          <a:ext cx="0" cy="0"/>
          <a:chOff x="0" y="0"/>
          <a:chExt cx="0" cy="0"/>
        </a:xfrm>
      </p:grpSpPr>
      <p:pic>
        <p:nvPicPr>
          <p:cNvPr id="506" name="Google Shape;506;p29"/>
          <p:cNvPicPr preferRelativeResize="0"/>
          <p:nvPr/>
        </p:nvPicPr>
        <p:blipFill>
          <a:blip r:embed="rId3">
            <a:alphaModFix/>
          </a:blip>
          <a:stretch>
            <a:fillRect/>
          </a:stretch>
        </p:blipFill>
        <p:spPr>
          <a:xfrm>
            <a:off x="1421188" y="0"/>
            <a:ext cx="15445627" cy="10287002"/>
          </a:xfrm>
          <a:prstGeom prst="rect">
            <a:avLst/>
          </a:prstGeom>
          <a:noFill/>
          <a:ln>
            <a:noFill/>
          </a:ln>
        </p:spPr>
      </p:pic>
      <p:sp>
        <p:nvSpPr>
          <p:cNvPr id="507" name="Google Shape;507;p29"/>
          <p:cNvSpPr txBox="1"/>
          <p:nvPr/>
        </p:nvSpPr>
        <p:spPr>
          <a:xfrm>
            <a:off x="1028700" y="3592961"/>
            <a:ext cx="16230600" cy="2092325"/>
          </a:xfrm>
          <a:prstGeom prst="rect">
            <a:avLst/>
          </a:prstGeom>
          <a:noFill/>
          <a:ln>
            <a:noFill/>
          </a:ln>
        </p:spPr>
        <p:txBody>
          <a:bodyPr spcFirstLastPara="1" wrap="square" lIns="0" tIns="0" rIns="0" bIns="0" anchor="t" anchorCtr="0">
            <a:spAutoFit/>
          </a:bodyPr>
          <a:lstStyle/>
          <a:p>
            <a:pPr marL="0" marR="0" lvl="0" indent="0" algn="ctr" rtl="0">
              <a:lnSpc>
                <a:spcPct val="130002"/>
              </a:lnSpc>
              <a:spcBef>
                <a:spcPts val="0"/>
              </a:spcBef>
              <a:spcAft>
                <a:spcPts val="0"/>
              </a:spcAft>
              <a:buNone/>
            </a:pPr>
            <a:r>
              <a:rPr lang="en-US" sz="12999" b="1" i="0" u="none" strike="noStrike" cap="none">
                <a:solidFill>
                  <a:srgbClr val="E5D6A8"/>
                </a:solidFill>
                <a:latin typeface="Libre Baskerville"/>
                <a:ea typeface="Libre Baskerville"/>
                <a:cs typeface="Libre Baskerville"/>
                <a:sym typeface="Libre Baskerville"/>
              </a:rPr>
              <a:t>Thank You!</a:t>
            </a:r>
            <a:endParaRPr/>
          </a:p>
        </p:txBody>
      </p:sp>
      <p:sp>
        <p:nvSpPr>
          <p:cNvPr id="508" name="Google Shape;508;p29"/>
          <p:cNvSpPr txBox="1"/>
          <p:nvPr/>
        </p:nvSpPr>
        <p:spPr>
          <a:xfrm>
            <a:off x="4075608" y="6068564"/>
            <a:ext cx="10136700" cy="59247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3500" i="0" u="none" strike="noStrike" cap="none" dirty="0">
                <a:solidFill>
                  <a:srgbClr val="FFFDFC"/>
                </a:solidFill>
                <a:latin typeface="Poppins"/>
                <a:ea typeface="Poppins"/>
                <a:cs typeface="Poppins"/>
                <a:sym typeface="Poppins"/>
              </a:rPr>
              <a:t>IMDB Movie Analysis</a:t>
            </a:r>
            <a:endParaRPr lang="en-US" dirty="0">
              <a:latin typeface="Poppins"/>
              <a:ea typeface="Poppins"/>
              <a:cs typeface="Poppins"/>
              <a:sym typeface="Poppins"/>
            </a:endParaRPr>
          </a:p>
        </p:txBody>
      </p:sp>
    </p:spTree>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246</TotalTime>
  <Words>648</Words>
  <Application>Microsoft Office PowerPoint</Application>
  <PresentationFormat>Custom</PresentationFormat>
  <Paragraphs>125</Paragraphs>
  <Slides>22</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Libre Baskerville</vt:lpstr>
      <vt:lpstr>Times New Roman</vt:lpstr>
      <vt:lpstr>Arial</vt:lpstr>
      <vt:lpstr>Calibri</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Key Insights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Mohak Shah</dc:creator>
  <cp:lastModifiedBy>Mohak Shah</cp:lastModifiedBy>
  <cp:revision>10</cp:revision>
  <dcterms:modified xsi:type="dcterms:W3CDTF">2025-01-30T15:20:32Z</dcterms:modified>
</cp:coreProperties>
</file>