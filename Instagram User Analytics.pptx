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2" r:id="rId6"/>
    <p:sldId id="281" r:id="rId7"/>
    <p:sldId id="283" r:id="rId8"/>
    <p:sldId id="284" r:id="rId9"/>
    <p:sldId id="285" r:id="rId10"/>
    <p:sldId id="286" r:id="rId11"/>
    <p:sldId id="288" r:id="rId12"/>
    <p:sldId id="287" r:id="rId13"/>
    <p:sldId id="289" r:id="rId14"/>
    <p:sldId id="290" r:id="rId15"/>
    <p:sldId id="291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19" autoAdjust="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5dL3WArGy5GbH5o1BWIwy12wdPZj60hO?usp=drive_lin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Instagram User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>
                <a:solidFill>
                  <a:srgbClr val="5792BA"/>
                </a:solidFill>
              </a:rPr>
              <a:t>Using SQL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9395F-FCE7-CC78-72C5-649232EB0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4426807"/>
          </a:xfrm>
        </p:spPr>
        <p:txBody>
          <a:bodyPr/>
          <a:lstStyle/>
          <a:p>
            <a:r>
              <a:rPr lang="en-IN" b="1" u="sng" dirty="0"/>
              <a:t>Purpose</a:t>
            </a:r>
          </a:p>
          <a:p>
            <a:pPr lvl="3"/>
            <a:r>
              <a:rPr lang="en-IN" sz="2000" dirty="0"/>
              <a:t> To </a:t>
            </a:r>
            <a:r>
              <a:rPr lang="en-IN" sz="2000" dirty="0" err="1"/>
              <a:t>analyze</a:t>
            </a:r>
            <a:r>
              <a:rPr lang="en-IN" sz="2000" dirty="0"/>
              <a:t> Instagram user data for marketing and investor insights.</a:t>
            </a:r>
          </a:p>
          <a:p>
            <a:pPr lvl="3"/>
            <a:r>
              <a:rPr lang="en-US" sz="2000" dirty="0"/>
              <a:t> Provide actionable recommendations to improve user platform performance.</a:t>
            </a:r>
          </a:p>
          <a:p>
            <a:pPr marL="1170000" lvl="3" indent="0">
              <a:buNone/>
            </a:pPr>
            <a:endParaRPr lang="en-IN" sz="2000" dirty="0"/>
          </a:p>
          <a:p>
            <a:r>
              <a:rPr lang="en-IN" b="1" u="sng" dirty="0"/>
              <a:t>Key Tasks</a:t>
            </a:r>
          </a:p>
          <a:p>
            <a:pPr lvl="3"/>
            <a:r>
              <a:rPr lang="en-IN" sz="2000" dirty="0"/>
              <a:t> Marketing Analysis</a:t>
            </a:r>
          </a:p>
          <a:p>
            <a:pPr lvl="3"/>
            <a:r>
              <a:rPr lang="en-IN" sz="2000" dirty="0"/>
              <a:t> Investor Metrics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BAE54A-A2E6-A1E6-21F2-2758FD7F47AC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Project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00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7092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Tech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83AF2-534D-2B29-7C64-867AABFEF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3"/>
            <a:ext cx="10353762" cy="5250592"/>
          </a:xfrm>
        </p:spPr>
        <p:txBody>
          <a:bodyPr>
            <a:normAutofit/>
          </a:bodyPr>
          <a:lstStyle/>
          <a:p>
            <a:r>
              <a:rPr lang="en-US" b="1" u="sng" dirty="0"/>
              <a:t>MySQL Workbench 8.0 CE </a:t>
            </a:r>
          </a:p>
          <a:p>
            <a:pPr lvl="3"/>
            <a:r>
              <a:rPr lang="en-IN" sz="2000" dirty="0"/>
              <a:t> For running SQL queries.</a:t>
            </a:r>
          </a:p>
          <a:p>
            <a:pPr lvl="3"/>
            <a:r>
              <a:rPr lang="en-IN" sz="2000" dirty="0"/>
              <a:t> Easy-to-Use Interface for query execution.</a:t>
            </a:r>
          </a:p>
          <a:p>
            <a:pPr lvl="3"/>
            <a:endParaRPr lang="en-US" sz="2000" dirty="0"/>
          </a:p>
          <a:p>
            <a:r>
              <a:rPr lang="en-US" b="1" u="sng" dirty="0"/>
              <a:t>MySQL Shell </a:t>
            </a:r>
          </a:p>
          <a:p>
            <a:pPr lvl="3"/>
            <a:r>
              <a:rPr lang="en-US" sz="2400" dirty="0"/>
              <a:t> </a:t>
            </a:r>
            <a:r>
              <a:rPr lang="en-US" sz="2000" dirty="0"/>
              <a:t>Efficient for database management and querying.</a:t>
            </a:r>
          </a:p>
          <a:p>
            <a:pPr lvl="3"/>
            <a:r>
              <a:rPr lang="en-US" sz="2000" dirty="0"/>
              <a:t> Simple for capturing analysis. </a:t>
            </a:r>
          </a:p>
          <a:p>
            <a:pPr lvl="3"/>
            <a:endParaRPr lang="en-US" dirty="0"/>
          </a:p>
          <a:p>
            <a:r>
              <a:rPr lang="en-US" b="1" u="sng" dirty="0"/>
              <a:t>Microsoft PowerPoint </a:t>
            </a:r>
          </a:p>
          <a:p>
            <a:pPr lvl="3"/>
            <a:r>
              <a:rPr lang="en-IN" sz="2000" dirty="0"/>
              <a:t>For presenting report.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25A7B-9B79-291E-85C7-66F2A44D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5386516"/>
          </a:xfrm>
        </p:spPr>
        <p:txBody>
          <a:bodyPr>
            <a:normAutofit/>
          </a:bodyPr>
          <a:lstStyle/>
          <a:p>
            <a:r>
              <a:rPr lang="en-US" b="1" u="sng" dirty="0"/>
              <a:t>Loyal User Reward </a:t>
            </a:r>
          </a:p>
          <a:p>
            <a:pPr lvl="3"/>
            <a:r>
              <a:rPr lang="en-US" sz="2000" b="1" dirty="0"/>
              <a:t> Goal</a:t>
            </a:r>
            <a:r>
              <a:rPr lang="en-US" sz="2000" dirty="0"/>
              <a:t>: Identify the 5 oldest users on Instagram.</a:t>
            </a:r>
          </a:p>
          <a:p>
            <a:pPr lvl="3"/>
            <a:r>
              <a:rPr lang="en-IN" sz="2000" b="1" dirty="0"/>
              <a:t> SQL Query And Output :</a:t>
            </a:r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marL="36900" indent="0">
              <a:buNone/>
            </a:pPr>
            <a:endParaRPr lang="en-US" b="1" dirty="0"/>
          </a:p>
          <a:p>
            <a:r>
              <a:rPr lang="en-US" b="1" dirty="0"/>
              <a:t>Insight</a:t>
            </a:r>
          </a:p>
          <a:p>
            <a:pPr lvl="3"/>
            <a:r>
              <a:rPr lang="en-US" sz="2000" dirty="0"/>
              <a:t> The oldest users can be rewarded to improve loyalty and engagement.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34A326-A084-72D4-3D47-AC656D97EB7B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SQL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24ECE-2A8A-7940-1435-9B764CBA1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3" y="3022600"/>
            <a:ext cx="10353762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46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9AE4-89B5-0CA6-6D58-4A14016E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5DAEB-6FA4-26E3-4F5A-DFC551277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5386516"/>
          </a:xfrm>
        </p:spPr>
        <p:txBody>
          <a:bodyPr>
            <a:normAutofit/>
          </a:bodyPr>
          <a:lstStyle/>
          <a:p>
            <a:r>
              <a:rPr lang="en-IN" b="1" u="sng" dirty="0"/>
              <a:t>Inactive User Engagement</a:t>
            </a:r>
          </a:p>
          <a:p>
            <a:pPr lvl="3"/>
            <a:r>
              <a:rPr lang="en-US" sz="2000" b="1" dirty="0"/>
              <a:t> Goal</a:t>
            </a:r>
            <a:r>
              <a:rPr lang="en-US" sz="2000" dirty="0"/>
              <a:t>: Identify users who have never posted a photo</a:t>
            </a:r>
            <a:r>
              <a:rPr lang="en-US" sz="1300" dirty="0"/>
              <a:t>.</a:t>
            </a:r>
          </a:p>
          <a:p>
            <a:pPr lvl="3"/>
            <a:r>
              <a:rPr lang="en-IN" sz="2000" b="1" dirty="0"/>
              <a:t> SQL Query And Output :</a:t>
            </a:r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marL="36900" indent="0">
              <a:buNone/>
            </a:pPr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2F5CA8-8A7B-F0A4-7B5D-296E3EB08A0E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SQL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59433-1364-B464-CB0E-086E8657B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3" y="2928551"/>
            <a:ext cx="10343114" cy="362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0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FB54-F7D4-A79E-0DA4-BC2C17B4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8A30C-0838-253B-73DC-23EEFABD1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5386516"/>
          </a:xfrm>
        </p:spPr>
        <p:txBody>
          <a:bodyPr>
            <a:normAutofit/>
          </a:bodyPr>
          <a:lstStyle/>
          <a:p>
            <a:r>
              <a:rPr lang="en-IN" b="1" u="sng" dirty="0"/>
              <a:t>Contest Winner Declaration</a:t>
            </a:r>
          </a:p>
          <a:p>
            <a:pPr lvl="3"/>
            <a:r>
              <a:rPr lang="en-US" sz="2000" b="1" dirty="0"/>
              <a:t> Goal</a:t>
            </a:r>
            <a:r>
              <a:rPr lang="en-US" sz="2000" dirty="0"/>
              <a:t>: Find the user with the most likes on a single photo.</a:t>
            </a:r>
          </a:p>
          <a:p>
            <a:pPr lvl="3"/>
            <a:r>
              <a:rPr lang="en-IN" sz="2000" b="1" dirty="0"/>
              <a:t> SQL Query And Output :</a:t>
            </a:r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marL="36900" indent="0">
              <a:buNone/>
            </a:pPr>
            <a:endParaRPr lang="en-US" b="1" dirty="0"/>
          </a:p>
          <a:p>
            <a:r>
              <a:rPr lang="en-US" b="1" dirty="0"/>
              <a:t>Insight</a:t>
            </a:r>
          </a:p>
          <a:p>
            <a:pPr lvl="3"/>
            <a:r>
              <a:rPr lang="en-US" sz="2000" dirty="0"/>
              <a:t> This user can be declared as the contest winner.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7B0539-79F0-E430-A96F-DCE31A4CCD23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SQL Tasks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F4102A-91B5-4916-3F20-9E03F44D2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4" y="3197911"/>
            <a:ext cx="10353763" cy="167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9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A712E-952A-22F3-2C80-9464982B4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1A46-111A-F880-B6C2-010CE9F5B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5386516"/>
          </a:xfrm>
        </p:spPr>
        <p:txBody>
          <a:bodyPr>
            <a:normAutofit/>
          </a:bodyPr>
          <a:lstStyle/>
          <a:p>
            <a:r>
              <a:rPr lang="en-IN" b="1" u="sng" dirty="0"/>
              <a:t>Tag Research</a:t>
            </a:r>
          </a:p>
          <a:p>
            <a:pPr lvl="3"/>
            <a:r>
              <a:rPr lang="en-US" sz="2000" b="1" dirty="0"/>
              <a:t> Goal</a:t>
            </a:r>
            <a:r>
              <a:rPr lang="en-US" sz="2000" dirty="0"/>
              <a:t>: Identify the top 5 most commonly used tags.</a:t>
            </a:r>
            <a:r>
              <a:rPr lang="en-IN" sz="2000" b="1" dirty="0"/>
              <a:t> </a:t>
            </a:r>
          </a:p>
          <a:p>
            <a:pPr lvl="3"/>
            <a:r>
              <a:rPr lang="en-IN" sz="2000" b="1" dirty="0"/>
              <a:t> SQL Query And Output :</a:t>
            </a:r>
          </a:p>
          <a:p>
            <a:pPr marL="1458000" lvl="4" indent="0">
              <a:buNone/>
            </a:pPr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marL="36900" indent="0">
              <a:buNone/>
            </a:pPr>
            <a:endParaRPr lang="en-US" b="1" dirty="0"/>
          </a:p>
          <a:p>
            <a:r>
              <a:rPr lang="en-US" b="1" dirty="0"/>
              <a:t>Insight</a:t>
            </a:r>
          </a:p>
          <a:p>
            <a:pPr lvl="3"/>
            <a:r>
              <a:rPr lang="en-US" sz="2000" dirty="0"/>
              <a:t> These tags are most effective for reaching a wider audience.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153403A-FD6C-DA0C-9DDF-AF4652E06B4D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SQL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F64A3-8309-DA14-F9ED-56525937F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1"/>
          <a:stretch/>
        </p:blipFill>
        <p:spPr>
          <a:xfrm>
            <a:off x="913795" y="2957382"/>
            <a:ext cx="10353762" cy="219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2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32E74-BB18-E3F7-3750-88B09900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E5ADF-8C93-8F45-336A-16A69B61E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5386516"/>
          </a:xfrm>
        </p:spPr>
        <p:txBody>
          <a:bodyPr>
            <a:normAutofit/>
          </a:bodyPr>
          <a:lstStyle/>
          <a:p>
            <a:r>
              <a:rPr lang="en-IN" b="1" u="sng" dirty="0"/>
              <a:t>Ad Campaign Launch</a:t>
            </a:r>
          </a:p>
          <a:p>
            <a:pPr lvl="3"/>
            <a:r>
              <a:rPr lang="en-US" sz="2000" b="1" dirty="0"/>
              <a:t> Goal</a:t>
            </a:r>
            <a:r>
              <a:rPr lang="en-US" sz="2000" dirty="0"/>
              <a:t>: Determine the best day for ad campaigns (based on user registration).</a:t>
            </a:r>
            <a:r>
              <a:rPr lang="en-IN" sz="2000" b="1" dirty="0"/>
              <a:t> </a:t>
            </a:r>
          </a:p>
          <a:p>
            <a:pPr lvl="3"/>
            <a:r>
              <a:rPr lang="en-IN" sz="2000" b="1" dirty="0"/>
              <a:t> SQL Query And Output :</a:t>
            </a:r>
          </a:p>
          <a:p>
            <a:pPr marL="1458000" lvl="4" indent="0">
              <a:buNone/>
            </a:pPr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marL="36900" indent="0">
              <a:buNone/>
            </a:pPr>
            <a:endParaRPr lang="en-US" b="1" dirty="0"/>
          </a:p>
          <a:p>
            <a:r>
              <a:rPr lang="en-US" b="1" dirty="0"/>
              <a:t>Insight</a:t>
            </a:r>
          </a:p>
          <a:p>
            <a:pPr lvl="3"/>
            <a:r>
              <a:rPr lang="en-US" sz="2000" dirty="0"/>
              <a:t> Ads should be launched on the day with the highest registrations.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41AD99-1407-38EE-8BF1-80F59D8A9665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SQL Tasks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51EB64-151C-3C86-A005-27951C989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3044825"/>
            <a:ext cx="10353762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56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A6C9-5311-494B-7C0B-89FBA2C8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B5FF3-930F-FD37-5C0B-BF93ECD01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5386516"/>
          </a:xfrm>
        </p:spPr>
        <p:txBody>
          <a:bodyPr>
            <a:normAutofit/>
          </a:bodyPr>
          <a:lstStyle/>
          <a:p>
            <a:r>
              <a:rPr lang="en-IN" b="1" u="sng" dirty="0"/>
              <a:t>User Engagement Metrics</a:t>
            </a:r>
          </a:p>
          <a:p>
            <a:pPr lvl="3"/>
            <a:r>
              <a:rPr lang="en-US" sz="2000" b="1" dirty="0"/>
              <a:t> Goal</a:t>
            </a:r>
            <a:r>
              <a:rPr lang="en-US" sz="2000" dirty="0"/>
              <a:t>: Calculate average posts per user.</a:t>
            </a:r>
          </a:p>
          <a:p>
            <a:pPr lvl="3"/>
            <a:r>
              <a:rPr lang="en-US" sz="2000" b="1" dirty="0"/>
              <a:t> </a:t>
            </a:r>
            <a:r>
              <a:rPr lang="en-IN" sz="2000" b="1" dirty="0"/>
              <a:t>SQL Query And Output :</a:t>
            </a:r>
          </a:p>
          <a:p>
            <a:pPr marL="1458000" lvl="4" indent="0">
              <a:buNone/>
            </a:pPr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marL="36900" indent="0">
              <a:buNone/>
            </a:pPr>
            <a:endParaRPr lang="en-US" b="1" dirty="0"/>
          </a:p>
          <a:p>
            <a:r>
              <a:rPr lang="en-US" b="1" dirty="0"/>
              <a:t>Insight</a:t>
            </a:r>
          </a:p>
          <a:p>
            <a:pPr lvl="3"/>
            <a:r>
              <a:rPr lang="en-US" sz="2000" dirty="0"/>
              <a:t> Provides investor insight into user activity and engagement levels.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D2BDDB-00C4-C97C-DF5C-CBA6A0939CBC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SQL Tasks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C17E46-663D-E46C-E6B4-7B6E3A166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3333750"/>
            <a:ext cx="10353762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49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8165-C3B7-5610-5153-0CC77010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A2D60-B94D-F8D4-77F8-1F3762C6C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5386516"/>
          </a:xfrm>
        </p:spPr>
        <p:txBody>
          <a:bodyPr>
            <a:normAutofit/>
          </a:bodyPr>
          <a:lstStyle/>
          <a:p>
            <a:r>
              <a:rPr lang="en-IN" b="1" u="sng" dirty="0"/>
              <a:t>Bots and Fake Accounts</a:t>
            </a:r>
          </a:p>
          <a:p>
            <a:pPr lvl="3"/>
            <a:r>
              <a:rPr lang="en-US" sz="2000" b="1" dirty="0"/>
              <a:t> Goal</a:t>
            </a:r>
            <a:r>
              <a:rPr lang="en-US" sz="2000" dirty="0"/>
              <a:t>: Identify potential bots liking every photo.</a:t>
            </a:r>
          </a:p>
          <a:p>
            <a:pPr lvl="3"/>
            <a:r>
              <a:rPr lang="en-US" sz="2000" b="1" dirty="0"/>
              <a:t> </a:t>
            </a:r>
            <a:r>
              <a:rPr lang="en-IN" sz="2000" b="1" dirty="0"/>
              <a:t>SQL Query And Output :</a:t>
            </a:r>
          </a:p>
          <a:p>
            <a:pPr marL="1458000" lvl="4" indent="0">
              <a:buNone/>
            </a:pPr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lvl="4"/>
            <a:endParaRPr lang="en-IN" b="1" dirty="0"/>
          </a:p>
          <a:p>
            <a:pPr marL="36900" indent="0">
              <a:buNone/>
            </a:pPr>
            <a:endParaRPr lang="en-US" b="1" dirty="0"/>
          </a:p>
          <a:p>
            <a:r>
              <a:rPr lang="en-US" b="1" dirty="0"/>
              <a:t>Insight</a:t>
            </a:r>
          </a:p>
          <a:p>
            <a:pPr lvl="3"/>
            <a:r>
              <a:rPr lang="en-US" sz="2000" dirty="0"/>
              <a:t> These users are likely bots and need further investigation.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E77A51-07D5-B063-7440-6DFB5174DD49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SQL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0F811-4A28-AF78-CE2E-7FF7BBF46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3" y="2842054"/>
            <a:ext cx="10343114" cy="252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82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CBE14-5D6C-1287-50BE-8C3040D09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4392"/>
            <a:ext cx="10353762" cy="4426807"/>
          </a:xfrm>
        </p:spPr>
        <p:txBody>
          <a:bodyPr/>
          <a:lstStyle/>
          <a:p>
            <a:r>
              <a:rPr lang="en-IN" b="1" u="sng" dirty="0"/>
              <a:t>Marketing Insights</a:t>
            </a:r>
          </a:p>
          <a:p>
            <a:pPr lvl="3"/>
            <a:r>
              <a:rPr lang="en-US" sz="2000" dirty="0"/>
              <a:t> Reward the oldest users to foster loyalty.</a:t>
            </a:r>
            <a:endParaRPr lang="en-IN" sz="2000" dirty="0"/>
          </a:p>
          <a:p>
            <a:pPr lvl="3"/>
            <a:r>
              <a:rPr lang="en-US" sz="2000" dirty="0"/>
              <a:t> Use top hashtags to increase engagement.</a:t>
            </a:r>
            <a:endParaRPr lang="en-IN" sz="2000" dirty="0"/>
          </a:p>
          <a:p>
            <a:pPr lvl="3"/>
            <a:r>
              <a:rPr lang="en-US" sz="2000" dirty="0"/>
              <a:t> Send targeted campaigns to inactive users.</a:t>
            </a:r>
            <a:endParaRPr lang="en-IN" sz="2000" dirty="0"/>
          </a:p>
          <a:p>
            <a:pPr lvl="3"/>
            <a:endParaRPr lang="en-IN" dirty="0"/>
          </a:p>
          <a:p>
            <a:r>
              <a:rPr lang="en-IN" b="1" u="sng" dirty="0"/>
              <a:t>Investor Insights</a:t>
            </a:r>
          </a:p>
          <a:p>
            <a:pPr lvl="3"/>
            <a:r>
              <a:rPr lang="en-US" sz="2000" dirty="0"/>
              <a:t> Average posts per user provide engagement benchmarks.</a:t>
            </a:r>
            <a:endParaRPr lang="en-IN" sz="2000" b="1" dirty="0"/>
          </a:p>
          <a:p>
            <a:pPr lvl="3"/>
            <a:r>
              <a:rPr lang="en-US" sz="2000" dirty="0"/>
              <a:t> Identification of potential bots ensures platform integrity.</a:t>
            </a:r>
          </a:p>
          <a:p>
            <a:pPr lvl="3"/>
            <a:r>
              <a:rPr lang="en-US" sz="2000" dirty="0"/>
              <a:t> Peak registration day is ideal for ad launches.</a:t>
            </a:r>
            <a:endParaRPr lang="en-IN" sz="2000" b="1" dirty="0"/>
          </a:p>
          <a:p>
            <a:pPr lvl="2"/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70000" lvl="3" indent="0">
              <a:buNone/>
            </a:pPr>
            <a:endParaRPr lang="en-IN" b="1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FD3730A-A0FA-C60F-609D-37AA84EC5172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Key Insights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869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C2153-2883-5165-48BF-1AB12333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5741-2885-7635-11FE-DDBB51C8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05232"/>
            <a:ext cx="10353762" cy="42754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Successfully analyzed Instagram user data using SQL.</a:t>
            </a:r>
          </a:p>
          <a:p>
            <a:endParaRPr lang="en-US" sz="2400" dirty="0"/>
          </a:p>
          <a:p>
            <a:r>
              <a:rPr lang="en-US" sz="2400" dirty="0"/>
              <a:t>Delivered actionable insights for the </a:t>
            </a:r>
            <a:r>
              <a:rPr lang="en-US" sz="2400" b="1" dirty="0"/>
              <a:t>marketing team</a:t>
            </a:r>
            <a:r>
              <a:rPr lang="en-US" sz="2400" dirty="0"/>
              <a:t> and </a:t>
            </a:r>
            <a:r>
              <a:rPr lang="en-US" sz="2400" b="1" dirty="0"/>
              <a:t>investors.</a:t>
            </a:r>
          </a:p>
          <a:p>
            <a:endParaRPr lang="en-US" sz="2400" b="1" dirty="0"/>
          </a:p>
          <a:p>
            <a:r>
              <a:rPr lang="en-US" sz="2400" dirty="0"/>
              <a:t>Gained hands-on experience with MySQL Workbench</a:t>
            </a:r>
            <a:r>
              <a:rPr lang="en-US" sz="2400" b="1" dirty="0"/>
              <a:t> </a:t>
            </a:r>
            <a:r>
              <a:rPr lang="en-US" sz="2400" dirty="0"/>
              <a:t>and MySQL Shell</a:t>
            </a:r>
            <a:r>
              <a:rPr lang="en-US" sz="2400" b="1" dirty="0"/>
              <a:t>.</a:t>
            </a:r>
          </a:p>
          <a:p>
            <a:endParaRPr lang="en-US" sz="2400" b="1" dirty="0"/>
          </a:p>
          <a:p>
            <a:r>
              <a:rPr lang="en-US" sz="2400" dirty="0"/>
              <a:t>Learned about data-driven decision-making for user engagement and business growth</a:t>
            </a:r>
            <a:r>
              <a:rPr lang="en-US" sz="2400" b="1" dirty="0"/>
              <a:t>.</a:t>
            </a:r>
            <a:endParaRPr lang="en-IN" sz="2400" b="1" dirty="0"/>
          </a:p>
          <a:p>
            <a:pPr lvl="2"/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70000" lvl="3" indent="0">
              <a:buNone/>
            </a:pPr>
            <a:endParaRPr lang="en-IN" b="1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23C20A-AF5C-33EF-ACE3-DAB4E5DA6C9F}"/>
              </a:ext>
            </a:extLst>
          </p:cNvPr>
          <p:cNvSpPr txBox="1">
            <a:spLocks/>
          </p:cNvSpPr>
          <p:nvPr/>
        </p:nvSpPr>
        <p:spPr>
          <a:xfrm>
            <a:off x="913795" y="107092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Results and Achievements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84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3D51-CF9A-42E5-30EA-E052931B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8EAF1-C301-E80F-3CB0-5A765B32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492843"/>
            <a:ext cx="10353762" cy="889687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IN" dirty="0">
                <a:hlinkClick r:id="rId2"/>
              </a:rPr>
              <a:t>https://drive.google.com/drive/folders/15dL3WArGy5GbH5o1BWIwy12wdPZj60hO?usp=drive_link</a:t>
            </a:r>
            <a:endParaRPr lang="en-IN" dirty="0"/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6948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{45F11361-C30F-44CC-BC10-2D66D6530B66}tf11665031_win32</Template>
  <TotalTime>81</TotalTime>
  <Words>440</Words>
  <Application>Microsoft Office PowerPoint</Application>
  <PresentationFormat>Widescreen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Nova</vt:lpstr>
      <vt:lpstr>Arial Nova Light</vt:lpstr>
      <vt:lpstr>Wingdings 2</vt:lpstr>
      <vt:lpstr>SlateVTI</vt:lpstr>
      <vt:lpstr>Instagram User Analytics</vt:lpstr>
      <vt:lpstr>PowerPoint Presentation</vt:lpstr>
      <vt:lpstr>Tech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Drive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Mohak Shah</dc:creator>
  <cp:lastModifiedBy>Mohak Shah</cp:lastModifiedBy>
  <cp:revision>3</cp:revision>
  <dcterms:created xsi:type="dcterms:W3CDTF">2024-12-17T09:07:29Z</dcterms:created>
  <dcterms:modified xsi:type="dcterms:W3CDTF">2024-12-17T10:32:25Z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