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2" r:id="rId7"/>
    <p:sldId id="260" r:id="rId8"/>
    <p:sldId id="258" r:id="rId9"/>
    <p:sldId id="261" r:id="rId10"/>
    <p:sldId id="283" r:id="rId11"/>
    <p:sldId id="290" r:id="rId12"/>
    <p:sldId id="264" r:id="rId13"/>
    <p:sldId id="286" r:id="rId14"/>
    <p:sldId id="287" r:id="rId15"/>
    <p:sldId id="288" r:id="rId16"/>
    <p:sldId id="289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B7C6"/>
    <a:srgbClr val="103350"/>
    <a:srgbClr val="0C4360"/>
    <a:srgbClr val="1B6872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66" d="100"/>
          <a:sy n="66" d="100"/>
        </p:scale>
        <p:origin x="1238" y="7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2/14/2025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2/14/2025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previous_application.csv" TargetMode="External"/><Relationship Id="rId2" Type="http://schemas.openxmlformats.org/officeDocument/2006/relationships/hyperlink" Target="application_data.csv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2638802"/>
            <a:ext cx="7077456" cy="1243584"/>
          </a:xfrm>
        </p:spPr>
        <p:txBody>
          <a:bodyPr/>
          <a:lstStyle/>
          <a:p>
            <a:r>
              <a:rPr lang="en-US" dirty="0"/>
              <a:t>Bank Loan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976253"/>
            <a:ext cx="7077456" cy="8686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Mohak Shah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 Used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Title</a:t>
            </a:r>
          </a:p>
        </p:txBody>
      </p:sp>
      <p:pic>
        <p:nvPicPr>
          <p:cNvPr id="25" name="Picture Placeholder 24" descr="Bar chart">
            <a:extLst>
              <a:ext uri="{FF2B5EF4-FFF2-40B4-BE49-F238E27FC236}">
                <a16:creationId xmlns:a16="http://schemas.microsoft.com/office/drawing/2014/main" id="{C03AAFA7-022A-47F8-9DA1-7DC3897D1E5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3" b="63"/>
          <a:stretch>
            <a:fillRect/>
          </a:stretch>
        </p:blipFill>
        <p:spPr>
          <a:xfrm>
            <a:off x="978212" y="2096716"/>
            <a:ext cx="1259505" cy="1259505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Matplotlib and Seaborn for Data </a:t>
            </a:r>
            <a:r>
              <a:rPr lang="en-US" dirty="0" err="1"/>
              <a:t>Visulizations</a:t>
            </a:r>
            <a:endParaRPr lang="en-US" dirty="0"/>
          </a:p>
        </p:txBody>
      </p:sp>
      <p:pic>
        <p:nvPicPr>
          <p:cNvPr id="27" name="Picture Placeholder 26" descr="Clock">
            <a:extLst>
              <a:ext uri="{FF2B5EF4-FFF2-40B4-BE49-F238E27FC236}">
                <a16:creationId xmlns:a16="http://schemas.microsoft.com/office/drawing/2014/main" id="{6F737161-FE67-434D-A781-59EDB9EDCB2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924A29-3538-4A3F-82A6-D2A7538C21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702297"/>
          </a:xfrm>
        </p:spPr>
        <p:txBody>
          <a:bodyPr/>
          <a:lstStyle/>
          <a:p>
            <a:r>
              <a:rPr lang="en-US" dirty="0"/>
              <a:t>Python : to do Exploratory Data Analysis</a:t>
            </a:r>
          </a:p>
          <a:p>
            <a:endParaRPr lang="en-US" dirty="0"/>
          </a:p>
        </p:txBody>
      </p:sp>
      <p:pic>
        <p:nvPicPr>
          <p:cNvPr id="29" name="Picture Placeholder 28" descr="Microscope">
            <a:extLst>
              <a:ext uri="{FF2B5EF4-FFF2-40B4-BE49-F238E27FC236}">
                <a16:creationId xmlns:a16="http://schemas.microsoft.com/office/drawing/2014/main" id="{9E5BF01B-21D6-4D43-9CAE-0298685C1A7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Spreadsheets for Data Manipulation</a:t>
            </a:r>
          </a:p>
        </p:txBody>
      </p:sp>
      <p:pic>
        <p:nvPicPr>
          <p:cNvPr id="31" name="Picture Placeholder 30" descr="Magnifying glass">
            <a:extLst>
              <a:ext uri="{FF2B5EF4-FFF2-40B4-BE49-F238E27FC236}">
                <a16:creationId xmlns:a16="http://schemas.microsoft.com/office/drawing/2014/main" id="{089E8AB6-C16E-4752-810F-8F98DB929DB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8CACAF1-61EA-4605-A8FE-2EEE752B49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535531"/>
          </a:xfrm>
        </p:spPr>
        <p:txBody>
          <a:bodyPr/>
          <a:lstStyle/>
          <a:p>
            <a:r>
              <a:rPr lang="en-US" dirty="0"/>
              <a:t>Findings are done on Bank Loan Data</a:t>
            </a:r>
          </a:p>
        </p:txBody>
      </p:sp>
      <p:pic>
        <p:nvPicPr>
          <p:cNvPr id="33" name="Picture Placeholder 32" descr="Head with Gears">
            <a:extLst>
              <a:ext uri="{FF2B5EF4-FFF2-40B4-BE49-F238E27FC236}">
                <a16:creationId xmlns:a16="http://schemas.microsoft.com/office/drawing/2014/main" id="{CC9DBBE5-5AD0-41E8-A719-84509E5D9F9E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D05A34F-7712-46DB-AB5B-272E294B62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250884"/>
          </a:xfrm>
        </p:spPr>
        <p:txBody>
          <a:bodyPr/>
          <a:lstStyle/>
          <a:p>
            <a:r>
              <a:rPr lang="en-US" dirty="0" err="1"/>
              <a:t>Trainity</a:t>
            </a:r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D9B117-D2FB-EFFA-130E-49C3F10BAA10}"/>
              </a:ext>
            </a:extLst>
          </p:cNvPr>
          <p:cNvSpPr/>
          <p:nvPr/>
        </p:nvSpPr>
        <p:spPr>
          <a:xfrm>
            <a:off x="928337" y="3588774"/>
            <a:ext cx="2886579" cy="684839"/>
          </a:xfrm>
          <a:prstGeom prst="rect">
            <a:avLst/>
          </a:prstGeom>
          <a:solidFill>
            <a:srgbClr val="63B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📌 </a:t>
            </a:r>
            <a:r>
              <a:rPr lang="en-US" b="1" dirty="0"/>
              <a:t>What is Exploratory Data Analysis (EDA)?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EDA helps us understand data before applying machine learning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involves handling missing values, visualizing distributions, and identifying key patterns.</a:t>
            </a:r>
          </a:p>
          <a:p>
            <a:r>
              <a:rPr lang="en-US" dirty="0"/>
              <a:t>📌 </a:t>
            </a:r>
            <a:r>
              <a:rPr lang="en-US" b="1" dirty="0"/>
              <a:t>Datasets Used:</a:t>
            </a:r>
          </a:p>
          <a:p>
            <a:pPr marL="457200" lvl="1" indent="0">
              <a:buNone/>
            </a:pPr>
            <a:r>
              <a:rPr lang="en-US" b="1" dirty="0">
                <a:hlinkClick r:id="rId2" action="ppaction://hlinkfile"/>
              </a:rPr>
              <a:t>Application_data.csv</a:t>
            </a:r>
            <a:endParaRPr lang="en-US" b="1" dirty="0"/>
          </a:p>
          <a:p>
            <a:pPr marL="457200" lvl="1" indent="0">
              <a:buNone/>
            </a:pPr>
            <a:r>
              <a:rPr lang="en-US" b="1" dirty="0">
                <a:hlinkClick r:id="rId3" action="ppaction://hlinkfile"/>
              </a:rPr>
              <a:t>Previous_application.csv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Application Data</a:t>
            </a:r>
            <a:r>
              <a:rPr lang="en-US" dirty="0"/>
              <a:t> → Current loan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Previous Application Data</a:t>
            </a:r>
            <a:r>
              <a:rPr lang="en-US" dirty="0"/>
              <a:t> → Past loan applications of the same customers.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49533" y="1661345"/>
            <a:ext cx="4687939" cy="823912"/>
          </a:xfrm>
        </p:spPr>
        <p:txBody>
          <a:bodyPr/>
          <a:lstStyle/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Data: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Previous Application Data: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34475D0-B492-C88E-9BDF-A620890AD36A}"/>
              </a:ext>
            </a:extLst>
          </p:cNvPr>
          <p:cNvSpPr>
            <a:spLocks noGrp="1" noChangeArrowheads="1"/>
          </p:cNvSpPr>
          <p:nvPr>
            <p:ph type="body" sz="quarter" idx="2"/>
          </p:nvPr>
        </p:nvSpPr>
        <p:spPr bwMode="auto">
          <a:xfrm>
            <a:off x="1260987" y="2674350"/>
            <a:ext cx="4254909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rows: 50,000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columns: 122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SK_ID_CURR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AMT_INCOME_TOTAL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AMT_CREDIT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NAME_CONTRACT_TYPE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6E17BE7F-2612-399E-3B02-92141AC2B306}"/>
              </a:ext>
            </a:extLst>
          </p:cNvPr>
          <p:cNvSpPr>
            <a:spLocks noGrp="1" noChangeArrowheads="1"/>
          </p:cNvSpPr>
          <p:nvPr>
            <p:ph type="body" sz="quarter" idx="4"/>
          </p:nvPr>
        </p:nvSpPr>
        <p:spPr bwMode="auto">
          <a:xfrm>
            <a:off x="6676105" y="2674351"/>
            <a:ext cx="3274140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Number of rows: 50,000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Number of columns: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Key Features: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SK_ID_PREV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SK_ID_CURR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NAME_CONTRACT_STATUS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AMT_CREDIT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E7453A6-4563-1498-6738-012555E4C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Glimpse of Dataset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824761-6666-6001-2508-A31888017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4671"/>
            <a:ext cx="5732206" cy="304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EB56BED-CEB5-852E-97BA-630DB8140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304" y="3008671"/>
            <a:ext cx="5732206" cy="304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EC6902-E1BB-F852-1A1F-8FA1AB8E9053}"/>
              </a:ext>
            </a:extLst>
          </p:cNvPr>
          <p:cNvSpPr txBox="1"/>
          <p:nvPr/>
        </p:nvSpPr>
        <p:spPr>
          <a:xfrm>
            <a:off x="7964129" y="2094639"/>
            <a:ext cx="4227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Application Data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3310EC-712A-2075-17DD-F5FAF4C24351}"/>
              </a:ext>
            </a:extLst>
          </p:cNvPr>
          <p:cNvSpPr txBox="1"/>
          <p:nvPr/>
        </p:nvSpPr>
        <p:spPr>
          <a:xfrm>
            <a:off x="191729" y="4938886"/>
            <a:ext cx="4227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Data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E888-3D08-7782-2900-C11759BBA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Overview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BDD76-422C-38F5-22E7-B9AA878BD9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00" y="1965960"/>
            <a:ext cx="2981606" cy="146304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Missing Value Analysis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2A88E-4996-ED34-6D41-8CC9CF735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6457593-6312-0A86-3547-BBB53F0091E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71869" y="3912713"/>
            <a:ext cx="3108928" cy="146304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Handling Missing values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64E1D1-938F-12F0-69DB-747BA91214E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455777" y="1965960"/>
            <a:ext cx="3926228" cy="146304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Distribution and Outliers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A6211C-4CAC-C5B9-1B3B-52C1D9B49915}"/>
              </a:ext>
            </a:extLst>
          </p:cNvPr>
          <p:cNvSpPr txBox="1"/>
          <p:nvPr/>
        </p:nvSpPr>
        <p:spPr>
          <a:xfrm>
            <a:off x="7972546" y="3912713"/>
            <a:ext cx="2965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Correlation Data</a:t>
            </a:r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69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 Analysis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44A900-9F68-A2FE-D223-56EF8E724464}"/>
              </a:ext>
            </a:extLst>
          </p:cNvPr>
          <p:cNvSpPr>
            <a:spLocks noGrp="1" noChangeArrowheads="1"/>
          </p:cNvSpPr>
          <p:nvPr>
            <p:ph type="body" sz="quarter" idx="18"/>
          </p:nvPr>
        </p:nvSpPr>
        <p:spPr bwMode="auto">
          <a:xfrm>
            <a:off x="542095" y="4122453"/>
            <a:ext cx="4944305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in Application Data: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missing: </a:t>
            </a:r>
          </a:p>
          <a:p>
            <a:pPr marL="9715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OWN_CAR_AGE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65.9%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715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OCCUPATION_TYPE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31.3%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affected features: </a:t>
            </a:r>
          </a:p>
          <a:p>
            <a:pPr marL="9715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AMT_ANNUITY</a:t>
            </a:r>
          </a:p>
          <a:p>
            <a:pPr marL="9715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AMT_GOODS_PRICE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DF1FC3-1EC8-67A0-E113-E5A24000599A}"/>
              </a:ext>
            </a:extLst>
          </p:cNvPr>
          <p:cNvSpPr txBox="1"/>
          <p:nvPr/>
        </p:nvSpPr>
        <p:spPr>
          <a:xfrm>
            <a:off x="6615789" y="4122453"/>
            <a:ext cx="503411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in Previous Application Data: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missing: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RATE_INTEREST_PRIMARY(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99.67%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AMT_DOWN_PAYMENT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50.4%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affected features: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NAME_TYPE_SUITE,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CNT_PAYMENT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598D01A-7276-5DB8-5E23-C1EE05F9AF34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/>
          <a:srcRect t="-223" b="-11"/>
          <a:stretch/>
        </p:blipFill>
        <p:spPr>
          <a:xfrm>
            <a:off x="0" y="1376516"/>
            <a:ext cx="12192000" cy="2615418"/>
          </a:xfrm>
        </p:spPr>
      </p:pic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BC36DB5B-5AAB-CB8B-705B-5056B6368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D6AB7-4A55-572C-977B-C0623AD4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Missing Values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5E379-2925-C8FF-02A3-BD3C0A14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83CBED3-75CE-37E2-20FE-4441E8716D55}"/>
              </a:ext>
            </a:extLst>
          </p:cNvPr>
          <p:cNvSpPr>
            <a:spLocks noGrp="1" noChangeArrowheads="1"/>
          </p:cNvSpPr>
          <p:nvPr>
            <p:ph type="body" sz="quarter" idx="18"/>
          </p:nvPr>
        </p:nvSpPr>
        <p:spPr bwMode="auto">
          <a:xfrm>
            <a:off x="542094" y="4063675"/>
            <a:ext cx="378180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Filled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values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Categorical Features: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Filled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 ('Unknown')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6F981-C677-3992-8E36-196EDDF0161F}"/>
              </a:ext>
            </a:extLst>
          </p:cNvPr>
          <p:cNvSpPr txBox="1"/>
          <p:nvPr/>
        </p:nvSpPr>
        <p:spPr>
          <a:xfrm>
            <a:off x="6512117" y="4188882"/>
            <a:ext cx="500932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Code: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app_df.fillna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app_df.median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(),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inplace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=True)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prev_df.fillna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prev_df.median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(),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inplace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=True)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3" name="Picture Placeholder 5">
            <a:extLst>
              <a:ext uri="{FF2B5EF4-FFF2-40B4-BE49-F238E27FC236}">
                <a16:creationId xmlns:a16="http://schemas.microsoft.com/office/drawing/2014/main" id="{679B9F6C-B4E9-F201-E247-45E32F8D8C4E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/>
          <a:srcRect t="-577" b="692"/>
          <a:stretch/>
        </p:blipFill>
        <p:spPr>
          <a:xfrm>
            <a:off x="0" y="1352550"/>
            <a:ext cx="12192000" cy="2289175"/>
          </a:xfrm>
        </p:spPr>
      </p:pic>
    </p:spTree>
    <p:extLst>
      <p:ext uri="{BB962C8B-B14F-4D97-AF65-F5344CB8AC3E}">
        <p14:creationId xmlns:p14="http://schemas.microsoft.com/office/powerpoint/2010/main" val="3837539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1B4BA-DB1D-35F3-5C9A-563DA177B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3A97-65A1-054C-3C73-5443EB772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Distribution and Outliers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85706-0199-54A2-2B32-F4F917913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FB9EF-CAE6-9775-6738-0CC2FD3CB7D0}"/>
              </a:ext>
            </a:extLst>
          </p:cNvPr>
          <p:cNvSpPr txBox="1"/>
          <p:nvPr/>
        </p:nvSpPr>
        <p:spPr>
          <a:xfrm>
            <a:off x="6512117" y="4188882"/>
            <a:ext cx="500932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Detection: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 plots highlight extreme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applicants have very high incomes, affecting the data distribution.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C0FE300-F624-7602-F8B8-828F6D5603A4}"/>
              </a:ext>
            </a:extLst>
          </p:cNvPr>
          <p:cNvSpPr>
            <a:spLocks noGrp="1" noChangeArrowheads="1"/>
          </p:cNvSpPr>
          <p:nvPr>
            <p:ph type="body" sz="quarter" idx="18"/>
          </p:nvPr>
        </p:nvSpPr>
        <p:spPr bwMode="auto">
          <a:xfrm>
            <a:off x="541338" y="4202610"/>
            <a:ext cx="5456174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Visualizing Key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AMT_INCOME_TOTAL (Income distribution)</a:t>
            </a:r>
          </a:p>
          <a:p>
            <a:pPr marL="8572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AMT_CREDIT (Loan amount distribution)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202B3AA-85E5-6F62-760B-C9E1DD3AAC3A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/>
          <a:srcRect t="-72" b="311"/>
          <a:stretch/>
        </p:blipFill>
        <p:spPr>
          <a:xfrm>
            <a:off x="-2" y="1352575"/>
            <a:ext cx="6096002" cy="2289897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843881-5A4D-C8ED-80D9-4271F23AD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361310"/>
            <a:ext cx="6096002" cy="228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311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C5006-4D76-6F79-EB30-DF3EDCC37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7834-5C91-4578-C998-E12C5610F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AABCA-BAE1-2F82-26A8-D4D7AF330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3F4C22-7765-3467-2175-1DF8B5F2DD14}"/>
              </a:ext>
            </a:extLst>
          </p:cNvPr>
          <p:cNvSpPr txBox="1"/>
          <p:nvPr/>
        </p:nvSpPr>
        <p:spPr>
          <a:xfrm>
            <a:off x="6546841" y="3956389"/>
            <a:ext cx="500932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 Interpretation: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Darker colors show strong relationships.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the most relevant features for modeling.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D321C2-1E1F-B49C-7BED-21B2B7D64525}"/>
              </a:ext>
            </a:extLst>
          </p:cNvPr>
          <p:cNvSpPr>
            <a:spLocks noGrp="1" noChangeArrowheads="1"/>
          </p:cNvSpPr>
          <p:nvPr>
            <p:ph type="body" sz="quarter" idx="18"/>
          </p:nvPr>
        </p:nvSpPr>
        <p:spPr bwMode="auto">
          <a:xfrm>
            <a:off x="541338" y="3941000"/>
            <a:ext cx="539647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AMT_CREDIT is highly correlated with AMT_ANNUITY and AMT_GOODS_PRICE.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DAYS_BIRTH (age) has a moderate negative correlation with loan approval.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C557DFA-7C38-64A9-0B22-465FA58A20E6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/>
          <a:srcRect l="-57003" t="-114" r="-68101" b="-1512"/>
          <a:stretch/>
        </p:blipFill>
        <p:spPr>
          <a:xfrm>
            <a:off x="0" y="1373188"/>
            <a:ext cx="12147550" cy="2289175"/>
          </a:xfrm>
        </p:spPr>
      </p:pic>
    </p:spTree>
    <p:extLst>
      <p:ext uri="{BB962C8B-B14F-4D97-AF65-F5344CB8AC3E}">
        <p14:creationId xmlns:p14="http://schemas.microsoft.com/office/powerpoint/2010/main" val="2945053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C5A7E-45DA-9A30-53E1-CA739B484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 Summary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98F9E-95B3-49F7-747C-287F108C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8A04A4F-8005-1498-8D57-F7859B10D84F}"/>
              </a:ext>
            </a:extLst>
          </p:cNvPr>
          <p:cNvSpPr>
            <a:spLocks noGrp="1" noChangeArrowheads="1"/>
          </p:cNvSpPr>
          <p:nvPr>
            <p:ph type="body" sz="quarter" idx="18"/>
          </p:nvPr>
        </p:nvSpPr>
        <p:spPr bwMode="auto">
          <a:xfrm>
            <a:off x="444500" y="1680829"/>
            <a:ext cx="10546285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Large missing values in OWN_CAR_AGE and RATE_INTEREST_PRIMARY.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Customers with lower incomes tend to apply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smaller loan amounts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Loan amount is strongly related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annuity and goods price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High-income applicants tend to have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fewer rejections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574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9327" y="3423037"/>
            <a:ext cx="4945598" cy="1243584"/>
          </a:xfrm>
        </p:spPr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398</TotalTime>
  <Words>535</Words>
  <Application>Microsoft Office PowerPoint</Application>
  <PresentationFormat>Widescreen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Times New Roman</vt:lpstr>
      <vt:lpstr>Trade Gothic LT Pro</vt:lpstr>
      <vt:lpstr>Trebuchet MS</vt:lpstr>
      <vt:lpstr>Office Theme</vt:lpstr>
      <vt:lpstr>Bank Loan Case Study</vt:lpstr>
      <vt:lpstr>Tech Stack Used</vt:lpstr>
      <vt:lpstr>Content Title</vt:lpstr>
      <vt:lpstr>Introduction</vt:lpstr>
      <vt:lpstr>PowerPoint Presentation</vt:lpstr>
      <vt:lpstr>Dataset Overview</vt:lpstr>
      <vt:lpstr>Glimpse of Dataset</vt:lpstr>
      <vt:lpstr>Task Overview</vt:lpstr>
      <vt:lpstr>Missing Value Analysis</vt:lpstr>
      <vt:lpstr>Handling Missing Values</vt:lpstr>
      <vt:lpstr>Data Distribution and Outliers</vt:lpstr>
      <vt:lpstr>Correlation Analysis</vt:lpstr>
      <vt:lpstr>Insight 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Mohak Shah</dc:creator>
  <cp:lastModifiedBy>Mohak Shah</cp:lastModifiedBy>
  <cp:revision>10</cp:revision>
  <dcterms:created xsi:type="dcterms:W3CDTF">2025-02-07T14:35:07Z</dcterms:created>
  <dcterms:modified xsi:type="dcterms:W3CDTF">2025-02-14T18:44:55Z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