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2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5B94-A6EA-0DE1-6369-F2B487AD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9EC6E-2E0A-FA00-67EA-998770D63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3E1C9-3751-EB6E-44F3-96814C5BD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0923A-561C-63C6-3DC3-7E3390230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68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hyperlink" Target="EDA/eda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975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Analyzing the Impact of Car Features on Price and Profitability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962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presentation explores the crucial relationship between car features, pricing, and profitability. We delve into data-driven insights to empower strategic decision-making for automotive manufacturers. Let's uncover the key drivers of success in today's competitive market.</a:t>
            </a:r>
            <a:endParaRPr lang="en-US" sz="17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6A3DA6-D851-D628-C25B-278BE6F9350C}"/>
              </a:ext>
            </a:extLst>
          </p:cNvPr>
          <p:cNvGrpSpPr/>
          <p:nvPr/>
        </p:nvGrpSpPr>
        <p:grpSpPr>
          <a:xfrm>
            <a:off x="793790" y="7171937"/>
            <a:ext cx="2524839" cy="396835"/>
            <a:chOff x="793790" y="6003012"/>
            <a:chExt cx="2524839" cy="396835"/>
          </a:xfrm>
        </p:grpSpPr>
        <p:sp>
          <p:nvSpPr>
            <p:cNvPr id="5" name="Shape 2"/>
            <p:cNvSpPr/>
            <p:nvPr/>
          </p:nvSpPr>
          <p:spPr>
            <a:xfrm>
              <a:off x="793790" y="6019919"/>
              <a:ext cx="362903" cy="362903"/>
            </a:xfrm>
            <a:prstGeom prst="roundRect">
              <a:avLst>
                <a:gd name="adj" fmla="val 25194296"/>
              </a:avLst>
            </a:prstGeom>
            <a:noFill/>
            <a:ln w="7620">
              <a:solidFill>
                <a:srgbClr val="FFFFFF"/>
              </a:solidFill>
              <a:prstDash val="solid"/>
            </a:ln>
          </p:spPr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410" y="6027539"/>
              <a:ext cx="347663" cy="34766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1270040" y="6003012"/>
              <a:ext cx="2048589" cy="3968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100"/>
                </a:lnSpc>
                <a:buNone/>
              </a:pPr>
              <a:r>
                <a:rPr lang="en-US" sz="2200" b="1" dirty="0">
                  <a:solidFill>
                    <a:srgbClr val="CFD0D8"/>
                  </a:solidFill>
                  <a:latin typeface="Instrument Sans Bold" pitchFamily="34" charset="0"/>
                  <a:ea typeface="Instrument Sans Bold" pitchFamily="34" charset="-122"/>
                  <a:cs typeface="Instrument Sans Bold" pitchFamily="34" charset="-120"/>
                </a:rPr>
                <a:t>by Mohak Shah</a:t>
              </a:r>
              <a:endParaRPr lang="en-US" sz="22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83612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Sources and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Acquisition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 got Data from </a:t>
            </a:r>
            <a:r>
              <a:rPr lang="en-US" sz="175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Trainity</a:t>
            </a: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Engine HP, cylinders, mileage are analyzed, MSRP, </a:t>
            </a:r>
            <a:r>
              <a:rPr lang="en-US" sz="175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etc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942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Statistical Techniques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EDA and regression analysis are applied to the data.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272201"/>
            <a:ext cx="79536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Correlation with Price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762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3099" y="5661303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Influential 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6066711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Engine HP significantly correlates with price.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5762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7339" y="5661303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Profitability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6066711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Fuel efficiency boosts profitability.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5762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96701" y="5661303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Brand Comparison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6066711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Profit margins vary across different car brands.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4835D3-7890-A271-96D1-A95054039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83225" cy="39573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4CEE6F-EA4F-2829-EC08-568B601E3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225" y="0"/>
            <a:ext cx="7447175" cy="3957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D4960A-442E-655F-3277-0947AEE8AC64}"/>
              </a:ext>
            </a:extLst>
          </p:cNvPr>
          <p:cNvGrpSpPr/>
          <p:nvPr/>
        </p:nvGrpSpPr>
        <p:grpSpPr>
          <a:xfrm>
            <a:off x="3536989" y="4114800"/>
            <a:ext cx="7556421" cy="3767733"/>
            <a:chOff x="793790" y="2230875"/>
            <a:chExt cx="7556421" cy="3767732"/>
          </a:xfrm>
        </p:grpSpPr>
        <p:sp>
          <p:nvSpPr>
            <p:cNvPr id="3" name="Text 0"/>
            <p:cNvSpPr/>
            <p:nvPr/>
          </p:nvSpPr>
          <p:spPr>
            <a:xfrm>
              <a:off x="793790" y="2230875"/>
              <a:ext cx="7556421" cy="1417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5550"/>
                </a:lnSpc>
                <a:buNone/>
              </a:pPr>
              <a:r>
                <a:rPr lang="en-US" sz="4450" dirty="0">
                  <a:solidFill>
                    <a:srgbClr val="CBCCCE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Profit Margins: Luxury vs. Economy</a:t>
              </a:r>
              <a:endParaRPr lang="en-US" sz="4450" dirty="0"/>
            </a:p>
          </p:txBody>
        </p:sp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3988595"/>
              <a:ext cx="566976" cy="566976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793790" y="478238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CFD0D8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Luxury Cars</a:t>
              </a:r>
              <a:endParaRPr lang="en-US" sz="22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793790" y="5272804"/>
              <a:ext cx="3608070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FD0D8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High price elasticity is observed.</a:t>
              </a:r>
              <a:endParaRPr lang="en-US" sz="1750" dirty="0"/>
            </a:p>
          </p:txBody>
        </p:sp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2021" y="3988595"/>
              <a:ext cx="566976" cy="566976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4742021" y="4782384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CFD0D8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Economy Cars</a:t>
              </a:r>
              <a:endParaRPr lang="en-US" sz="2200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4742021" y="5272802"/>
              <a:ext cx="360818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FD0D8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Value-driven pricing is crucial for success.</a:t>
              </a:r>
              <a:endParaRPr lang="en-US" sz="1750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A61F4C2-5DB0-C1DE-6DAE-F326BB088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388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646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066" y="3128724"/>
            <a:ext cx="6297216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Role of Fuel Efficiency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303770" y="4077533"/>
            <a:ext cx="22860" cy="3590211"/>
          </a:xfrm>
          <a:prstGeom prst="roundRect">
            <a:avLst>
              <a:gd name="adj" fmla="val 376954"/>
            </a:avLst>
          </a:prstGeom>
          <a:solidFill>
            <a:srgbClr val="56565B"/>
          </a:solidFill>
          <a:ln/>
        </p:spPr>
      </p:sp>
      <p:sp>
        <p:nvSpPr>
          <p:cNvPr id="5" name="Shape 2"/>
          <p:cNvSpPr/>
          <p:nvPr/>
        </p:nvSpPr>
        <p:spPr>
          <a:xfrm>
            <a:off x="6389191" y="4527590"/>
            <a:ext cx="718066" cy="22860"/>
          </a:xfrm>
          <a:prstGeom prst="roundRect">
            <a:avLst>
              <a:gd name="adj" fmla="val 376954"/>
            </a:avLst>
          </a:prstGeom>
          <a:solidFill>
            <a:srgbClr val="56565B"/>
          </a:solidFill>
          <a:ln/>
        </p:spPr>
      </p:sp>
      <p:sp>
        <p:nvSpPr>
          <p:cNvPr id="6" name="Shape 3"/>
          <p:cNvSpPr/>
          <p:nvPr/>
        </p:nvSpPr>
        <p:spPr>
          <a:xfrm>
            <a:off x="7084397" y="4308277"/>
            <a:ext cx="461605" cy="461605"/>
          </a:xfrm>
          <a:prstGeom prst="roundRect">
            <a:avLst>
              <a:gd name="adj" fmla="val 1866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55609" y="4385191"/>
            <a:ext cx="11918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622238" y="4282678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Fuel Efficiency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18066" y="4726186"/>
            <a:ext cx="5468779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key factor influencing car pricing.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23143" y="5553313"/>
            <a:ext cx="718066" cy="22860"/>
          </a:xfrm>
          <a:prstGeom prst="roundRect">
            <a:avLst>
              <a:gd name="adj" fmla="val 376954"/>
            </a:avLst>
          </a:prstGeom>
          <a:solidFill>
            <a:srgbClr val="56565B"/>
          </a:solidFill>
          <a:ln/>
        </p:spPr>
      </p:sp>
      <p:sp>
        <p:nvSpPr>
          <p:cNvPr id="11" name="Shape 8"/>
          <p:cNvSpPr/>
          <p:nvPr/>
        </p:nvSpPr>
        <p:spPr>
          <a:xfrm>
            <a:off x="7084397" y="5334000"/>
            <a:ext cx="461605" cy="461605"/>
          </a:xfrm>
          <a:prstGeom prst="roundRect">
            <a:avLst>
              <a:gd name="adj" fmla="val 1866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9415" y="5410914"/>
            <a:ext cx="17145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443555" y="5308402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Eco-Friendly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443555" y="5751909"/>
            <a:ext cx="5468779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Consumers prefer eco-friendly options.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89191" y="6476524"/>
            <a:ext cx="718066" cy="22860"/>
          </a:xfrm>
          <a:prstGeom prst="roundRect">
            <a:avLst>
              <a:gd name="adj" fmla="val 376954"/>
            </a:avLst>
          </a:prstGeom>
          <a:solidFill>
            <a:srgbClr val="56565B"/>
          </a:solidFill>
          <a:ln/>
        </p:spPr>
      </p:sp>
      <p:sp>
        <p:nvSpPr>
          <p:cNvPr id="16" name="Shape 13"/>
          <p:cNvSpPr/>
          <p:nvPr/>
        </p:nvSpPr>
        <p:spPr>
          <a:xfrm>
            <a:off x="7084397" y="6257211"/>
            <a:ext cx="461605" cy="461605"/>
          </a:xfrm>
          <a:prstGeom prst="roundRect">
            <a:avLst>
              <a:gd name="adj" fmla="val 1866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6082" y="6334125"/>
            <a:ext cx="17823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22238" y="6231612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8066" y="6675120"/>
            <a:ext cx="5468779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Government policies promote fuel efficiency.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Regression Analysis for Price Prediction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79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Building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66950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Regression models predict car prices accurately.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Insight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insights drive pricing strategies.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3912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 prices with data-driven insights.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8338F7-DCAA-8858-A5E3-2577D5956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938" y="1878800"/>
            <a:ext cx="6907537" cy="50013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8704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Strategies for Optimizing Pricing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Segment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high-margin car segments.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86187" y="4194453"/>
            <a:ext cx="10977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2952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Pricing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44269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 price based on features.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61033" y="3243382"/>
            <a:ext cx="1578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223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Manufacturing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71380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 manufacturing for high margins.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82044" y="5969556"/>
            <a:ext cx="16418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245" y="490538"/>
            <a:ext cx="7268885" cy="55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5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Identifying High-Margin Segments</a:t>
            </a:r>
            <a:endParaRPr lang="en-US" sz="3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9B5B87-E05F-A4D7-B8D0-6C6FF1EAC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45" y="1205804"/>
            <a:ext cx="13381911" cy="5996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4674"/>
            <a:ext cx="73650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Insights and Next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03615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43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92846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Data-driven pricing is essential. Optimize features for better profits.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7526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2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547747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Conduct deeper market research. Implement pricing strategies.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B9BA2-5D2F-8C81-8987-C8B074D52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241FCC8-8257-744C-E453-CBB1C1FEA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D4BA413-5E6F-576B-38DD-6CD099AA74AB}"/>
              </a:ext>
            </a:extLst>
          </p:cNvPr>
          <p:cNvSpPr/>
          <p:nvPr/>
        </p:nvSpPr>
        <p:spPr>
          <a:xfrm>
            <a:off x="793790" y="2154674"/>
            <a:ext cx="73650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EDA and Regression Model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A838C33-72BF-41CE-1C83-ABFF6B835B17}"/>
              </a:ext>
            </a:extLst>
          </p:cNvPr>
          <p:cNvSpPr/>
          <p:nvPr/>
        </p:nvSpPr>
        <p:spPr>
          <a:xfrm>
            <a:off x="793790" y="4052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543D341-4C7B-42A8-8A30-1DA949DDD679}"/>
              </a:ext>
            </a:extLst>
          </p:cNvPr>
          <p:cNvSpPr/>
          <p:nvPr/>
        </p:nvSpPr>
        <p:spPr>
          <a:xfrm>
            <a:off x="1028224" y="4286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IPYNB File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C61A50-35E9-0147-3ED8-7F74A10A7005}"/>
              </a:ext>
            </a:extLst>
          </p:cNvPr>
          <p:cNvSpPr/>
          <p:nvPr/>
        </p:nvSpPr>
        <p:spPr>
          <a:xfrm>
            <a:off x="1028224" y="4776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4" action="ppaction://hlinkfile"/>
              </a:rPr>
              <a:t>eda.ipynb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818685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283</Words>
  <Application>Microsoft Office PowerPoint</Application>
  <PresentationFormat>Custom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Semi Bold</vt:lpstr>
      <vt:lpstr>Instrument Sans Medium</vt:lpstr>
      <vt:lpstr>Arial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Mohak Shah</cp:lastModifiedBy>
  <cp:revision>3</cp:revision>
  <dcterms:created xsi:type="dcterms:W3CDTF">2025-03-02T15:50:04Z</dcterms:created>
  <dcterms:modified xsi:type="dcterms:W3CDTF">2025-03-02T16:48:41Z</dcterms:modified>
</cp:coreProperties>
</file>